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9"/>
  </p:notesMasterIdLst>
  <p:sldIdLst>
    <p:sldId id="256" r:id="rId2"/>
    <p:sldId id="257" r:id="rId3"/>
    <p:sldId id="298" r:id="rId4"/>
    <p:sldId id="300" r:id="rId5"/>
    <p:sldId id="301" r:id="rId6"/>
    <p:sldId id="302" r:id="rId7"/>
    <p:sldId id="329" r:id="rId8"/>
    <p:sldId id="330" r:id="rId9"/>
    <p:sldId id="331" r:id="rId10"/>
    <p:sldId id="332" r:id="rId11"/>
    <p:sldId id="333" r:id="rId12"/>
    <p:sldId id="334" r:id="rId13"/>
    <p:sldId id="304" r:id="rId14"/>
    <p:sldId id="306" r:id="rId15"/>
    <p:sldId id="307" r:id="rId16"/>
    <p:sldId id="308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36" r:id="rId25"/>
    <p:sldId id="319" r:id="rId26"/>
    <p:sldId id="320" r:id="rId27"/>
    <p:sldId id="321" r:id="rId28"/>
    <p:sldId id="337" r:id="rId29"/>
    <p:sldId id="322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7" r:id="rId43"/>
    <p:sldId id="350" r:id="rId44"/>
    <p:sldId id="351" r:id="rId45"/>
    <p:sldId id="352" r:id="rId46"/>
    <p:sldId id="323" r:id="rId47"/>
    <p:sldId id="324" r:id="rId48"/>
    <p:sldId id="325" r:id="rId49"/>
    <p:sldId id="353" r:id="rId50"/>
    <p:sldId id="354" r:id="rId51"/>
    <p:sldId id="355" r:id="rId52"/>
    <p:sldId id="326" r:id="rId53"/>
    <p:sldId id="327" r:id="rId54"/>
    <p:sldId id="356" r:id="rId55"/>
    <p:sldId id="294" r:id="rId56"/>
    <p:sldId id="295" r:id="rId57"/>
    <p:sldId id="297" r:id="rId58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60"/>
      <p:bold r:id="rId61"/>
      <p:italic r:id="rId62"/>
      <p:boldItalic r:id="rId63"/>
    </p:embeddedFont>
    <p:embeddedFont>
      <p:font typeface="Kaushan Script" panose="020B0604020202020204" charset="0"/>
      <p:regular r:id="rId64"/>
    </p:embeddedFont>
    <p:embeddedFont>
      <p:font typeface="Questrial" panose="020F0502020204030204" pitchFamily="2" charset="0"/>
      <p:regular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EBD35A-E6D0-4DB6-A4C9-AEA92983D65F}">
  <a:tblStyle styleId="{E0EBD35A-E6D0-4DB6-A4C9-AEA92983D65F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stin Massucco" userId="a383a046-673d-4b90-94ad-29a375f40ada" providerId="ADAL" clId="{19591E7E-6AB9-4815-9DDE-7378A1F717C5}"/>
    <pc:docChg chg="modSld">
      <pc:chgData name="Agustin Massucco" userId="a383a046-673d-4b90-94ad-29a375f40ada" providerId="ADAL" clId="{19591E7E-6AB9-4815-9DDE-7378A1F717C5}" dt="2026-05-27T21:17:38.492" v="35" actId="1036"/>
      <pc:docMkLst>
        <pc:docMk/>
      </pc:docMkLst>
      <pc:sldChg chg="modSp mod">
        <pc:chgData name="Agustin Massucco" userId="a383a046-673d-4b90-94ad-29a375f40ada" providerId="ADAL" clId="{19591E7E-6AB9-4815-9DDE-7378A1F717C5}" dt="2026-05-27T21:17:38.492" v="35" actId="1036"/>
        <pc:sldMkLst>
          <pc:docMk/>
          <pc:sldMk cId="2878471969" sldId="327"/>
        </pc:sldMkLst>
        <pc:picChg chg="mod">
          <ac:chgData name="Agustin Massucco" userId="a383a046-673d-4b90-94ad-29a375f40ada" providerId="ADAL" clId="{19591E7E-6AB9-4815-9DDE-7378A1F717C5}" dt="2026-05-27T21:17:38.492" v="35" actId="1036"/>
          <ac:picMkLst>
            <pc:docMk/>
            <pc:sldMk cId="2878471969" sldId="327"/>
            <ac:picMk id="48743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s-A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887379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0058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32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2457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4228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072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2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7705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764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129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767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983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167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312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8034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71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Shape 336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6571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393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7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9874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Shape 361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388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083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6341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2565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7705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467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32987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2406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9561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7475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Shape 40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793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945958" y="4861780"/>
            <a:ext cx="5207385" cy="46045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9837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4" name="Shape 424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559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311708" y="992766"/>
            <a:ext cx="8520600" cy="27369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-166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5640766"/>
            <a:ext cx="5998800" cy="806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311700" y="4202966"/>
            <a:ext cx="8520600" cy="173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262626"/>
              </a:buClr>
              <a:buFont typeface="Questrial"/>
              <a:buNone/>
              <a:defRPr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742950" marR="0" lvl="1" indent="-1841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143000" marR="0" lvl="2" indent="-1397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600200" marR="0" lvl="3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057400" marR="0" lvl="4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514600" marR="0" lvl="5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971800" marR="0" lvl="6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429000" marR="0" lvl="7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886200" marR="0" lvl="8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500" cy="37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1942415" y="6135808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/>
          <p:nvPr/>
        </p:nvSpPr>
        <p:spPr>
          <a:xfrm rot="10800000" flipH="1">
            <a:off x="57" y="711299"/>
            <a:ext cx="1358400" cy="507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56328"/>
                </a:moveTo>
                <a:lnTo>
                  <a:pt x="99772" y="2256"/>
                </a:lnTo>
                <a:cubicBezTo>
                  <a:pt x="99635" y="1884"/>
                  <a:pt x="99468" y="1500"/>
                  <a:pt x="99332" y="1128"/>
                </a:cubicBezTo>
                <a:cubicBezTo>
                  <a:pt x="98922" y="0"/>
                  <a:pt x="98497" y="0"/>
                  <a:pt x="98072" y="0"/>
                </a:cubicBezTo>
                <a:lnTo>
                  <a:pt x="90060" y="0"/>
                </a:lnTo>
                <a:lnTo>
                  <a:pt x="0" y="744"/>
                </a:lnTo>
                <a:lnTo>
                  <a:pt x="0" y="120000"/>
                </a:lnTo>
                <a:lnTo>
                  <a:pt x="90060" y="119424"/>
                </a:lnTo>
                <a:lnTo>
                  <a:pt x="98072" y="119424"/>
                </a:lnTo>
                <a:cubicBezTo>
                  <a:pt x="98497" y="119424"/>
                  <a:pt x="98922" y="118308"/>
                  <a:pt x="99332" y="118308"/>
                </a:cubicBezTo>
                <a:cubicBezTo>
                  <a:pt x="99332" y="117168"/>
                  <a:pt x="99772" y="117168"/>
                  <a:pt x="99772" y="117168"/>
                </a:cubicBezTo>
                <a:lnTo>
                  <a:pt x="120000" y="63096"/>
                </a:lnTo>
                <a:cubicBezTo>
                  <a:pt x="120834" y="60840"/>
                  <a:pt x="120834" y="58596"/>
                  <a:pt x="120000" y="5632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511227" y="787783"/>
            <a:ext cx="584999" cy="365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2000" b="0" i="0" u="none" strike="noStrike" cap="none">
                <a:solidFill>
                  <a:srgbClr val="FEFFFF"/>
                </a:solidFill>
                <a:latin typeface="Questrial"/>
                <a:ea typeface="Questrial"/>
                <a:cs typeface="Questrial"/>
                <a:sym typeface="Questrial"/>
              </a:rPr>
              <a:t>‹Nº›</a:t>
            </a:fld>
            <a:endParaRPr lang="es-AR" sz="2000" b="0" i="0" u="none" strike="noStrike" cap="none">
              <a:solidFill>
                <a:srgbClr val="FE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s-AR" sz="1000">
                <a:solidFill>
                  <a:schemeClr val="dk2"/>
                </a:solidFill>
              </a:rPr>
              <a:t>‹Nº›</a:t>
            </a:fld>
            <a:endParaRPr lang="es-AR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jpeg"/><Relationship Id="rId4" Type="http://schemas.openxmlformats.org/officeDocument/2006/relationships/hyperlink" Target="http://www.frba.utn.edu.ar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676400" y="533400"/>
            <a:ext cx="3482454" cy="747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4000" b="0" i="0" u="none" strike="noStrike" cap="none" dirty="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Memoria Real</a:t>
            </a:r>
          </a:p>
        </p:txBody>
      </p:sp>
      <p:pic>
        <p:nvPicPr>
          <p:cNvPr id="66" name="Shape 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3606" y="1280890"/>
            <a:ext cx="5181600" cy="525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://www.tedxutn.org/wp-content/uploads/2012/01/photo1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74257" y="183723"/>
            <a:ext cx="1446954" cy="14469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Introducción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programa debe cargarse en memoria desde disco y colocarse dentro de un proceso para que se ejecute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memoria principal y los registros son los únicos dispositivos de almacenamiento a los que puede acceder la CPU directamente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acceso a registro es muy rápido; supone un ciclo de CPU (o menos)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acceso a memoria principal puede durar varios ciclos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memorias </a:t>
            </a: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caché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se colocan entre la memoria principal y la CPU para acelerar el acceso a la información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1175" y="596815"/>
            <a:ext cx="7253391" cy="877143"/>
          </a:xfrm>
        </p:spPr>
        <p:txBody>
          <a:bodyPr/>
          <a:lstStyle/>
          <a:p>
            <a:r>
              <a:rPr lang="es-ES" dirty="0"/>
              <a:t>Organización Física de la Memoria</a:t>
            </a:r>
            <a:endParaRPr lang="es-PE" dirty="0"/>
          </a:p>
        </p:txBody>
      </p:sp>
      <p:sp>
        <p:nvSpPr>
          <p:cNvPr id="438285" name="Rectangle 13"/>
          <p:cNvSpPr>
            <a:spLocks noChangeArrowheads="1"/>
          </p:cNvSpPr>
          <p:nvPr/>
        </p:nvSpPr>
        <p:spPr bwMode="auto">
          <a:xfrm>
            <a:off x="3315914" y="5315311"/>
            <a:ext cx="2303462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/>
              <a:t>Dispositivos Externos</a:t>
            </a:r>
          </a:p>
          <a:p>
            <a:pPr marL="185738" indent="-185738" algn="ctr"/>
            <a:r>
              <a:rPr lang="es-ES" sz="1600"/>
              <a:t>Teclado</a:t>
            </a:r>
          </a:p>
          <a:p>
            <a:pPr marL="185738" indent="-185738" algn="ctr"/>
            <a:r>
              <a:rPr lang="es-ES" sz="1600"/>
              <a:t>Mouse</a:t>
            </a:r>
          </a:p>
          <a:p>
            <a:pPr marL="185738" indent="-185738" algn="ctr"/>
            <a:r>
              <a:rPr lang="es-ES" sz="1600"/>
              <a:t>Scaner</a:t>
            </a:r>
            <a:endParaRPr lang="es-PE" sz="1600"/>
          </a:p>
        </p:txBody>
      </p:sp>
      <p:sp>
        <p:nvSpPr>
          <p:cNvPr id="438286" name="Rectangle 14"/>
          <p:cNvSpPr>
            <a:spLocks noChangeArrowheads="1"/>
          </p:cNvSpPr>
          <p:nvPr/>
        </p:nvSpPr>
        <p:spPr bwMode="auto">
          <a:xfrm>
            <a:off x="3315914" y="4369161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/>
              <a:t>Hard Disk</a:t>
            </a:r>
          </a:p>
          <a:p>
            <a:pPr marL="185738" indent="-185738" algn="ctr"/>
            <a:r>
              <a:rPr lang="es-ES" sz="1600"/>
              <a:t>Drive</a:t>
            </a:r>
          </a:p>
          <a:p>
            <a:pPr marL="185738" indent="-185738" algn="ctr"/>
            <a:r>
              <a:rPr lang="es-ES" sz="1600"/>
              <a:t>Flash Memory</a:t>
            </a:r>
            <a:endParaRPr lang="es-PE" sz="1600"/>
          </a:p>
        </p:txBody>
      </p:sp>
      <p:sp>
        <p:nvSpPr>
          <p:cNvPr id="438287" name="Rectangle 15"/>
          <p:cNvSpPr>
            <a:spLocks noChangeArrowheads="1"/>
          </p:cNvSpPr>
          <p:nvPr/>
        </p:nvSpPr>
        <p:spPr bwMode="auto">
          <a:xfrm>
            <a:off x="3315914" y="3407136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/>
              <a:t>RAM</a:t>
            </a:r>
          </a:p>
          <a:p>
            <a:pPr marL="185738" indent="-185738" algn="ctr"/>
            <a:r>
              <a:rPr lang="es-ES" sz="1600"/>
              <a:t>Memoria Física</a:t>
            </a:r>
          </a:p>
          <a:p>
            <a:pPr marL="185738" indent="-185738" algn="ctr"/>
            <a:r>
              <a:rPr lang="es-ES" sz="1600"/>
              <a:t>Memoria Virtual</a:t>
            </a:r>
            <a:endParaRPr lang="es-PE" sz="1600"/>
          </a:p>
        </p:txBody>
      </p:sp>
      <p:sp>
        <p:nvSpPr>
          <p:cNvPr id="438288" name="Rectangle 16"/>
          <p:cNvSpPr>
            <a:spLocks noChangeArrowheads="1"/>
          </p:cNvSpPr>
          <p:nvPr/>
        </p:nvSpPr>
        <p:spPr bwMode="auto">
          <a:xfrm>
            <a:off x="3315914" y="2453048"/>
            <a:ext cx="230346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 b="1" dirty="0"/>
              <a:t>Cache</a:t>
            </a:r>
          </a:p>
          <a:p>
            <a:pPr marL="185738" indent="-185738" algn="ctr"/>
            <a:r>
              <a:rPr lang="es-ES" sz="1600" dirty="0"/>
              <a:t>Nivel 1</a:t>
            </a:r>
          </a:p>
          <a:p>
            <a:pPr marL="185738" indent="-185738" algn="ctr"/>
            <a:r>
              <a:rPr lang="es-ES" sz="1600" dirty="0"/>
              <a:t>Nivel 2</a:t>
            </a:r>
            <a:endParaRPr lang="es-PE" sz="1600" dirty="0"/>
          </a:p>
        </p:txBody>
      </p:sp>
      <p:sp>
        <p:nvSpPr>
          <p:cNvPr id="438289" name="Rectangle 17"/>
          <p:cNvSpPr>
            <a:spLocks noChangeArrowheads="1"/>
          </p:cNvSpPr>
          <p:nvPr/>
        </p:nvSpPr>
        <p:spPr bwMode="auto">
          <a:xfrm>
            <a:off x="3315914" y="2002198"/>
            <a:ext cx="2303462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54000" tIns="54000" rIns="54000" bIns="54000"/>
          <a:lstStyle/>
          <a:p>
            <a:pPr marL="185738" indent="-185738" algn="ctr"/>
            <a:r>
              <a:rPr lang="es-ES" sz="1600"/>
              <a:t>Registros de la CPU</a:t>
            </a:r>
            <a:endParaRPr lang="es-PE" sz="1600"/>
          </a:p>
        </p:txBody>
      </p:sp>
      <p:sp>
        <p:nvSpPr>
          <p:cNvPr id="438290" name="AutoShape 18"/>
          <p:cNvSpPr>
            <a:spLocks/>
          </p:cNvSpPr>
          <p:nvPr/>
        </p:nvSpPr>
        <p:spPr bwMode="auto">
          <a:xfrm>
            <a:off x="5763839" y="2480036"/>
            <a:ext cx="144462" cy="1763712"/>
          </a:xfrm>
          <a:prstGeom prst="rightBrace">
            <a:avLst>
              <a:gd name="adj1" fmla="val 10174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s-ES" sz="1600">
                <a:solidFill>
                  <a:srgbClr val="A50021"/>
                </a:solidFill>
              </a:rPr>
              <a:t>   Almacenamiento</a:t>
            </a:r>
          </a:p>
          <a:p>
            <a:r>
              <a:rPr lang="es-ES" sz="1600">
                <a:solidFill>
                  <a:srgbClr val="A50021"/>
                </a:solidFill>
              </a:rPr>
              <a:t>   Temporal o </a:t>
            </a:r>
          </a:p>
          <a:p>
            <a:r>
              <a:rPr lang="es-ES" sz="1600">
                <a:solidFill>
                  <a:srgbClr val="A50021"/>
                </a:solidFill>
              </a:rPr>
              <a:t>   de acceso aleatorio</a:t>
            </a:r>
            <a:endParaRPr lang="es-PE" sz="1600">
              <a:solidFill>
                <a:srgbClr val="A50021"/>
              </a:solidFill>
            </a:endParaRPr>
          </a:p>
        </p:txBody>
      </p:sp>
      <p:sp>
        <p:nvSpPr>
          <p:cNvPr id="438291" name="AutoShape 19"/>
          <p:cNvSpPr>
            <a:spLocks/>
          </p:cNvSpPr>
          <p:nvPr/>
        </p:nvSpPr>
        <p:spPr bwMode="auto">
          <a:xfrm>
            <a:off x="5763839" y="4370748"/>
            <a:ext cx="144462" cy="863600"/>
          </a:xfrm>
          <a:prstGeom prst="rightBrace">
            <a:avLst>
              <a:gd name="adj1" fmla="val 498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s-ES" sz="1600"/>
              <a:t>   Almacenamiento</a:t>
            </a:r>
          </a:p>
          <a:p>
            <a:r>
              <a:rPr lang="es-ES" sz="1600"/>
              <a:t>   Permanente</a:t>
            </a:r>
            <a:endParaRPr lang="es-PE" sz="1600"/>
          </a:p>
        </p:txBody>
      </p:sp>
    </p:spTree>
    <p:extLst>
      <p:ext uri="{BB962C8B-B14F-4D97-AF65-F5344CB8AC3E}">
        <p14:creationId xmlns:p14="http://schemas.microsoft.com/office/powerpoint/2010/main" val="145772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5" grpId="0" animBg="1"/>
      <p:bldP spid="438286" grpId="0" animBg="1"/>
      <p:bldP spid="438287" grpId="0" animBg="1"/>
      <p:bldP spid="438288" grpId="0" animBg="1"/>
      <p:bldP spid="438289" grpId="0" animBg="1"/>
      <p:bldP spid="4382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605" y="624110"/>
            <a:ext cx="7438907" cy="686075"/>
          </a:xfrm>
        </p:spPr>
        <p:txBody>
          <a:bodyPr/>
          <a:lstStyle/>
          <a:p>
            <a:r>
              <a:rPr lang="es-ES" dirty="0"/>
              <a:t>Organización Lógica de la Memoria</a:t>
            </a:r>
            <a:endParaRPr lang="es-PE" dirty="0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628" y="1420314"/>
            <a:ext cx="4319587" cy="5040313"/>
          </a:xfrm>
        </p:spPr>
        <p:txBody>
          <a:bodyPr/>
          <a:lstStyle/>
          <a:p>
            <a:pPr algn="just"/>
            <a:r>
              <a:rPr lang="es-ES" sz="2400" dirty="0"/>
              <a:t>La </a:t>
            </a:r>
            <a:r>
              <a:rPr lang="es-ES" sz="2400" dirty="0">
                <a:solidFill>
                  <a:schemeClr val="accent2"/>
                </a:solidFill>
              </a:rPr>
              <a:t>memoria principal</a:t>
            </a:r>
            <a:r>
              <a:rPr lang="es-ES" sz="2400" dirty="0"/>
              <a:t> es un arreglo de palabras o bytes, cada uno de los cuales tiene una dirección (espacio de direcciones).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La interacción es lograda a través de un conjunto de lecturas y escrituras a direcciones especificas realizadas por los procesos.</a:t>
            </a:r>
            <a:endParaRPr lang="es-PE" sz="2400" dirty="0"/>
          </a:p>
        </p:txBody>
      </p:sp>
      <p:grpSp>
        <p:nvGrpSpPr>
          <p:cNvPr id="459785" name="Group 9"/>
          <p:cNvGrpSpPr>
            <a:grpSpLocks/>
          </p:cNvGrpSpPr>
          <p:nvPr/>
        </p:nvGrpSpPr>
        <p:grpSpPr bwMode="auto">
          <a:xfrm>
            <a:off x="4932362" y="1491752"/>
            <a:ext cx="3994150" cy="4968875"/>
            <a:chOff x="3288" y="844"/>
            <a:chExt cx="2335" cy="2994"/>
          </a:xfrm>
        </p:grpSpPr>
        <p:pic>
          <p:nvPicPr>
            <p:cNvPr id="459781" name="Picture 5" descr="address"/>
            <p:cNvPicPr>
              <a:picLocks noChangeAspect="1" noChangeArrowheads="1"/>
            </p:cNvPicPr>
            <p:nvPr/>
          </p:nvPicPr>
          <p:blipFill>
            <a:blip r:embed="rId2" cstate="print"/>
            <a:srcRect t="2866" b="2835"/>
            <a:stretch>
              <a:fillRect/>
            </a:stretch>
          </p:blipFill>
          <p:spPr bwMode="auto">
            <a:xfrm>
              <a:off x="3288" y="844"/>
              <a:ext cx="2335" cy="2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9782" name="Text Box 6"/>
            <p:cNvSpPr txBox="1">
              <a:spLocks noChangeArrowheads="1"/>
            </p:cNvSpPr>
            <p:nvPr/>
          </p:nvSpPr>
          <p:spPr bwMode="auto">
            <a:xfrm>
              <a:off x="3515" y="845"/>
              <a:ext cx="521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dirección</a:t>
              </a:r>
              <a:endParaRPr lang="es-PE" sz="1400">
                <a:solidFill>
                  <a:srgbClr val="FF3300"/>
                </a:solidFill>
              </a:endParaRPr>
            </a:p>
          </p:txBody>
        </p:sp>
        <p:sp>
          <p:nvSpPr>
            <p:cNvPr id="459783" name="Text Box 7"/>
            <p:cNvSpPr txBox="1">
              <a:spLocks noChangeArrowheads="1"/>
            </p:cNvSpPr>
            <p:nvPr/>
          </p:nvSpPr>
          <p:spPr bwMode="auto">
            <a:xfrm>
              <a:off x="4257" y="2205"/>
              <a:ext cx="408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memoria</a:t>
              </a:r>
              <a:endParaRPr lang="es-PE" sz="1400">
                <a:solidFill>
                  <a:srgbClr val="FF3300"/>
                </a:solidFill>
              </a:endParaRPr>
            </a:p>
          </p:txBody>
        </p:sp>
        <p:sp>
          <p:nvSpPr>
            <p:cNvPr id="459784" name="Text Box 8"/>
            <p:cNvSpPr txBox="1">
              <a:spLocks noChangeArrowheads="1"/>
            </p:cNvSpPr>
            <p:nvPr/>
          </p:nvSpPr>
          <p:spPr bwMode="auto">
            <a:xfrm>
              <a:off x="4558" y="845"/>
              <a:ext cx="521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 algn="ctr"/>
              <a:r>
                <a:rPr lang="es-ES" sz="1400">
                  <a:solidFill>
                    <a:srgbClr val="FF3300"/>
                  </a:solidFill>
                </a:rPr>
                <a:t>ubicación</a:t>
              </a:r>
              <a:endParaRPr lang="es-PE" sz="1400">
                <a:solidFill>
                  <a:srgbClr val="FF33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108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253" name="Picture 5"/>
          <p:cNvPicPr>
            <a:picLocks noChangeAspect="1" noChangeArrowheads="1"/>
          </p:cNvPicPr>
          <p:nvPr/>
        </p:nvPicPr>
        <p:blipFill>
          <a:blip r:embed="rId2" cstate="print"/>
          <a:srcRect t="8047"/>
          <a:stretch>
            <a:fillRect/>
          </a:stretch>
        </p:blipFill>
        <p:spPr bwMode="auto">
          <a:xfrm>
            <a:off x="1835150" y="3068638"/>
            <a:ext cx="5905500" cy="3538537"/>
          </a:xfrm>
          <a:prstGeom prst="rect">
            <a:avLst/>
          </a:prstGeom>
          <a:noFill/>
        </p:spPr>
      </p:pic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93300" y="539338"/>
            <a:ext cx="6589200" cy="640500"/>
          </a:xfrm>
        </p:spPr>
        <p:txBody>
          <a:bodyPr/>
          <a:lstStyle/>
          <a:p>
            <a:r>
              <a:rPr lang="es-ES" dirty="0"/>
              <a:t>Procesos y Memoria</a:t>
            </a:r>
            <a:endParaRPr lang="es-PE" dirty="0"/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842" y="1330726"/>
            <a:ext cx="8584441" cy="1589895"/>
          </a:xfrm>
        </p:spPr>
        <p:txBody>
          <a:bodyPr/>
          <a:lstStyle/>
          <a:p>
            <a:pPr algn="just"/>
            <a:r>
              <a:rPr lang="es-ES" dirty="0"/>
              <a:t>Para que un proceso se ejecute se requiere ubicarlo en </a:t>
            </a:r>
            <a:r>
              <a:rPr lang="es-ES" dirty="0">
                <a:solidFill>
                  <a:schemeClr val="accent2"/>
                </a:solidFill>
              </a:rPr>
              <a:t>memoria principal</a:t>
            </a:r>
            <a:r>
              <a:rPr lang="es-ES" dirty="0"/>
              <a:t> junto con los datos que direcciona.</a:t>
            </a:r>
          </a:p>
          <a:p>
            <a:pPr algn="just"/>
            <a:r>
              <a:rPr lang="es-ES" dirty="0"/>
              <a:t>Para optimizar el uso del computador se requiere tener varios procesos en </a:t>
            </a:r>
            <a:r>
              <a:rPr lang="es-ES" dirty="0">
                <a:solidFill>
                  <a:schemeClr val="accent2"/>
                </a:solidFill>
              </a:rPr>
              <a:t>memoria principal</a:t>
            </a:r>
            <a:r>
              <a:rPr lang="es-ES" dirty="0"/>
              <a:t>. (grado de multiprogramación)</a:t>
            </a:r>
          </a:p>
        </p:txBody>
      </p:sp>
      <p:sp>
        <p:nvSpPr>
          <p:cNvPr id="437254" name="Text Box 6"/>
          <p:cNvSpPr txBox="1">
            <a:spLocks noChangeArrowheads="1"/>
          </p:cNvSpPr>
          <p:nvPr/>
        </p:nvSpPr>
        <p:spPr bwMode="auto">
          <a:xfrm>
            <a:off x="2916238" y="3429000"/>
            <a:ext cx="186055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 dirty="0">
                <a:latin typeface="Arial Narrow" pitchFamily="34" charset="0"/>
              </a:rPr>
              <a:t>Memoria Principal</a:t>
            </a:r>
            <a:endParaRPr lang="es-PE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79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37" y="526313"/>
            <a:ext cx="6589200" cy="713525"/>
          </a:xfrm>
        </p:spPr>
        <p:txBody>
          <a:bodyPr/>
          <a:lstStyle/>
          <a:p>
            <a:r>
              <a:rPr lang="es-ES" dirty="0"/>
              <a:t>Memoria Virtual</a:t>
            </a:r>
            <a:endParaRPr lang="es-PE" dirty="0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140" y="2067291"/>
            <a:ext cx="4906963" cy="3725629"/>
          </a:xfrm>
        </p:spPr>
        <p:txBody>
          <a:bodyPr/>
          <a:lstStyle/>
          <a:p>
            <a:pPr algn="just"/>
            <a:r>
              <a:rPr lang="es-ES" sz="2000" dirty="0"/>
              <a:t>La </a:t>
            </a:r>
            <a:r>
              <a:rPr lang="es-ES" sz="2000" dirty="0">
                <a:solidFill>
                  <a:schemeClr val="accent2"/>
                </a:solidFill>
              </a:rPr>
              <a:t>memoria principal</a:t>
            </a:r>
            <a:r>
              <a:rPr lang="es-ES" sz="2000" dirty="0"/>
              <a:t> es pequeña como para acomodar todos programas y datos permanentemente.</a:t>
            </a:r>
          </a:p>
          <a:p>
            <a:pPr algn="just"/>
            <a:r>
              <a:rPr lang="es-ES" sz="2000" dirty="0"/>
              <a:t>Por lo que es necesario implementar mecanismos de </a:t>
            </a:r>
            <a:r>
              <a:rPr lang="es-ES" sz="2000" dirty="0">
                <a:solidFill>
                  <a:srgbClr val="FF3300"/>
                </a:solidFill>
              </a:rPr>
              <a:t>memoria virtual</a:t>
            </a:r>
            <a:r>
              <a:rPr lang="es-ES" sz="2000" dirty="0"/>
              <a:t>.</a:t>
            </a:r>
          </a:p>
          <a:p>
            <a:pPr algn="just"/>
            <a:r>
              <a:rPr lang="es-ES" sz="2000" dirty="0"/>
              <a:t>La </a:t>
            </a:r>
            <a:r>
              <a:rPr lang="es-ES" sz="2000" dirty="0">
                <a:solidFill>
                  <a:srgbClr val="FF3300"/>
                </a:solidFill>
              </a:rPr>
              <a:t>memoria virtual</a:t>
            </a:r>
            <a:r>
              <a:rPr lang="es-ES" sz="2000" dirty="0"/>
              <a:t> es una técnica para dar la ilusión de tener más memoria que la memoria principal.</a:t>
            </a:r>
          </a:p>
          <a:p>
            <a:pPr algn="just"/>
            <a:endParaRPr lang="es-ES" sz="2000" dirty="0"/>
          </a:p>
        </p:txBody>
      </p:sp>
      <p:grpSp>
        <p:nvGrpSpPr>
          <p:cNvPr id="440358" name="Group 38"/>
          <p:cNvGrpSpPr>
            <a:grpSpLocks/>
          </p:cNvGrpSpPr>
          <p:nvPr/>
        </p:nvGrpSpPr>
        <p:grpSpPr bwMode="auto">
          <a:xfrm>
            <a:off x="5633422" y="1740944"/>
            <a:ext cx="3024187" cy="4386262"/>
            <a:chOff x="3583" y="849"/>
            <a:chExt cx="1905" cy="2763"/>
          </a:xfrm>
        </p:grpSpPr>
        <p:grpSp>
          <p:nvGrpSpPr>
            <p:cNvPr id="440339" name="Group 19"/>
            <p:cNvGrpSpPr>
              <a:grpSpLocks/>
            </p:cNvGrpSpPr>
            <p:nvPr/>
          </p:nvGrpSpPr>
          <p:grpSpPr bwMode="auto">
            <a:xfrm>
              <a:off x="3583" y="1162"/>
              <a:ext cx="567" cy="2087"/>
              <a:chOff x="3424" y="799"/>
              <a:chExt cx="567" cy="2087"/>
            </a:xfrm>
          </p:grpSpPr>
          <p:sp>
            <p:nvSpPr>
              <p:cNvPr id="440327" name="Rectangle 7"/>
              <p:cNvSpPr>
                <a:spLocks noChangeArrowheads="1"/>
              </p:cNvSpPr>
              <p:nvPr/>
            </p:nvSpPr>
            <p:spPr bwMode="auto">
              <a:xfrm>
                <a:off x="3424" y="799"/>
                <a:ext cx="567" cy="20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0" name="Rectangle 10"/>
              <p:cNvSpPr>
                <a:spLocks noChangeArrowheads="1"/>
              </p:cNvSpPr>
              <p:nvPr/>
            </p:nvSpPr>
            <p:spPr bwMode="auto">
              <a:xfrm>
                <a:off x="3424" y="935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1" name="Rectangle 11"/>
              <p:cNvSpPr>
                <a:spLocks noChangeArrowheads="1"/>
              </p:cNvSpPr>
              <p:nvPr/>
            </p:nvSpPr>
            <p:spPr bwMode="auto">
              <a:xfrm>
                <a:off x="3424" y="120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2" name="Rectangle 12"/>
              <p:cNvSpPr>
                <a:spLocks noChangeArrowheads="1"/>
              </p:cNvSpPr>
              <p:nvPr/>
            </p:nvSpPr>
            <p:spPr bwMode="auto">
              <a:xfrm>
                <a:off x="3424" y="1389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3" name="Rectangle 13"/>
              <p:cNvSpPr>
                <a:spLocks noChangeArrowheads="1"/>
              </p:cNvSpPr>
              <p:nvPr/>
            </p:nvSpPr>
            <p:spPr bwMode="auto">
              <a:xfrm>
                <a:off x="3424" y="179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4" name="Rectangle 14"/>
              <p:cNvSpPr>
                <a:spLocks noChangeArrowheads="1"/>
              </p:cNvSpPr>
              <p:nvPr/>
            </p:nvSpPr>
            <p:spPr bwMode="auto">
              <a:xfrm>
                <a:off x="3424" y="2296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0357" name="Group 37"/>
            <p:cNvGrpSpPr>
              <a:grpSpLocks/>
            </p:cNvGrpSpPr>
            <p:nvPr/>
          </p:nvGrpSpPr>
          <p:grpSpPr bwMode="auto">
            <a:xfrm>
              <a:off x="4921" y="1162"/>
              <a:ext cx="567" cy="998"/>
              <a:chOff x="4921" y="1071"/>
              <a:chExt cx="567" cy="998"/>
            </a:xfrm>
          </p:grpSpPr>
          <p:sp>
            <p:nvSpPr>
              <p:cNvPr id="440328" name="Rectangle 8"/>
              <p:cNvSpPr>
                <a:spLocks noChangeArrowheads="1"/>
              </p:cNvSpPr>
              <p:nvPr/>
            </p:nvSpPr>
            <p:spPr bwMode="auto">
              <a:xfrm>
                <a:off x="4921" y="1071"/>
                <a:ext cx="567" cy="9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5" name="Rectangle 15"/>
              <p:cNvSpPr>
                <a:spLocks noChangeArrowheads="1"/>
              </p:cNvSpPr>
              <p:nvPr/>
            </p:nvSpPr>
            <p:spPr bwMode="auto">
              <a:xfrm>
                <a:off x="4921" y="1071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6" name="Rectangle 16"/>
              <p:cNvSpPr>
                <a:spLocks noChangeArrowheads="1"/>
              </p:cNvSpPr>
              <p:nvPr/>
            </p:nvSpPr>
            <p:spPr bwMode="auto">
              <a:xfrm>
                <a:off x="4921" y="1207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7" name="Rectangle 17"/>
              <p:cNvSpPr>
                <a:spLocks noChangeArrowheads="1"/>
              </p:cNvSpPr>
              <p:nvPr/>
            </p:nvSpPr>
            <p:spPr bwMode="auto">
              <a:xfrm>
                <a:off x="4921" y="1434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0338" name="Rectangle 18"/>
              <p:cNvSpPr>
                <a:spLocks noChangeArrowheads="1"/>
              </p:cNvSpPr>
              <p:nvPr/>
            </p:nvSpPr>
            <p:spPr bwMode="auto">
              <a:xfrm>
                <a:off x="4921" y="1706"/>
                <a:ext cx="567" cy="136"/>
              </a:xfrm>
              <a:prstGeom prst="rect">
                <a:avLst/>
              </a:prstGeom>
              <a:solidFill>
                <a:srgbClr val="C0C0C0">
                  <a:alpha val="7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0356" name="Group 36"/>
            <p:cNvGrpSpPr>
              <a:grpSpLocks/>
            </p:cNvGrpSpPr>
            <p:nvPr/>
          </p:nvGrpSpPr>
          <p:grpSpPr bwMode="auto">
            <a:xfrm>
              <a:off x="4921" y="2616"/>
              <a:ext cx="567" cy="816"/>
              <a:chOff x="4921" y="2525"/>
              <a:chExt cx="567" cy="816"/>
            </a:xfrm>
          </p:grpSpPr>
          <p:sp>
            <p:nvSpPr>
              <p:cNvPr id="440329" name="AutoShape 9"/>
              <p:cNvSpPr>
                <a:spLocks noChangeArrowheads="1"/>
              </p:cNvSpPr>
              <p:nvPr/>
            </p:nvSpPr>
            <p:spPr bwMode="auto">
              <a:xfrm>
                <a:off x="4921" y="2525"/>
                <a:ext cx="567" cy="816"/>
              </a:xfrm>
              <a:prstGeom prst="can">
                <a:avLst>
                  <a:gd name="adj" fmla="val 35979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grpSp>
            <p:nvGrpSpPr>
              <p:cNvPr id="440340" name="Group 20"/>
              <p:cNvGrpSpPr>
                <a:grpSpLocks/>
              </p:cNvGrpSpPr>
              <p:nvPr/>
            </p:nvGrpSpPr>
            <p:grpSpPr bwMode="auto">
              <a:xfrm>
                <a:off x="5133" y="2797"/>
                <a:ext cx="143" cy="521"/>
                <a:chOff x="3424" y="799"/>
                <a:chExt cx="567" cy="2087"/>
              </a:xfrm>
            </p:grpSpPr>
            <p:sp>
              <p:nvSpPr>
                <p:cNvPr id="44034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24" y="799"/>
                  <a:ext cx="567" cy="20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2" name="Rectangle 22"/>
                <p:cNvSpPr>
                  <a:spLocks noChangeArrowheads="1"/>
                </p:cNvSpPr>
                <p:nvPr/>
              </p:nvSpPr>
              <p:spPr bwMode="auto">
                <a:xfrm>
                  <a:off x="3424" y="935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3" name="Rectangle 23"/>
                <p:cNvSpPr>
                  <a:spLocks noChangeArrowheads="1"/>
                </p:cNvSpPr>
                <p:nvPr/>
              </p:nvSpPr>
              <p:spPr bwMode="auto">
                <a:xfrm>
                  <a:off x="3424" y="1207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4" name="Rectangle 24"/>
                <p:cNvSpPr>
                  <a:spLocks noChangeArrowheads="1"/>
                </p:cNvSpPr>
                <p:nvPr/>
              </p:nvSpPr>
              <p:spPr bwMode="auto">
                <a:xfrm>
                  <a:off x="3424" y="1389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5" name="Rectangle 25"/>
                <p:cNvSpPr>
                  <a:spLocks noChangeArrowheads="1"/>
                </p:cNvSpPr>
                <p:nvPr/>
              </p:nvSpPr>
              <p:spPr bwMode="auto">
                <a:xfrm>
                  <a:off x="3424" y="1797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440346" name="Rectangle 26"/>
                <p:cNvSpPr>
                  <a:spLocks noChangeArrowheads="1"/>
                </p:cNvSpPr>
                <p:nvPr/>
              </p:nvSpPr>
              <p:spPr bwMode="auto">
                <a:xfrm>
                  <a:off x="3424" y="2296"/>
                  <a:ext cx="567" cy="136"/>
                </a:xfrm>
                <a:prstGeom prst="rect">
                  <a:avLst/>
                </a:prstGeom>
                <a:solidFill>
                  <a:srgbClr val="C0C0C0">
                    <a:alpha val="7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</p:grpSp>
        </p:grpSp>
        <p:cxnSp>
          <p:nvCxnSpPr>
            <p:cNvPr id="440347" name="AutoShape 27"/>
            <p:cNvCxnSpPr>
              <a:cxnSpLocks noChangeShapeType="1"/>
              <a:stCxn id="440330" idx="3"/>
              <a:endCxn id="440335" idx="1"/>
            </p:cNvCxnSpPr>
            <p:nvPr/>
          </p:nvCxnSpPr>
          <p:spPr bwMode="auto">
            <a:xfrm flipV="1">
              <a:off x="4150" y="1230"/>
              <a:ext cx="771" cy="136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48" name="AutoShape 28"/>
            <p:cNvCxnSpPr>
              <a:cxnSpLocks noChangeShapeType="1"/>
              <a:stCxn id="440331" idx="3"/>
              <a:endCxn id="440337" idx="1"/>
            </p:cNvCxnSpPr>
            <p:nvPr/>
          </p:nvCxnSpPr>
          <p:spPr bwMode="auto">
            <a:xfrm flipV="1">
              <a:off x="4150" y="1593"/>
              <a:ext cx="771" cy="45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49" name="AutoShape 29"/>
            <p:cNvCxnSpPr>
              <a:cxnSpLocks noChangeShapeType="1"/>
              <a:stCxn id="440332" idx="3"/>
              <a:endCxn id="440336" idx="1"/>
            </p:cNvCxnSpPr>
            <p:nvPr/>
          </p:nvCxnSpPr>
          <p:spPr bwMode="auto">
            <a:xfrm flipV="1">
              <a:off x="4150" y="1366"/>
              <a:ext cx="771" cy="454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50" name="AutoShape 30"/>
            <p:cNvCxnSpPr>
              <a:cxnSpLocks noChangeShapeType="1"/>
              <a:stCxn id="440334" idx="3"/>
              <a:endCxn id="440338" idx="1"/>
            </p:cNvCxnSpPr>
            <p:nvPr/>
          </p:nvCxnSpPr>
          <p:spPr bwMode="auto">
            <a:xfrm flipV="1">
              <a:off x="4150" y="1865"/>
              <a:ext cx="771" cy="862"/>
            </a:xfrm>
            <a:prstGeom prst="straightConnector1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0351" name="AutoShape 31"/>
            <p:cNvCxnSpPr>
              <a:cxnSpLocks noChangeShapeType="1"/>
              <a:stCxn id="440333" idx="3"/>
              <a:endCxn id="440345" idx="1"/>
            </p:cNvCxnSpPr>
            <p:nvPr/>
          </p:nvCxnSpPr>
          <p:spPr bwMode="auto">
            <a:xfrm>
              <a:off x="4150" y="2228"/>
              <a:ext cx="983" cy="92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stealth" w="lg" len="lg"/>
            </a:ln>
            <a:effectLst/>
          </p:spPr>
        </p:cxnSp>
        <p:sp>
          <p:nvSpPr>
            <p:cNvPr id="440352" name="Text Box 32"/>
            <p:cNvSpPr txBox="1">
              <a:spLocks noChangeArrowheads="1"/>
            </p:cNvSpPr>
            <p:nvPr/>
          </p:nvSpPr>
          <p:spPr bwMode="auto">
            <a:xfrm>
              <a:off x="3627" y="849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Virtual</a:t>
              </a:r>
              <a:endParaRPr lang="es-PE" sz="1400"/>
            </a:p>
          </p:txBody>
        </p:sp>
        <p:sp>
          <p:nvSpPr>
            <p:cNvPr id="440353" name="Text Box 33"/>
            <p:cNvSpPr txBox="1">
              <a:spLocks noChangeArrowheads="1"/>
            </p:cNvSpPr>
            <p:nvPr/>
          </p:nvSpPr>
          <p:spPr bwMode="auto">
            <a:xfrm>
              <a:off x="4988" y="849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Física</a:t>
              </a:r>
              <a:endParaRPr lang="es-PE" sz="1400"/>
            </a:p>
          </p:txBody>
        </p:sp>
        <p:sp>
          <p:nvSpPr>
            <p:cNvPr id="440354" name="Text Box 34"/>
            <p:cNvSpPr txBox="1">
              <a:spLocks noChangeArrowheads="1"/>
            </p:cNvSpPr>
            <p:nvPr/>
          </p:nvSpPr>
          <p:spPr bwMode="auto">
            <a:xfrm>
              <a:off x="4988" y="2147"/>
              <a:ext cx="4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Memoria</a:t>
              </a:r>
            </a:p>
            <a:p>
              <a:pPr algn="ctr"/>
              <a:r>
                <a:rPr lang="es-ES" sz="1400"/>
                <a:t>Principal</a:t>
              </a:r>
              <a:endParaRPr lang="es-PE" sz="1400"/>
            </a:p>
          </p:txBody>
        </p:sp>
        <p:sp>
          <p:nvSpPr>
            <p:cNvPr id="440355" name="Text Box 35"/>
            <p:cNvSpPr txBox="1">
              <a:spLocks noChangeArrowheads="1"/>
            </p:cNvSpPr>
            <p:nvPr/>
          </p:nvSpPr>
          <p:spPr bwMode="auto">
            <a:xfrm>
              <a:off x="4928" y="3478"/>
              <a:ext cx="55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400"/>
                <a:t>Disco Duro</a:t>
              </a:r>
              <a:endParaRPr lang="es-PE" sz="1400"/>
            </a:p>
          </p:txBody>
        </p:sp>
      </p:grpSp>
    </p:spTree>
    <p:extLst>
      <p:ext uri="{BB962C8B-B14F-4D97-AF65-F5344CB8AC3E}">
        <p14:creationId xmlns:p14="http://schemas.microsoft.com/office/powerpoint/2010/main" val="252644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1676400" y="533400"/>
            <a:ext cx="6589200" cy="747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4000"/>
              <a:t>El disco es LENTO</a:t>
            </a:r>
          </a:p>
        </p:txBody>
      </p:sp>
      <p:pic>
        <p:nvPicPr>
          <p:cNvPr id="78" name="Shape 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50" y="1542325"/>
            <a:ext cx="7926099" cy="445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34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Vinculación de direcciones</a:t>
            </a:r>
          </a:p>
        </p:txBody>
      </p:sp>
      <p:sp>
        <p:nvSpPr>
          <p:cNvPr id="84" name="Shape 84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vinculación de instrucciones y datos a direcciones de memoria puede realizarse en tres etapas diferentes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Compilación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 Si se conoce a priori la posición que va a ocupar un proceso en la memoria se puede generar </a:t>
            </a:r>
            <a:r>
              <a:rPr lang="es-AR" sz="18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 absoluto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con referencias absolutas a memoria; si cambia la posición del proceso hay que recompilar el código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Carga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Si no se conoce la posición del proceso en memoria en tiempo de compilación se debe generar </a:t>
            </a:r>
            <a:r>
              <a:rPr lang="es-AR" sz="18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 reubicable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Ejecución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: Si el proceso puede cambiar de posición durante su ejecución la vinculación se retrasa hasta el momento de ejecución. Necesita soporte hardware para el mapeo de direcciones (ej: registros base y límite)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86394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1588008" y="1752600"/>
            <a:ext cx="6946392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concepto de </a:t>
            </a:r>
            <a:r>
              <a:rPr lang="es-AR" sz="20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 lógicas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vinculado a un </a:t>
            </a:r>
            <a:r>
              <a:rPr lang="es-AR" sz="20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 físicas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separado es crucial para una buena gestión de memoria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lógica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– es la dirección que genera el proceso; también se conoce como </a:t>
            </a:r>
            <a:r>
              <a:rPr lang="es-AR" sz="18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virtual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Dirección física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– dirección que percibe la unidad de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Las direcciones lógicas y físicas son iguales en los esquemas de vinculación en tiempo de compilación y de carga; pero difieren en el esquema de vinculación en tiempo de ejecución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337422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Base y límite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 par de registros </a:t>
            </a:r>
            <a:r>
              <a:rPr lang="es-AR" sz="2000" b="1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base</a:t>
            </a: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y</a:t>
            </a:r>
            <a:r>
              <a:rPr lang="es-AR" sz="2000" b="1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límite</a:t>
            </a:r>
            <a:r>
              <a:rPr lang="es-AR" sz="2000" b="0" i="0" u="none" strike="noStrike" cap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definen el espacio de direcciones lógicas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97" name="Shape 97"/>
          <p:cNvPicPr preferRelativeResize="0"/>
          <p:nvPr/>
        </p:nvPicPr>
        <p:blipFill rotWithShape="1">
          <a:blip r:embed="rId3">
            <a:alphaModFix/>
          </a:blip>
          <a:srcRect l="18016" t="906" r="18015" b="1501"/>
          <a:stretch/>
        </p:blipFill>
        <p:spPr>
          <a:xfrm>
            <a:off x="3561812" y="2680647"/>
            <a:ext cx="3355974" cy="3840161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12574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Memory Management Unit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MMU (Memory Management Unit) es un dispositivo hardware que transforma las direcciones virtuales en físicas</a:t>
            </a:r>
            <a:b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0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Con la MMU el valor del registro de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reubicación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(registro base) es añadido a cada dirección generada por un proceso de usuario en el momento en que es enviada a la memoria</a:t>
            </a:r>
            <a:b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0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programa de usuario trabaja con direcciones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lógicas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; nunca ve las direcciones </a:t>
            </a:r>
            <a:r>
              <a:rPr lang="es-AR" sz="2000" b="1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físicas</a:t>
            </a: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reales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295677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Memory Management Unit</a:t>
            </a:r>
          </a:p>
        </p:txBody>
      </p:sp>
      <p:pic>
        <p:nvPicPr>
          <p:cNvPr id="109" name="Shape 109"/>
          <p:cNvPicPr preferRelativeResize="0"/>
          <p:nvPr/>
        </p:nvPicPr>
        <p:blipFill rotWithShape="1">
          <a:blip r:embed="rId3">
            <a:alphaModFix/>
          </a:blip>
          <a:srcRect l="841" t="3482" r="1088" b="3783"/>
          <a:stretch/>
        </p:blipFill>
        <p:spPr>
          <a:xfrm>
            <a:off x="1945200" y="1676400"/>
            <a:ext cx="6365514" cy="468030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318298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Administrador de Memoria</a:t>
            </a:r>
            <a:endParaRPr lang="es-PE"/>
          </a:p>
        </p:txBody>
      </p:sp>
      <p:grpSp>
        <p:nvGrpSpPr>
          <p:cNvPr id="443459" name="Group 67"/>
          <p:cNvGrpSpPr>
            <a:grpSpLocks/>
          </p:cNvGrpSpPr>
          <p:nvPr/>
        </p:nvGrpSpPr>
        <p:grpSpPr bwMode="auto">
          <a:xfrm>
            <a:off x="504825" y="2276475"/>
            <a:ext cx="2122488" cy="2520950"/>
            <a:chOff x="318" y="1434"/>
            <a:chExt cx="1337" cy="1588"/>
          </a:xfrm>
        </p:grpSpPr>
        <p:sp>
          <p:nvSpPr>
            <p:cNvPr id="443397" name="Rectangle 5"/>
            <p:cNvSpPr>
              <a:spLocks noChangeArrowheads="1"/>
            </p:cNvSpPr>
            <p:nvPr/>
          </p:nvSpPr>
          <p:spPr bwMode="auto">
            <a:xfrm>
              <a:off x="975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398" name="Rectangle 6"/>
            <p:cNvSpPr>
              <a:spLocks noChangeArrowheads="1"/>
            </p:cNvSpPr>
            <p:nvPr/>
          </p:nvSpPr>
          <p:spPr bwMode="auto">
            <a:xfrm>
              <a:off x="975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399" name="Rectangle 7"/>
            <p:cNvSpPr>
              <a:spLocks noChangeArrowheads="1"/>
            </p:cNvSpPr>
            <p:nvPr/>
          </p:nvSpPr>
          <p:spPr bwMode="auto">
            <a:xfrm>
              <a:off x="975" y="1775"/>
              <a:ext cx="680" cy="929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s-ES" sz="1400"/>
                <a:t>Memoria del usuario</a:t>
              </a:r>
              <a:endParaRPr lang="es-PE" sz="1400"/>
            </a:p>
          </p:txBody>
        </p:sp>
        <p:cxnSp>
          <p:nvCxnSpPr>
            <p:cNvPr id="443402" name="AutoShape 10"/>
            <p:cNvCxnSpPr>
              <a:cxnSpLocks noChangeShapeType="1"/>
              <a:stCxn id="443401" idx="3"/>
              <a:endCxn id="443399" idx="1"/>
            </p:cNvCxnSpPr>
            <p:nvPr/>
          </p:nvCxnSpPr>
          <p:spPr bwMode="auto">
            <a:xfrm>
              <a:off x="748" y="2239"/>
              <a:ext cx="227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grpSp>
          <p:nvGrpSpPr>
            <p:cNvPr id="443416" name="Group 24"/>
            <p:cNvGrpSpPr>
              <a:grpSpLocks/>
            </p:cNvGrpSpPr>
            <p:nvPr/>
          </p:nvGrpSpPr>
          <p:grpSpPr bwMode="auto">
            <a:xfrm>
              <a:off x="318" y="2182"/>
              <a:ext cx="430" cy="114"/>
              <a:chOff x="318" y="1916"/>
              <a:chExt cx="430" cy="114"/>
            </a:xfrm>
          </p:grpSpPr>
          <p:sp>
            <p:nvSpPr>
              <p:cNvPr id="443401" name="Rectangle 9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03" name="Rectangle 1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04" name="Rectangle 1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grpSp>
        <p:nvGrpSpPr>
          <p:cNvPr id="443460" name="Group 68"/>
          <p:cNvGrpSpPr>
            <a:grpSpLocks/>
          </p:cNvGrpSpPr>
          <p:nvPr/>
        </p:nvGrpSpPr>
        <p:grpSpPr bwMode="auto">
          <a:xfrm>
            <a:off x="3889375" y="2276475"/>
            <a:ext cx="2122488" cy="2520950"/>
            <a:chOff x="2450" y="1434"/>
            <a:chExt cx="1337" cy="1588"/>
          </a:xfrm>
        </p:grpSpPr>
        <p:grpSp>
          <p:nvGrpSpPr>
            <p:cNvPr id="443417" name="Group 25"/>
            <p:cNvGrpSpPr>
              <a:grpSpLocks/>
            </p:cNvGrpSpPr>
            <p:nvPr/>
          </p:nvGrpSpPr>
          <p:grpSpPr bwMode="auto">
            <a:xfrm>
              <a:off x="2450" y="1877"/>
              <a:ext cx="430" cy="114"/>
              <a:chOff x="318" y="1916"/>
              <a:chExt cx="430" cy="114"/>
            </a:xfrm>
          </p:grpSpPr>
          <p:sp>
            <p:nvSpPr>
              <p:cNvPr id="443418" name="Rectangle 26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19" name="Rectangle 27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0" name="Rectangle 28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3421" name="Group 29"/>
            <p:cNvGrpSpPr>
              <a:grpSpLocks/>
            </p:cNvGrpSpPr>
            <p:nvPr/>
          </p:nvGrpSpPr>
          <p:grpSpPr bwMode="auto">
            <a:xfrm>
              <a:off x="2450" y="2263"/>
              <a:ext cx="430" cy="114"/>
              <a:chOff x="318" y="1916"/>
              <a:chExt cx="430" cy="114"/>
            </a:xfrm>
          </p:grpSpPr>
          <p:sp>
            <p:nvSpPr>
              <p:cNvPr id="443422" name="Rectangle 30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3" name="Rectangle 3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4" name="Rectangle 3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grpSp>
          <p:nvGrpSpPr>
            <p:cNvPr id="443425" name="Group 33"/>
            <p:cNvGrpSpPr>
              <a:grpSpLocks/>
            </p:cNvGrpSpPr>
            <p:nvPr/>
          </p:nvGrpSpPr>
          <p:grpSpPr bwMode="auto">
            <a:xfrm>
              <a:off x="2450" y="2557"/>
              <a:ext cx="430" cy="114"/>
              <a:chOff x="318" y="1916"/>
              <a:chExt cx="430" cy="114"/>
            </a:xfrm>
          </p:grpSpPr>
          <p:sp>
            <p:nvSpPr>
              <p:cNvPr id="443426" name="Rectangle 34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7" name="Rectangle 35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28" name="Rectangle 36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443405" name="Rectangle 13"/>
            <p:cNvSpPr>
              <a:spLocks noChangeArrowheads="1"/>
            </p:cNvSpPr>
            <p:nvPr/>
          </p:nvSpPr>
          <p:spPr bwMode="auto">
            <a:xfrm>
              <a:off x="3107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406" name="Rectangle 14"/>
            <p:cNvSpPr>
              <a:spLocks noChangeArrowheads="1"/>
            </p:cNvSpPr>
            <p:nvPr/>
          </p:nvSpPr>
          <p:spPr bwMode="auto">
            <a:xfrm>
              <a:off x="3107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407" name="Rectangle 15"/>
            <p:cNvSpPr>
              <a:spLocks noChangeArrowheads="1"/>
            </p:cNvSpPr>
            <p:nvPr/>
          </p:nvSpPr>
          <p:spPr bwMode="auto">
            <a:xfrm>
              <a:off x="3107" y="1775"/>
              <a:ext cx="680" cy="31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12" name="Rectangle 20"/>
            <p:cNvSpPr>
              <a:spLocks noChangeArrowheads="1"/>
            </p:cNvSpPr>
            <p:nvPr/>
          </p:nvSpPr>
          <p:spPr bwMode="auto">
            <a:xfrm>
              <a:off x="3107" y="2093"/>
              <a:ext cx="680" cy="45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29" name="Rectangle 37"/>
            <p:cNvSpPr>
              <a:spLocks noChangeArrowheads="1"/>
            </p:cNvSpPr>
            <p:nvPr/>
          </p:nvSpPr>
          <p:spPr bwMode="auto">
            <a:xfrm>
              <a:off x="3107" y="2546"/>
              <a:ext cx="680" cy="1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cxnSp>
          <p:nvCxnSpPr>
            <p:cNvPr id="443438" name="AutoShape 46"/>
            <p:cNvCxnSpPr>
              <a:cxnSpLocks noChangeShapeType="1"/>
              <a:stCxn id="443418" idx="3"/>
              <a:endCxn id="443407" idx="1"/>
            </p:cNvCxnSpPr>
            <p:nvPr/>
          </p:nvCxnSpPr>
          <p:spPr bwMode="auto">
            <a:xfrm>
              <a:off x="2880" y="1934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39" name="AutoShape 47"/>
            <p:cNvCxnSpPr>
              <a:cxnSpLocks noChangeShapeType="1"/>
              <a:stCxn id="443422" idx="3"/>
              <a:endCxn id="443412" idx="1"/>
            </p:cNvCxnSpPr>
            <p:nvPr/>
          </p:nvCxnSpPr>
          <p:spPr bwMode="auto">
            <a:xfrm>
              <a:off x="2880" y="2320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0" name="AutoShape 48"/>
            <p:cNvCxnSpPr>
              <a:cxnSpLocks noChangeShapeType="1"/>
              <a:stCxn id="443426" idx="3"/>
              <a:endCxn id="443429" idx="1"/>
            </p:cNvCxnSpPr>
            <p:nvPr/>
          </p:nvCxnSpPr>
          <p:spPr bwMode="auto">
            <a:xfrm>
              <a:off x="2880" y="2614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grpSp>
        <p:nvGrpSpPr>
          <p:cNvPr id="443461" name="Group 69"/>
          <p:cNvGrpSpPr>
            <a:grpSpLocks/>
          </p:cNvGrpSpPr>
          <p:nvPr/>
        </p:nvGrpSpPr>
        <p:grpSpPr bwMode="auto">
          <a:xfrm>
            <a:off x="6299200" y="2276475"/>
            <a:ext cx="2376488" cy="2520950"/>
            <a:chOff x="3968" y="1434"/>
            <a:chExt cx="1497" cy="1588"/>
          </a:xfrm>
        </p:grpSpPr>
        <p:sp>
          <p:nvSpPr>
            <p:cNvPr id="443433" name="Rectangle 41"/>
            <p:cNvSpPr>
              <a:spLocks noChangeArrowheads="1"/>
            </p:cNvSpPr>
            <p:nvPr/>
          </p:nvSpPr>
          <p:spPr bwMode="auto">
            <a:xfrm>
              <a:off x="4785" y="1434"/>
              <a:ext cx="68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algn="ctr"/>
              <a:r>
                <a:rPr lang="es-ES" sz="1400"/>
                <a:t>Sistema Operativo</a:t>
              </a:r>
              <a:endParaRPr lang="es-PE" sz="1400"/>
            </a:p>
          </p:txBody>
        </p:sp>
        <p:sp>
          <p:nvSpPr>
            <p:cNvPr id="443434" name="Rectangle 42"/>
            <p:cNvSpPr>
              <a:spLocks noChangeArrowheads="1"/>
            </p:cNvSpPr>
            <p:nvPr/>
          </p:nvSpPr>
          <p:spPr bwMode="auto">
            <a:xfrm>
              <a:off x="4785" y="1775"/>
              <a:ext cx="680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endParaRPr lang="es-ES"/>
            </a:p>
          </p:txBody>
        </p:sp>
        <p:sp>
          <p:nvSpPr>
            <p:cNvPr id="443435" name="Rectangle 43"/>
            <p:cNvSpPr>
              <a:spLocks noChangeArrowheads="1"/>
            </p:cNvSpPr>
            <p:nvPr/>
          </p:nvSpPr>
          <p:spPr bwMode="auto">
            <a:xfrm>
              <a:off x="4785" y="1775"/>
              <a:ext cx="680" cy="31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36" name="Rectangle 44"/>
            <p:cNvSpPr>
              <a:spLocks noChangeArrowheads="1"/>
            </p:cNvSpPr>
            <p:nvPr/>
          </p:nvSpPr>
          <p:spPr bwMode="auto">
            <a:xfrm>
              <a:off x="4785" y="2093"/>
              <a:ext cx="680" cy="45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37" name="Rectangle 45"/>
            <p:cNvSpPr>
              <a:spLocks noChangeArrowheads="1"/>
            </p:cNvSpPr>
            <p:nvPr/>
          </p:nvSpPr>
          <p:spPr bwMode="auto">
            <a:xfrm>
              <a:off x="4785" y="2546"/>
              <a:ext cx="680" cy="1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grpSp>
          <p:nvGrpSpPr>
            <p:cNvPr id="443441" name="Group 49"/>
            <p:cNvGrpSpPr>
              <a:grpSpLocks/>
            </p:cNvGrpSpPr>
            <p:nvPr/>
          </p:nvGrpSpPr>
          <p:grpSpPr bwMode="auto">
            <a:xfrm>
              <a:off x="4128" y="2273"/>
              <a:ext cx="430" cy="114"/>
              <a:chOff x="318" y="1916"/>
              <a:chExt cx="430" cy="114"/>
            </a:xfrm>
          </p:grpSpPr>
          <p:sp>
            <p:nvSpPr>
              <p:cNvPr id="443442" name="Rectangle 50"/>
              <p:cNvSpPr>
                <a:spLocks noChangeArrowheads="1"/>
              </p:cNvSpPr>
              <p:nvPr/>
            </p:nvSpPr>
            <p:spPr bwMode="auto">
              <a:xfrm>
                <a:off x="635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43" name="Rectangle 51"/>
              <p:cNvSpPr>
                <a:spLocks noChangeArrowheads="1"/>
              </p:cNvSpPr>
              <p:nvPr/>
            </p:nvSpPr>
            <p:spPr bwMode="auto">
              <a:xfrm>
                <a:off x="476" y="1916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443444" name="Rectangle 52"/>
              <p:cNvSpPr>
                <a:spLocks noChangeArrowheads="1"/>
              </p:cNvSpPr>
              <p:nvPr/>
            </p:nvSpPr>
            <p:spPr bwMode="auto">
              <a:xfrm>
                <a:off x="318" y="1917"/>
                <a:ext cx="113" cy="113"/>
              </a:xfrm>
              <a:prstGeom prst="rect">
                <a:avLst/>
              </a:prstGeom>
              <a:pattFill prst="smGrid">
                <a:fgClr>
                  <a:schemeClr val="bg2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cxnSp>
          <p:nvCxnSpPr>
            <p:cNvPr id="443445" name="AutoShape 53"/>
            <p:cNvCxnSpPr>
              <a:cxnSpLocks noChangeShapeType="1"/>
              <a:stCxn id="443442" idx="3"/>
              <a:endCxn id="443436" idx="1"/>
            </p:cNvCxnSpPr>
            <p:nvPr/>
          </p:nvCxnSpPr>
          <p:spPr bwMode="auto">
            <a:xfrm flipV="1">
              <a:off x="4558" y="2320"/>
              <a:ext cx="227" cy="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6" name="AutoShape 54"/>
            <p:cNvCxnSpPr>
              <a:cxnSpLocks noChangeShapeType="1"/>
              <a:stCxn id="443442" idx="3"/>
              <a:endCxn id="443437" idx="1"/>
            </p:cNvCxnSpPr>
            <p:nvPr/>
          </p:nvCxnSpPr>
          <p:spPr bwMode="auto">
            <a:xfrm>
              <a:off x="4558" y="2330"/>
              <a:ext cx="227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7" name="AutoShape 55"/>
            <p:cNvCxnSpPr>
              <a:cxnSpLocks noChangeShapeType="1"/>
              <a:stCxn id="443442" idx="3"/>
              <a:endCxn id="443435" idx="1"/>
            </p:cNvCxnSpPr>
            <p:nvPr/>
          </p:nvCxnSpPr>
          <p:spPr bwMode="auto">
            <a:xfrm flipV="1">
              <a:off x="4558" y="1934"/>
              <a:ext cx="227" cy="39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443448" name="AutoShape 56"/>
            <p:cNvCxnSpPr>
              <a:cxnSpLocks noChangeShapeType="1"/>
              <a:stCxn id="443442" idx="3"/>
              <a:endCxn id="443449" idx="1"/>
            </p:cNvCxnSpPr>
            <p:nvPr/>
          </p:nvCxnSpPr>
          <p:spPr bwMode="auto">
            <a:xfrm>
              <a:off x="4558" y="2330"/>
              <a:ext cx="227" cy="47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443449" name="Rectangle 57"/>
            <p:cNvSpPr>
              <a:spLocks noChangeArrowheads="1"/>
            </p:cNvSpPr>
            <p:nvPr/>
          </p:nvSpPr>
          <p:spPr bwMode="auto">
            <a:xfrm>
              <a:off x="4785" y="2682"/>
              <a:ext cx="680" cy="249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3453" name="Rectangle 61"/>
            <p:cNvSpPr>
              <a:spLocks noChangeArrowheads="1"/>
            </p:cNvSpPr>
            <p:nvPr/>
          </p:nvSpPr>
          <p:spPr bwMode="auto">
            <a:xfrm>
              <a:off x="3968" y="2273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43454" name="Text Box 62"/>
          <p:cNvSpPr txBox="1">
            <a:spLocks noChangeArrowheads="1"/>
          </p:cNvSpPr>
          <p:nvPr/>
        </p:nvSpPr>
        <p:spPr bwMode="auto">
          <a:xfrm>
            <a:off x="250825" y="1628775"/>
            <a:ext cx="3175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/>
              <a:t>Sistema monoprogramado</a:t>
            </a:r>
            <a:endParaRPr lang="es-PE" sz="2000"/>
          </a:p>
        </p:txBody>
      </p:sp>
      <p:sp>
        <p:nvSpPr>
          <p:cNvPr id="443455" name="Text Box 63"/>
          <p:cNvSpPr txBox="1">
            <a:spLocks noChangeArrowheads="1"/>
          </p:cNvSpPr>
          <p:nvPr/>
        </p:nvSpPr>
        <p:spPr bwMode="auto">
          <a:xfrm>
            <a:off x="5024438" y="1700213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2000"/>
              <a:t>Sistema multiprogramado</a:t>
            </a:r>
            <a:endParaRPr lang="es-PE" sz="2000"/>
          </a:p>
        </p:txBody>
      </p:sp>
      <p:sp>
        <p:nvSpPr>
          <p:cNvPr id="443457" name="Text Box 65"/>
          <p:cNvSpPr txBox="1">
            <a:spLocks noChangeArrowheads="1"/>
          </p:cNvSpPr>
          <p:nvPr/>
        </p:nvSpPr>
        <p:spPr bwMode="auto">
          <a:xfrm>
            <a:off x="395288" y="5013325"/>
            <a:ext cx="26654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Un programa puede o no ingresar a una única partición de memoria</a:t>
            </a:r>
            <a:endParaRPr lang="es-PE" sz="1800"/>
          </a:p>
        </p:txBody>
      </p:sp>
      <p:sp>
        <p:nvSpPr>
          <p:cNvPr id="443458" name="Text Box 66"/>
          <p:cNvSpPr txBox="1">
            <a:spLocks noChangeArrowheads="1"/>
          </p:cNvSpPr>
          <p:nvPr/>
        </p:nvSpPr>
        <p:spPr bwMode="auto">
          <a:xfrm>
            <a:off x="3779838" y="5013325"/>
            <a:ext cx="482441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Múltiples programas comparten diversas particiones de memoria</a:t>
            </a:r>
          </a:p>
          <a:p>
            <a:pPr algn="ctr"/>
            <a:r>
              <a:rPr lang="es-ES" sz="1800"/>
              <a:t>Particiones de tamaño fijo</a:t>
            </a:r>
          </a:p>
          <a:p>
            <a:pPr algn="ctr"/>
            <a:r>
              <a:rPr lang="es-ES" sz="1800"/>
              <a:t>Particiones de tamaño variable</a:t>
            </a:r>
            <a:endParaRPr lang="es-PE" sz="1800"/>
          </a:p>
        </p:txBody>
      </p:sp>
    </p:spTree>
    <p:extLst>
      <p:ext uri="{BB962C8B-B14F-4D97-AF65-F5344CB8AC3E}">
        <p14:creationId xmlns:p14="http://schemas.microsoft.com/office/powerpoint/2010/main" val="90614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3092" y="404813"/>
            <a:ext cx="6941223" cy="1273862"/>
          </a:xfrm>
        </p:spPr>
        <p:txBody>
          <a:bodyPr/>
          <a:lstStyle/>
          <a:p>
            <a:r>
              <a:rPr lang="es-ES" dirty="0"/>
              <a:t>Requisitos del administrador de memoria</a:t>
            </a:r>
            <a:endParaRPr lang="es-PE" dirty="0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3092" y="1874292"/>
            <a:ext cx="7100532" cy="4731224"/>
          </a:xfrm>
        </p:spPr>
        <p:txBody>
          <a:bodyPr/>
          <a:lstStyle/>
          <a:p>
            <a:pPr marL="457200" indent="-457200" algn="just">
              <a:buFontTx/>
              <a:buAutoNum type="arabicPeriod"/>
            </a:pPr>
            <a:r>
              <a:rPr lang="es-ES" dirty="0"/>
              <a:t>Reubicación. Permitir el recalculo de direcciones de memoria de un proceso reubicado. 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/>
              <a:t>Protección. Evitar el acceso a posiciones de memoria sin el permiso expreso. (no direcciones absolutas).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/>
              <a:t>Compartición. </a:t>
            </a:r>
            <a:r>
              <a:rPr lang="es-PE" dirty="0"/>
              <a:t>Permitir a procesos diferentes acceder a la misma porción de memoria.</a:t>
            </a:r>
            <a:endParaRPr lang="es-ES" dirty="0"/>
          </a:p>
          <a:p>
            <a:pPr marL="457200" indent="-457200" algn="just">
              <a:buFontTx/>
              <a:buAutoNum type="arabicPeriod"/>
            </a:pPr>
            <a:r>
              <a:rPr lang="es-ES" dirty="0"/>
              <a:t>Organización Lógica. Permitir que los </a:t>
            </a:r>
            <a:r>
              <a:rPr lang="es-PE" dirty="0"/>
              <a:t>programas se escriban como módulos </a:t>
            </a:r>
            <a:r>
              <a:rPr lang="es-PE" dirty="0" err="1"/>
              <a:t>compilables</a:t>
            </a:r>
            <a:r>
              <a:rPr lang="es-PE" dirty="0"/>
              <a:t> y ejecutables por separado.</a:t>
            </a:r>
          </a:p>
          <a:p>
            <a:pPr marL="457200" indent="-457200" algn="just">
              <a:buFontTx/>
              <a:buAutoNum type="arabicPeriod"/>
            </a:pPr>
            <a:r>
              <a:rPr lang="es-ES" dirty="0"/>
              <a:t>Organización Física. Permitir el intercambio de datos en la memoria primaria y secundaria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080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9415" y="528576"/>
            <a:ext cx="3131767" cy="777581"/>
          </a:xfrm>
        </p:spPr>
        <p:txBody>
          <a:bodyPr/>
          <a:lstStyle/>
          <a:p>
            <a:r>
              <a:rPr lang="es-ES" dirty="0"/>
              <a:t>Estrategias </a:t>
            </a:r>
            <a:endParaRPr lang="es-PE" dirty="0"/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1401691"/>
            <a:ext cx="8313145" cy="5313008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s-PE" dirty="0"/>
              <a:t>Están dirigidas a la obtención del mejor uso del recurso </a:t>
            </a:r>
            <a:r>
              <a:rPr lang="es-PE" dirty="0">
                <a:solidFill>
                  <a:schemeClr val="accent2"/>
                </a:solidFill>
              </a:rPr>
              <a:t>memoria principal</a:t>
            </a:r>
            <a:r>
              <a:rPr lang="es-PE" dirty="0"/>
              <a:t>, estas pueden ser:</a:t>
            </a:r>
          </a:p>
          <a:p>
            <a:pPr marL="622300" lvl="1" indent="-442913">
              <a:buFontTx/>
              <a:buAutoNum type="arabicPeriod"/>
            </a:pPr>
            <a:r>
              <a:rPr lang="es-PE" sz="2800" dirty="0"/>
              <a:t>Estrategia de solicitud (búsqueda)</a:t>
            </a:r>
          </a:p>
          <a:p>
            <a:pPr marL="622300" lvl="1" indent="-442913">
              <a:buFontTx/>
              <a:buNone/>
            </a:pPr>
            <a:r>
              <a:rPr lang="es-PE" sz="1800" dirty="0"/>
              <a:t>	(cuando obtener un fragmento de programa)</a:t>
            </a:r>
          </a:p>
          <a:p>
            <a:pPr marL="1082675" lvl="2" indent="-280988"/>
            <a:r>
              <a:rPr lang="es-PE" sz="2800" dirty="0"/>
              <a:t>Estrategias de búsqueda por demanda. </a:t>
            </a:r>
          </a:p>
          <a:p>
            <a:pPr marL="1082675" lvl="2" indent="-280988"/>
            <a:r>
              <a:rPr lang="es-PE" sz="2800" dirty="0"/>
              <a:t>Estrategias de búsqueda anticipada. </a:t>
            </a:r>
          </a:p>
          <a:p>
            <a:pPr marL="622300" lvl="1" indent="-442913">
              <a:buFontTx/>
              <a:buNone/>
            </a:pPr>
            <a:r>
              <a:rPr lang="es-PE" sz="2800" dirty="0"/>
              <a:t>2.	Estrategia de ubicación. </a:t>
            </a:r>
          </a:p>
          <a:p>
            <a:pPr marL="622300" lvl="1" indent="-442913">
              <a:buFontTx/>
              <a:buNone/>
            </a:pPr>
            <a:r>
              <a:rPr lang="es-PE" dirty="0"/>
              <a:t>	</a:t>
            </a:r>
            <a:r>
              <a:rPr lang="es-PE" sz="1800" dirty="0"/>
              <a:t>(donde se colocará (cargar) un fragmento de programa nuevo)</a:t>
            </a:r>
          </a:p>
          <a:p>
            <a:pPr marL="622300" lvl="1" indent="-442913">
              <a:buFontTx/>
              <a:buAutoNum type="arabicPeriod" startAt="3"/>
            </a:pPr>
            <a:r>
              <a:rPr lang="es-PE" sz="2800" dirty="0"/>
              <a:t>Estrategia de reposición. </a:t>
            </a:r>
          </a:p>
          <a:p>
            <a:pPr marL="622300" lvl="1" indent="-442913">
              <a:buFontTx/>
              <a:buNone/>
            </a:pPr>
            <a:r>
              <a:rPr lang="es-PE" dirty="0"/>
              <a:t>	</a:t>
            </a:r>
            <a:r>
              <a:rPr lang="es-PE" sz="1800" dirty="0"/>
              <a:t>(qué fragmento de programa descarga, para cargar uno nuevo)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4003456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Administrador de Memoria</a:t>
            </a:r>
            <a:endParaRPr lang="es-PE"/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5000" y="1905110"/>
            <a:ext cx="6777054" cy="3308335"/>
          </a:xfrm>
        </p:spPr>
        <p:txBody>
          <a:bodyPr/>
          <a:lstStyle/>
          <a:p>
            <a:pPr marL="533400" indent="-533400" algn="just"/>
            <a:r>
              <a:rPr lang="es-ES" sz="2400" dirty="0"/>
              <a:t>Las técnicas usadas son las siguientes: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Partición Fija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chemeClr val="accent2"/>
                </a:solidFill>
              </a:rPr>
              <a:t>Partición Dinámica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A50021"/>
                </a:solidFill>
              </a:rPr>
              <a:t>Paginación Simple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A50021"/>
                </a:solidFill>
              </a:rPr>
              <a:t>Segmentación Simple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FF3300"/>
                </a:solidFill>
              </a:rPr>
              <a:t>Memoria Virtual Paginada</a:t>
            </a:r>
          </a:p>
          <a:p>
            <a:pPr marL="914400" lvl="1" indent="-457200" algn="just">
              <a:buFontTx/>
              <a:buAutoNum type="arabicPeriod"/>
            </a:pPr>
            <a:r>
              <a:rPr lang="es-ES" dirty="0">
                <a:solidFill>
                  <a:srgbClr val="FF3300"/>
                </a:solidFill>
              </a:rPr>
              <a:t>Memoria Virtual Segmentada</a:t>
            </a:r>
            <a:endParaRPr lang="es-PE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732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Partición Fija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0349" y="1905110"/>
            <a:ext cx="6591900" cy="3777600"/>
          </a:xfrm>
        </p:spPr>
        <p:txBody>
          <a:bodyPr/>
          <a:lstStyle/>
          <a:p>
            <a:pPr algn="just"/>
            <a:r>
              <a:rPr lang="es-ES" dirty="0"/>
              <a:t>La memoria principal se divide en un conjunto de particiones de tamaño fijo durante el inicio del sistema.</a:t>
            </a:r>
          </a:p>
          <a:p>
            <a:pPr algn="just"/>
            <a:r>
              <a:rPr lang="es-ES" dirty="0"/>
              <a:t>Un proceso se puede cargar completamente en una partición de tamaño </a:t>
            </a:r>
            <a:r>
              <a:rPr lang="es-ES" dirty="0">
                <a:cs typeface="Arial" charset="0"/>
              </a:rPr>
              <a:t>menor o igual.</a:t>
            </a:r>
          </a:p>
          <a:p>
            <a:pPr algn="just"/>
            <a:endParaRPr lang="es-ES" dirty="0">
              <a:cs typeface="Arial" charset="0"/>
            </a:endParaRPr>
          </a:p>
          <a:p>
            <a:pPr algn="just"/>
            <a:r>
              <a:rPr lang="es-ES" dirty="0">
                <a:solidFill>
                  <a:schemeClr val="accent2"/>
                </a:solidFill>
                <a:cs typeface="Arial" charset="0"/>
              </a:rPr>
              <a:t>Ventajas</a:t>
            </a:r>
            <a:r>
              <a:rPr lang="es-ES" dirty="0">
                <a:cs typeface="Arial" charset="0"/>
              </a:rPr>
              <a:t>. Sencilla de implementar. Poca sobrecarga al SO.</a:t>
            </a:r>
          </a:p>
          <a:p>
            <a:pPr algn="just"/>
            <a:r>
              <a:rPr lang="es-ES" dirty="0">
                <a:solidFill>
                  <a:schemeClr val="accent2"/>
                </a:solidFill>
                <a:cs typeface="Arial" charset="0"/>
              </a:rPr>
              <a:t>Desventajas</a:t>
            </a:r>
            <a:r>
              <a:rPr lang="es-ES" dirty="0">
                <a:cs typeface="Arial" charset="0"/>
              </a:rPr>
              <a:t>. Fragmentación interna. Nro. fijo de procesos activos.</a:t>
            </a:r>
          </a:p>
        </p:txBody>
      </p:sp>
      <p:sp>
        <p:nvSpPr>
          <p:cNvPr id="447492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7493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7494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7495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7496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7497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808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7096" y="1715590"/>
            <a:ext cx="7077304" cy="4384959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Partición de igual tamaño.</a:t>
            </a:r>
          </a:p>
          <a:p>
            <a:pPr lvl="2"/>
            <a:r>
              <a:rPr lang="es-ES" dirty="0"/>
              <a:t>Si el proceso cabe en una partición se puede cargar</a:t>
            </a:r>
          </a:p>
          <a:p>
            <a:pPr lvl="1"/>
            <a:r>
              <a:rPr lang="es-ES" dirty="0"/>
              <a:t>Partición de diferente tamaño.</a:t>
            </a:r>
          </a:p>
          <a:p>
            <a:pPr lvl="2"/>
            <a:r>
              <a:rPr lang="es-ES" dirty="0"/>
              <a:t>Asignar a la partición más pequeña.</a:t>
            </a:r>
          </a:p>
          <a:p>
            <a:pPr lvl="2"/>
            <a:r>
              <a:rPr lang="es-ES" dirty="0"/>
              <a:t>Se genera dos tipos de colas: una cola, varias colas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Uno de los proceso se saca, según el planificador.</a:t>
            </a:r>
            <a:endParaRPr lang="es-PE" dirty="0"/>
          </a:p>
        </p:txBody>
      </p:sp>
      <p:sp>
        <p:nvSpPr>
          <p:cNvPr id="470081" name="Rectangle 65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0082" name="Rectangle 66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0083" name="Rectangle 67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0084" name="Rectangle 68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0085" name="Rectangle 69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0086" name="Rectangle 70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28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Estrategia de Ubicación</a:t>
            </a:r>
            <a:endParaRPr lang="es-PE">
              <a:solidFill>
                <a:schemeClr val="accent2"/>
              </a:solidFill>
            </a:endParaRPr>
          </a:p>
        </p:txBody>
      </p:sp>
      <p:cxnSp>
        <p:nvCxnSpPr>
          <p:cNvPr id="469000" name="AutoShape 8"/>
          <p:cNvCxnSpPr>
            <a:cxnSpLocks noChangeShapeType="1"/>
            <a:stCxn id="469002" idx="3"/>
            <a:endCxn id="468999" idx="1"/>
          </p:cNvCxnSpPr>
          <p:nvPr/>
        </p:nvCxnSpPr>
        <p:spPr bwMode="auto">
          <a:xfrm>
            <a:off x="935038" y="3394075"/>
            <a:ext cx="3254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01" name="Group 9"/>
          <p:cNvGrpSpPr>
            <a:grpSpLocks/>
          </p:cNvGrpSpPr>
          <p:nvPr/>
        </p:nvGrpSpPr>
        <p:grpSpPr bwMode="auto">
          <a:xfrm>
            <a:off x="252413" y="3303588"/>
            <a:ext cx="682625" cy="180975"/>
            <a:chOff x="318" y="1916"/>
            <a:chExt cx="430" cy="114"/>
          </a:xfrm>
        </p:grpSpPr>
        <p:sp>
          <p:nvSpPr>
            <p:cNvPr id="469002" name="Rectangle 10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03" name="Rectangle 11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04" name="Rectangle 12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8997" name="Rectangle 5"/>
          <p:cNvSpPr>
            <a:spLocks noChangeArrowheads="1"/>
          </p:cNvSpPr>
          <p:nvPr/>
        </p:nvSpPr>
        <p:spPr bwMode="auto">
          <a:xfrm>
            <a:off x="1260475" y="2312988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1260475" y="2852738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8999" name="Rectangle 7"/>
          <p:cNvSpPr>
            <a:spLocks noChangeArrowheads="1"/>
          </p:cNvSpPr>
          <p:nvPr/>
        </p:nvSpPr>
        <p:spPr bwMode="auto">
          <a:xfrm>
            <a:off x="1260475" y="3213100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5" name="Rectangle 13"/>
          <p:cNvSpPr>
            <a:spLocks noChangeArrowheads="1"/>
          </p:cNvSpPr>
          <p:nvPr/>
        </p:nvSpPr>
        <p:spPr bwMode="auto">
          <a:xfrm>
            <a:off x="1260475" y="357187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6" name="Rectangle 14"/>
          <p:cNvSpPr>
            <a:spLocks noChangeArrowheads="1"/>
          </p:cNvSpPr>
          <p:nvPr/>
        </p:nvSpPr>
        <p:spPr bwMode="auto">
          <a:xfrm>
            <a:off x="1260475" y="393382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7" name="Rectangle 15"/>
          <p:cNvSpPr>
            <a:spLocks noChangeArrowheads="1"/>
          </p:cNvSpPr>
          <p:nvPr/>
        </p:nvSpPr>
        <p:spPr bwMode="auto">
          <a:xfrm>
            <a:off x="1260475" y="4294188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8" name="Rectangle 16"/>
          <p:cNvSpPr>
            <a:spLocks noChangeArrowheads="1"/>
          </p:cNvSpPr>
          <p:nvPr/>
        </p:nvSpPr>
        <p:spPr bwMode="auto">
          <a:xfrm>
            <a:off x="1260475" y="5013325"/>
            <a:ext cx="1079500" cy="360363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09" name="Rectangle 17"/>
          <p:cNvSpPr>
            <a:spLocks noChangeArrowheads="1"/>
          </p:cNvSpPr>
          <p:nvPr/>
        </p:nvSpPr>
        <p:spPr bwMode="auto">
          <a:xfrm>
            <a:off x="1260475" y="465296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 K</a:t>
            </a:r>
            <a:endParaRPr lang="es-PE" sz="1400"/>
          </a:p>
        </p:txBody>
      </p:sp>
      <p:sp>
        <p:nvSpPr>
          <p:cNvPr id="469026" name="Text Box 34"/>
          <p:cNvSpPr txBox="1">
            <a:spLocks noChangeArrowheads="1"/>
          </p:cNvSpPr>
          <p:nvPr/>
        </p:nvSpPr>
        <p:spPr bwMode="auto">
          <a:xfrm>
            <a:off x="179388" y="5726113"/>
            <a:ext cx="324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800"/>
              <a:t>Particiones del mismo tamaño</a:t>
            </a:r>
            <a:endParaRPr lang="es-PE" sz="1800"/>
          </a:p>
        </p:txBody>
      </p:sp>
      <p:sp>
        <p:nvSpPr>
          <p:cNvPr id="469027" name="Text Box 35"/>
          <p:cNvSpPr txBox="1">
            <a:spLocks noChangeArrowheads="1"/>
          </p:cNvSpPr>
          <p:nvPr/>
        </p:nvSpPr>
        <p:spPr bwMode="auto">
          <a:xfrm>
            <a:off x="4643438" y="5726113"/>
            <a:ext cx="324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800"/>
              <a:t>Particiones de distinto tamaño</a:t>
            </a:r>
            <a:endParaRPr lang="es-PE" sz="1800"/>
          </a:p>
        </p:txBody>
      </p:sp>
      <p:sp>
        <p:nvSpPr>
          <p:cNvPr id="469010" name="Rectangle 18"/>
          <p:cNvSpPr>
            <a:spLocks noChangeArrowheads="1"/>
          </p:cNvSpPr>
          <p:nvPr/>
        </p:nvSpPr>
        <p:spPr bwMode="auto">
          <a:xfrm>
            <a:off x="4932363" y="2314575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9011" name="Rectangle 19"/>
          <p:cNvSpPr>
            <a:spLocks noChangeArrowheads="1"/>
          </p:cNvSpPr>
          <p:nvPr/>
        </p:nvSpPr>
        <p:spPr bwMode="auto">
          <a:xfrm>
            <a:off x="4932363" y="303371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9013" name="Rectangle 21"/>
          <p:cNvSpPr>
            <a:spLocks noChangeArrowheads="1"/>
          </p:cNvSpPr>
          <p:nvPr/>
        </p:nvSpPr>
        <p:spPr bwMode="auto">
          <a:xfrm>
            <a:off x="4932363" y="2854325"/>
            <a:ext cx="1079500" cy="17938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256 K</a:t>
            </a:r>
            <a:endParaRPr lang="es-PE" sz="1400"/>
          </a:p>
        </p:txBody>
      </p:sp>
      <p:sp>
        <p:nvSpPr>
          <p:cNvPr id="469015" name="Rectangle 23"/>
          <p:cNvSpPr>
            <a:spLocks noChangeArrowheads="1"/>
          </p:cNvSpPr>
          <p:nvPr/>
        </p:nvSpPr>
        <p:spPr bwMode="auto">
          <a:xfrm>
            <a:off x="4932363" y="3394075"/>
            <a:ext cx="1079500" cy="539750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768 K</a:t>
            </a:r>
            <a:endParaRPr lang="es-PE" sz="1400"/>
          </a:p>
        </p:txBody>
      </p:sp>
      <p:sp>
        <p:nvSpPr>
          <p:cNvPr id="469016" name="Rectangle 24"/>
          <p:cNvSpPr>
            <a:spLocks noChangeArrowheads="1"/>
          </p:cNvSpPr>
          <p:nvPr/>
        </p:nvSpPr>
        <p:spPr bwMode="auto">
          <a:xfrm>
            <a:off x="4932363" y="4652963"/>
            <a:ext cx="1079500" cy="90011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1280 K</a:t>
            </a:r>
            <a:endParaRPr lang="es-PE" sz="1400"/>
          </a:p>
        </p:txBody>
      </p:sp>
      <p:sp>
        <p:nvSpPr>
          <p:cNvPr id="469017" name="Rectangle 25"/>
          <p:cNvSpPr>
            <a:spLocks noChangeArrowheads="1"/>
          </p:cNvSpPr>
          <p:nvPr/>
        </p:nvSpPr>
        <p:spPr bwMode="auto">
          <a:xfrm>
            <a:off x="4932363" y="3933825"/>
            <a:ext cx="1079500" cy="71913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1024 K</a:t>
            </a:r>
            <a:endParaRPr lang="es-PE" sz="1400"/>
          </a:p>
        </p:txBody>
      </p:sp>
      <p:cxnSp>
        <p:nvCxnSpPr>
          <p:cNvPr id="469021" name="AutoShape 29"/>
          <p:cNvCxnSpPr>
            <a:cxnSpLocks noChangeShapeType="1"/>
            <a:stCxn id="469023" idx="3"/>
            <a:endCxn id="469015" idx="1"/>
          </p:cNvCxnSpPr>
          <p:nvPr/>
        </p:nvCxnSpPr>
        <p:spPr bwMode="auto">
          <a:xfrm>
            <a:off x="4533900" y="3663950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22" name="Group 30"/>
          <p:cNvGrpSpPr>
            <a:grpSpLocks/>
          </p:cNvGrpSpPr>
          <p:nvPr/>
        </p:nvGrpSpPr>
        <p:grpSpPr bwMode="auto">
          <a:xfrm>
            <a:off x="3851275" y="3573463"/>
            <a:ext cx="682625" cy="180975"/>
            <a:chOff x="318" y="1916"/>
            <a:chExt cx="430" cy="114"/>
          </a:xfrm>
        </p:grpSpPr>
        <p:sp>
          <p:nvSpPr>
            <p:cNvPr id="469023" name="Rectangle 31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24" name="Rectangle 32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25" name="Rectangle 33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28" name="AutoShape 36"/>
          <p:cNvCxnSpPr>
            <a:cxnSpLocks noChangeShapeType="1"/>
            <a:stCxn id="469030" idx="3"/>
            <a:endCxn id="469011" idx="1"/>
          </p:cNvCxnSpPr>
          <p:nvPr/>
        </p:nvCxnSpPr>
        <p:spPr bwMode="auto">
          <a:xfrm>
            <a:off x="4533900" y="3214688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29" name="Group 37"/>
          <p:cNvGrpSpPr>
            <a:grpSpLocks/>
          </p:cNvGrpSpPr>
          <p:nvPr/>
        </p:nvGrpSpPr>
        <p:grpSpPr bwMode="auto">
          <a:xfrm>
            <a:off x="3851275" y="3124200"/>
            <a:ext cx="682625" cy="180975"/>
            <a:chOff x="318" y="1916"/>
            <a:chExt cx="430" cy="114"/>
          </a:xfrm>
        </p:grpSpPr>
        <p:sp>
          <p:nvSpPr>
            <p:cNvPr id="469030" name="Rectangle 38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1" name="Rectangle 39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2" name="Rectangle 40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33" name="AutoShape 41"/>
          <p:cNvCxnSpPr>
            <a:cxnSpLocks noChangeShapeType="1"/>
            <a:stCxn id="469035" idx="3"/>
            <a:endCxn id="469017" idx="1"/>
          </p:cNvCxnSpPr>
          <p:nvPr/>
        </p:nvCxnSpPr>
        <p:spPr bwMode="auto">
          <a:xfrm>
            <a:off x="4533900" y="4294188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34" name="Group 42"/>
          <p:cNvGrpSpPr>
            <a:grpSpLocks/>
          </p:cNvGrpSpPr>
          <p:nvPr/>
        </p:nvGrpSpPr>
        <p:grpSpPr bwMode="auto">
          <a:xfrm>
            <a:off x="3851275" y="4203700"/>
            <a:ext cx="682625" cy="180975"/>
            <a:chOff x="318" y="1916"/>
            <a:chExt cx="430" cy="114"/>
          </a:xfrm>
        </p:grpSpPr>
        <p:sp>
          <p:nvSpPr>
            <p:cNvPr id="469035" name="Rectangle 43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6" name="Rectangle 44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37" name="Rectangle 45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38" name="AutoShape 46"/>
          <p:cNvCxnSpPr>
            <a:cxnSpLocks noChangeShapeType="1"/>
            <a:stCxn id="469040" idx="3"/>
            <a:endCxn id="469016" idx="1"/>
          </p:cNvCxnSpPr>
          <p:nvPr/>
        </p:nvCxnSpPr>
        <p:spPr bwMode="auto">
          <a:xfrm>
            <a:off x="4533900" y="5103813"/>
            <a:ext cx="3984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39" name="Group 47"/>
          <p:cNvGrpSpPr>
            <a:grpSpLocks/>
          </p:cNvGrpSpPr>
          <p:nvPr/>
        </p:nvGrpSpPr>
        <p:grpSpPr bwMode="auto">
          <a:xfrm>
            <a:off x="3851275" y="5013325"/>
            <a:ext cx="682625" cy="180975"/>
            <a:chOff x="318" y="1916"/>
            <a:chExt cx="430" cy="114"/>
          </a:xfrm>
        </p:grpSpPr>
        <p:sp>
          <p:nvSpPr>
            <p:cNvPr id="469040" name="Rectangle 48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1" name="Rectangle 49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2" name="Rectangle 50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43" name="AutoShape 51"/>
          <p:cNvCxnSpPr>
            <a:cxnSpLocks noChangeShapeType="1"/>
            <a:stCxn id="469045" idx="3"/>
            <a:endCxn id="469013" idx="1"/>
          </p:cNvCxnSpPr>
          <p:nvPr/>
        </p:nvCxnSpPr>
        <p:spPr bwMode="auto">
          <a:xfrm>
            <a:off x="4533900" y="2943225"/>
            <a:ext cx="39846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44" name="Group 52"/>
          <p:cNvGrpSpPr>
            <a:grpSpLocks/>
          </p:cNvGrpSpPr>
          <p:nvPr/>
        </p:nvGrpSpPr>
        <p:grpSpPr bwMode="auto">
          <a:xfrm>
            <a:off x="3851275" y="2852738"/>
            <a:ext cx="682625" cy="180975"/>
            <a:chOff x="318" y="1916"/>
            <a:chExt cx="430" cy="114"/>
          </a:xfrm>
        </p:grpSpPr>
        <p:sp>
          <p:nvSpPr>
            <p:cNvPr id="469045" name="Rectangle 53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6" name="Rectangle 54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47" name="Rectangle 55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9048" name="Rectangle 56"/>
          <p:cNvSpPr>
            <a:spLocks noChangeArrowheads="1"/>
          </p:cNvSpPr>
          <p:nvPr/>
        </p:nvSpPr>
        <p:spPr bwMode="auto">
          <a:xfrm>
            <a:off x="7596188" y="2314575"/>
            <a:ext cx="107950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/>
            <a:r>
              <a:rPr lang="es-ES" sz="1400"/>
              <a:t>Sistema Operativo</a:t>
            </a:r>
            <a:endParaRPr lang="es-PE" sz="1400"/>
          </a:p>
        </p:txBody>
      </p:sp>
      <p:sp>
        <p:nvSpPr>
          <p:cNvPr id="469049" name="Rectangle 57"/>
          <p:cNvSpPr>
            <a:spLocks noChangeArrowheads="1"/>
          </p:cNvSpPr>
          <p:nvPr/>
        </p:nvSpPr>
        <p:spPr bwMode="auto">
          <a:xfrm>
            <a:off x="7596188" y="3033713"/>
            <a:ext cx="1079500" cy="360362"/>
          </a:xfrm>
          <a:prstGeom prst="rect">
            <a:avLst/>
          </a:prstGeom>
          <a:solidFill>
            <a:srgbClr val="C0C0C0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512K</a:t>
            </a:r>
            <a:endParaRPr lang="es-PE" sz="1400"/>
          </a:p>
        </p:txBody>
      </p:sp>
      <p:sp>
        <p:nvSpPr>
          <p:cNvPr id="469050" name="Rectangle 58"/>
          <p:cNvSpPr>
            <a:spLocks noChangeArrowheads="1"/>
          </p:cNvSpPr>
          <p:nvPr/>
        </p:nvSpPr>
        <p:spPr bwMode="auto">
          <a:xfrm>
            <a:off x="7596188" y="2854325"/>
            <a:ext cx="1079500" cy="17938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256 K</a:t>
            </a:r>
            <a:endParaRPr lang="es-PE" sz="1400"/>
          </a:p>
        </p:txBody>
      </p:sp>
      <p:sp>
        <p:nvSpPr>
          <p:cNvPr id="469051" name="Rectangle 59"/>
          <p:cNvSpPr>
            <a:spLocks noChangeArrowheads="1"/>
          </p:cNvSpPr>
          <p:nvPr/>
        </p:nvSpPr>
        <p:spPr bwMode="auto">
          <a:xfrm>
            <a:off x="7596188" y="3394075"/>
            <a:ext cx="1079500" cy="539750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768 K</a:t>
            </a:r>
            <a:endParaRPr lang="es-PE" sz="1400"/>
          </a:p>
        </p:txBody>
      </p:sp>
      <p:sp>
        <p:nvSpPr>
          <p:cNvPr id="469052" name="Rectangle 60"/>
          <p:cNvSpPr>
            <a:spLocks noChangeArrowheads="1"/>
          </p:cNvSpPr>
          <p:nvPr/>
        </p:nvSpPr>
        <p:spPr bwMode="auto">
          <a:xfrm>
            <a:off x="7596188" y="4652963"/>
            <a:ext cx="1079500" cy="900112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1280 K</a:t>
            </a:r>
            <a:endParaRPr lang="es-PE" sz="1400"/>
          </a:p>
        </p:txBody>
      </p:sp>
      <p:sp>
        <p:nvSpPr>
          <p:cNvPr id="469053" name="Rectangle 61"/>
          <p:cNvSpPr>
            <a:spLocks noChangeArrowheads="1"/>
          </p:cNvSpPr>
          <p:nvPr/>
        </p:nvSpPr>
        <p:spPr bwMode="auto">
          <a:xfrm>
            <a:off x="7596188" y="3933825"/>
            <a:ext cx="1079500" cy="719138"/>
          </a:xfrm>
          <a:prstGeom prst="rect">
            <a:avLst/>
          </a:prstGeom>
          <a:solidFill>
            <a:srgbClr val="C0C0C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sz="1400"/>
              <a:t>1024 K</a:t>
            </a:r>
            <a:endParaRPr lang="es-PE" sz="1400"/>
          </a:p>
        </p:txBody>
      </p:sp>
      <p:cxnSp>
        <p:nvCxnSpPr>
          <p:cNvPr id="469054" name="AutoShape 62"/>
          <p:cNvCxnSpPr>
            <a:cxnSpLocks noChangeShapeType="1"/>
            <a:stCxn id="469056" idx="3"/>
            <a:endCxn id="469051" idx="1"/>
          </p:cNvCxnSpPr>
          <p:nvPr/>
        </p:nvCxnSpPr>
        <p:spPr bwMode="auto">
          <a:xfrm>
            <a:off x="7054850" y="3663950"/>
            <a:ext cx="5413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69055" name="Group 63"/>
          <p:cNvGrpSpPr>
            <a:grpSpLocks/>
          </p:cNvGrpSpPr>
          <p:nvPr/>
        </p:nvGrpSpPr>
        <p:grpSpPr bwMode="auto">
          <a:xfrm>
            <a:off x="6372225" y="3573463"/>
            <a:ext cx="682625" cy="180975"/>
            <a:chOff x="318" y="1916"/>
            <a:chExt cx="430" cy="114"/>
          </a:xfrm>
        </p:grpSpPr>
        <p:sp>
          <p:nvSpPr>
            <p:cNvPr id="469056" name="Rectangle 64"/>
            <p:cNvSpPr>
              <a:spLocks noChangeArrowheads="1"/>
            </p:cNvSpPr>
            <p:nvPr/>
          </p:nvSpPr>
          <p:spPr bwMode="auto">
            <a:xfrm>
              <a:off x="635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57" name="Rectangle 65"/>
            <p:cNvSpPr>
              <a:spLocks noChangeArrowheads="1"/>
            </p:cNvSpPr>
            <p:nvPr/>
          </p:nvSpPr>
          <p:spPr bwMode="auto">
            <a:xfrm>
              <a:off x="476" y="1916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9058" name="Rectangle 66"/>
            <p:cNvSpPr>
              <a:spLocks noChangeArrowheads="1"/>
            </p:cNvSpPr>
            <p:nvPr/>
          </p:nvSpPr>
          <p:spPr bwMode="auto">
            <a:xfrm>
              <a:off x="318" y="1917"/>
              <a:ext cx="113" cy="113"/>
            </a:xfrm>
            <a:prstGeom prst="rect">
              <a:avLst/>
            </a:prstGeom>
            <a:pattFill prst="smGrid">
              <a:fgClr>
                <a:schemeClr val="bg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/>
            </a:p>
          </p:txBody>
        </p:sp>
      </p:grpSp>
      <p:cxnSp>
        <p:nvCxnSpPr>
          <p:cNvPr id="469059" name="AutoShape 67"/>
          <p:cNvCxnSpPr>
            <a:cxnSpLocks noChangeShapeType="1"/>
            <a:stCxn id="469056" idx="3"/>
            <a:endCxn id="469049" idx="1"/>
          </p:cNvCxnSpPr>
          <p:nvPr/>
        </p:nvCxnSpPr>
        <p:spPr bwMode="auto">
          <a:xfrm flipV="1">
            <a:off x="7054850" y="3214688"/>
            <a:ext cx="541338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64" name="AutoShape 72"/>
          <p:cNvCxnSpPr>
            <a:cxnSpLocks noChangeShapeType="1"/>
            <a:stCxn id="469056" idx="3"/>
            <a:endCxn id="469053" idx="1"/>
          </p:cNvCxnSpPr>
          <p:nvPr/>
        </p:nvCxnSpPr>
        <p:spPr bwMode="auto">
          <a:xfrm>
            <a:off x="7054850" y="3663950"/>
            <a:ext cx="541338" cy="630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69" name="AutoShape 77"/>
          <p:cNvCxnSpPr>
            <a:cxnSpLocks noChangeShapeType="1"/>
            <a:stCxn id="469056" idx="3"/>
            <a:endCxn id="469052" idx="1"/>
          </p:cNvCxnSpPr>
          <p:nvPr/>
        </p:nvCxnSpPr>
        <p:spPr bwMode="auto">
          <a:xfrm>
            <a:off x="7054850" y="3663950"/>
            <a:ext cx="541338" cy="143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9074" name="AutoShape 82"/>
          <p:cNvCxnSpPr>
            <a:cxnSpLocks noChangeShapeType="1"/>
            <a:stCxn id="469056" idx="3"/>
            <a:endCxn id="469050" idx="1"/>
          </p:cNvCxnSpPr>
          <p:nvPr/>
        </p:nvCxnSpPr>
        <p:spPr bwMode="auto">
          <a:xfrm flipV="1">
            <a:off x="7054850" y="2944813"/>
            <a:ext cx="541338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69081" name="Rectangle 89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9082" name="Rectangle 90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9083" name="Rectangle 91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9084" name="Rectangle 92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9085" name="Rectangle 93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69086" name="Rectangle 94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211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1. Partición Fija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3610" y="1323866"/>
            <a:ext cx="8316830" cy="2273300"/>
          </a:xfrm>
        </p:spPr>
        <p:txBody>
          <a:bodyPr/>
          <a:lstStyle/>
          <a:p>
            <a:pPr algn="just"/>
            <a:r>
              <a:rPr lang="es-PE" sz="2000" dirty="0"/>
              <a:t>Si un programa no cabe en una partición, el programador debe diseñarlo en módulos cargables.</a:t>
            </a:r>
          </a:p>
          <a:p>
            <a:pPr algn="just"/>
            <a:endParaRPr lang="es-PE" sz="2000" dirty="0"/>
          </a:p>
          <a:p>
            <a:pPr algn="just"/>
            <a:r>
              <a:rPr lang="es-PE" sz="2000" dirty="0"/>
              <a:t>El uso de la memoria es muy ineficiente, no importa el tamaño del proceso, ocupara toda la partición, se genera </a:t>
            </a:r>
            <a:r>
              <a:rPr lang="es-PE" sz="2000" dirty="0">
                <a:solidFill>
                  <a:schemeClr val="accent2"/>
                </a:solidFill>
              </a:rPr>
              <a:t>fragmentación interna</a:t>
            </a:r>
            <a:r>
              <a:rPr lang="es-PE" sz="2000" dirty="0"/>
              <a:t>.</a:t>
            </a:r>
          </a:p>
        </p:txBody>
      </p:sp>
      <p:sp>
        <p:nvSpPr>
          <p:cNvPr id="467972" name="Rectangle 4"/>
          <p:cNvSpPr>
            <a:spLocks noChangeArrowheads="1"/>
          </p:cNvSpPr>
          <p:nvPr/>
        </p:nvSpPr>
        <p:spPr bwMode="auto">
          <a:xfrm>
            <a:off x="1619250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3" name="Rectangle 5"/>
          <p:cNvSpPr>
            <a:spLocks noChangeArrowheads="1"/>
          </p:cNvSpPr>
          <p:nvPr/>
        </p:nvSpPr>
        <p:spPr bwMode="auto">
          <a:xfrm>
            <a:off x="3635375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4" name="Rectangle 6"/>
          <p:cNvSpPr>
            <a:spLocks noChangeArrowheads="1"/>
          </p:cNvSpPr>
          <p:nvPr/>
        </p:nvSpPr>
        <p:spPr bwMode="auto">
          <a:xfrm>
            <a:off x="5651500" y="4005263"/>
            <a:ext cx="20161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5" name="Rectangle 7"/>
          <p:cNvSpPr>
            <a:spLocks noChangeArrowheads="1"/>
          </p:cNvSpPr>
          <p:nvPr/>
        </p:nvSpPr>
        <p:spPr bwMode="auto">
          <a:xfrm>
            <a:off x="2195513" y="4005263"/>
            <a:ext cx="14398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6" name="Rectangle 8"/>
          <p:cNvSpPr>
            <a:spLocks noChangeArrowheads="1"/>
          </p:cNvSpPr>
          <p:nvPr/>
        </p:nvSpPr>
        <p:spPr bwMode="auto">
          <a:xfrm>
            <a:off x="5075238" y="4005263"/>
            <a:ext cx="574675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7" name="Rectangle 9"/>
          <p:cNvSpPr>
            <a:spLocks noChangeArrowheads="1"/>
          </p:cNvSpPr>
          <p:nvPr/>
        </p:nvSpPr>
        <p:spPr bwMode="auto">
          <a:xfrm>
            <a:off x="6659563" y="4005263"/>
            <a:ext cx="10080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67978" name="Rectangle 10"/>
          <p:cNvSpPr>
            <a:spLocks noChangeArrowheads="1"/>
          </p:cNvSpPr>
          <p:nvPr/>
        </p:nvSpPr>
        <p:spPr bwMode="auto">
          <a:xfrm>
            <a:off x="3203575" y="5589588"/>
            <a:ext cx="3135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PE">
                <a:solidFill>
                  <a:schemeClr val="accent2"/>
                </a:solidFill>
              </a:rPr>
              <a:t>fragmentación interna</a:t>
            </a:r>
          </a:p>
        </p:txBody>
      </p:sp>
      <p:cxnSp>
        <p:nvCxnSpPr>
          <p:cNvPr id="467979" name="AutoShape 11"/>
          <p:cNvCxnSpPr>
            <a:cxnSpLocks noChangeShapeType="1"/>
            <a:stCxn id="467978" idx="0"/>
            <a:endCxn id="467975" idx="2"/>
          </p:cNvCxnSpPr>
          <p:nvPr/>
        </p:nvCxnSpPr>
        <p:spPr bwMode="auto">
          <a:xfrm flipH="1" flipV="1">
            <a:off x="2916238" y="4919663"/>
            <a:ext cx="1855787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7980" name="AutoShape 12"/>
          <p:cNvCxnSpPr>
            <a:cxnSpLocks noChangeShapeType="1"/>
            <a:stCxn id="467978" idx="0"/>
            <a:endCxn id="467976" idx="2"/>
          </p:cNvCxnSpPr>
          <p:nvPr/>
        </p:nvCxnSpPr>
        <p:spPr bwMode="auto">
          <a:xfrm flipV="1">
            <a:off x="4772025" y="4919663"/>
            <a:ext cx="590550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67981" name="AutoShape 13"/>
          <p:cNvCxnSpPr>
            <a:cxnSpLocks noChangeShapeType="1"/>
            <a:stCxn id="467978" idx="0"/>
            <a:endCxn id="467977" idx="2"/>
          </p:cNvCxnSpPr>
          <p:nvPr/>
        </p:nvCxnSpPr>
        <p:spPr bwMode="auto">
          <a:xfrm flipV="1">
            <a:off x="4772025" y="4919663"/>
            <a:ext cx="2392363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67982" name="Rectangle 1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7983" name="Rectangle 1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67984" name="Rectangle 1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7985" name="Rectangle 1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67986" name="Rectangle 1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67987" name="Rectangle 1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5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Partición Dinámica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1013" y="1905110"/>
            <a:ext cx="6591900" cy="3777600"/>
          </a:xfrm>
        </p:spPr>
        <p:txBody>
          <a:bodyPr/>
          <a:lstStyle/>
          <a:p>
            <a:pPr algn="just"/>
            <a:r>
              <a:rPr lang="es-ES" dirty="0"/>
              <a:t>Las particiones se crean dinámicamente por demanda.</a:t>
            </a:r>
          </a:p>
          <a:p>
            <a:pPr algn="just"/>
            <a:r>
              <a:rPr lang="es-ES" dirty="0"/>
              <a:t>Son variables en tamaño y número</a:t>
            </a:r>
          </a:p>
          <a:p>
            <a:pPr algn="just"/>
            <a:r>
              <a:rPr lang="es-ES" dirty="0"/>
              <a:t>Cada proceso se carga completamente en una única partición del tamaño del proceso.</a:t>
            </a:r>
          </a:p>
          <a:p>
            <a:pPr algn="just"/>
            <a:endParaRPr lang="es-ES" dirty="0"/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existe fragmentación interna.</a:t>
            </a:r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externa. Se debe compactar la memoria. El compactado toma tiempo.</a:t>
            </a:r>
            <a:endParaRPr lang="es-PE" dirty="0"/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8517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8518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8519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8520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8521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207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Partición Dinámica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62088"/>
            <a:ext cx="8326438" cy="2160588"/>
          </a:xfrm>
        </p:spPr>
        <p:txBody>
          <a:bodyPr/>
          <a:lstStyle/>
          <a:p>
            <a:pPr algn="just"/>
            <a:r>
              <a:rPr lang="es-PE" sz="2000" dirty="0"/>
              <a:t>El uso de la memoria es muy ineficiente, se generan muchos huecos entre las particiones, cada vez más pequeñas, se genera la </a:t>
            </a:r>
            <a:r>
              <a:rPr lang="es-PE" sz="2000" dirty="0">
                <a:solidFill>
                  <a:schemeClr val="accent2"/>
                </a:solidFill>
              </a:rPr>
              <a:t>fragmentación externa</a:t>
            </a:r>
            <a:r>
              <a:rPr lang="es-PE" sz="2000" dirty="0"/>
              <a:t>.</a:t>
            </a:r>
          </a:p>
          <a:p>
            <a:pPr algn="just"/>
            <a:r>
              <a:rPr lang="es-ES" sz="2000" dirty="0"/>
              <a:t>Cada cierto tiempo se debe </a:t>
            </a:r>
            <a:r>
              <a:rPr lang="es-ES" sz="2000" dirty="0">
                <a:solidFill>
                  <a:schemeClr val="accent2"/>
                </a:solidFill>
              </a:rPr>
              <a:t>compactar</a:t>
            </a:r>
            <a:r>
              <a:rPr lang="es-ES" sz="2000" dirty="0"/>
              <a:t> los segmentos libres, para que estén contiguos.</a:t>
            </a:r>
            <a:endParaRPr lang="es-PE" sz="2000" dirty="0"/>
          </a:p>
        </p:txBody>
      </p:sp>
      <p:sp>
        <p:nvSpPr>
          <p:cNvPr id="473092" name="Rectangle 4"/>
          <p:cNvSpPr>
            <a:spLocks noChangeArrowheads="1"/>
          </p:cNvSpPr>
          <p:nvPr/>
        </p:nvSpPr>
        <p:spPr bwMode="auto">
          <a:xfrm>
            <a:off x="1619250" y="3738563"/>
            <a:ext cx="576263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3492500" y="3738563"/>
            <a:ext cx="1150938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4" name="Rectangle 6"/>
          <p:cNvSpPr>
            <a:spLocks noChangeArrowheads="1"/>
          </p:cNvSpPr>
          <p:nvPr/>
        </p:nvSpPr>
        <p:spPr bwMode="auto">
          <a:xfrm>
            <a:off x="5076825" y="3738563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2195513" y="3738563"/>
            <a:ext cx="431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6" name="Rectangle 8"/>
          <p:cNvSpPr>
            <a:spLocks noChangeArrowheads="1"/>
          </p:cNvSpPr>
          <p:nvPr/>
        </p:nvSpPr>
        <p:spPr bwMode="auto">
          <a:xfrm>
            <a:off x="4643438" y="3738563"/>
            <a:ext cx="433387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5508625" y="3738563"/>
            <a:ext cx="287338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098" name="Rectangle 10"/>
          <p:cNvSpPr>
            <a:spLocks noChangeArrowheads="1"/>
          </p:cNvSpPr>
          <p:nvPr/>
        </p:nvSpPr>
        <p:spPr bwMode="auto">
          <a:xfrm>
            <a:off x="2700338" y="5033963"/>
            <a:ext cx="321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PE">
                <a:solidFill>
                  <a:schemeClr val="accent2"/>
                </a:solidFill>
              </a:rPr>
              <a:t>fragmentación externa</a:t>
            </a:r>
          </a:p>
        </p:txBody>
      </p:sp>
      <p:cxnSp>
        <p:nvCxnSpPr>
          <p:cNvPr id="473099" name="AutoShape 11"/>
          <p:cNvCxnSpPr>
            <a:cxnSpLocks noChangeShapeType="1"/>
            <a:stCxn id="473098" idx="0"/>
            <a:endCxn id="473095" idx="2"/>
          </p:cNvCxnSpPr>
          <p:nvPr/>
        </p:nvCxnSpPr>
        <p:spPr bwMode="auto">
          <a:xfrm flipH="1" flipV="1">
            <a:off x="2411413" y="4652963"/>
            <a:ext cx="189865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00" name="AutoShape 12"/>
          <p:cNvCxnSpPr>
            <a:cxnSpLocks noChangeShapeType="1"/>
            <a:stCxn id="473098" idx="0"/>
            <a:endCxn id="473108" idx="2"/>
          </p:cNvCxnSpPr>
          <p:nvPr/>
        </p:nvCxnSpPr>
        <p:spPr bwMode="auto">
          <a:xfrm flipH="1" flipV="1">
            <a:off x="3421063" y="4652963"/>
            <a:ext cx="8890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01" name="AutoShape 13"/>
          <p:cNvCxnSpPr>
            <a:cxnSpLocks noChangeShapeType="1"/>
            <a:stCxn id="473098" idx="0"/>
            <a:endCxn id="473097" idx="2"/>
          </p:cNvCxnSpPr>
          <p:nvPr/>
        </p:nvCxnSpPr>
        <p:spPr bwMode="auto">
          <a:xfrm flipV="1">
            <a:off x="4310063" y="4652963"/>
            <a:ext cx="1343025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73108" name="Rectangle 20"/>
          <p:cNvSpPr>
            <a:spLocks noChangeArrowheads="1"/>
          </p:cNvSpPr>
          <p:nvPr/>
        </p:nvSpPr>
        <p:spPr bwMode="auto">
          <a:xfrm>
            <a:off x="3348038" y="3738563"/>
            <a:ext cx="1444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09" name="Rectangle 21"/>
          <p:cNvSpPr>
            <a:spLocks noChangeArrowheads="1"/>
          </p:cNvSpPr>
          <p:nvPr/>
        </p:nvSpPr>
        <p:spPr bwMode="auto">
          <a:xfrm>
            <a:off x="2627313" y="3738563"/>
            <a:ext cx="7207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0" name="Rectangle 22"/>
          <p:cNvSpPr>
            <a:spLocks noChangeArrowheads="1"/>
          </p:cNvSpPr>
          <p:nvPr/>
        </p:nvSpPr>
        <p:spPr bwMode="auto">
          <a:xfrm>
            <a:off x="5795963" y="3738563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1" name="Rectangle 23"/>
          <p:cNvSpPr>
            <a:spLocks noChangeArrowheads="1"/>
          </p:cNvSpPr>
          <p:nvPr/>
        </p:nvSpPr>
        <p:spPr bwMode="auto">
          <a:xfrm>
            <a:off x="6227763" y="3738563"/>
            <a:ext cx="1444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2" name="Rectangle 24"/>
          <p:cNvSpPr>
            <a:spLocks noChangeArrowheads="1"/>
          </p:cNvSpPr>
          <p:nvPr/>
        </p:nvSpPr>
        <p:spPr bwMode="auto">
          <a:xfrm>
            <a:off x="6372225" y="3738563"/>
            <a:ext cx="2159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cxnSp>
        <p:nvCxnSpPr>
          <p:cNvPr id="473113" name="AutoShape 25"/>
          <p:cNvCxnSpPr>
            <a:cxnSpLocks noChangeShapeType="1"/>
            <a:stCxn id="473098" idx="0"/>
            <a:endCxn id="473096" idx="2"/>
          </p:cNvCxnSpPr>
          <p:nvPr/>
        </p:nvCxnSpPr>
        <p:spPr bwMode="auto">
          <a:xfrm flipV="1">
            <a:off x="4310063" y="4652963"/>
            <a:ext cx="550862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73114" name="AutoShape 26"/>
          <p:cNvCxnSpPr>
            <a:cxnSpLocks noChangeShapeType="1"/>
            <a:stCxn id="473098" idx="0"/>
            <a:endCxn id="473111" idx="2"/>
          </p:cNvCxnSpPr>
          <p:nvPr/>
        </p:nvCxnSpPr>
        <p:spPr bwMode="auto">
          <a:xfrm flipV="1">
            <a:off x="4310063" y="4652963"/>
            <a:ext cx="1990725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73115" name="Rectangle 27"/>
          <p:cNvSpPr>
            <a:spLocks noChangeArrowheads="1"/>
          </p:cNvSpPr>
          <p:nvPr/>
        </p:nvSpPr>
        <p:spPr bwMode="auto">
          <a:xfrm>
            <a:off x="1619250" y="5754688"/>
            <a:ext cx="576263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6" name="Rectangle 28"/>
          <p:cNvSpPr>
            <a:spLocks noChangeArrowheads="1"/>
          </p:cNvSpPr>
          <p:nvPr/>
        </p:nvSpPr>
        <p:spPr bwMode="auto">
          <a:xfrm>
            <a:off x="2916238" y="5754688"/>
            <a:ext cx="1150937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17" name="Rectangle 29"/>
          <p:cNvSpPr>
            <a:spLocks noChangeArrowheads="1"/>
          </p:cNvSpPr>
          <p:nvPr/>
        </p:nvSpPr>
        <p:spPr bwMode="auto">
          <a:xfrm>
            <a:off x="4067175" y="5754688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2" name="Rectangle 34"/>
          <p:cNvSpPr>
            <a:spLocks noChangeArrowheads="1"/>
          </p:cNvSpPr>
          <p:nvPr/>
        </p:nvSpPr>
        <p:spPr bwMode="auto">
          <a:xfrm>
            <a:off x="2195513" y="5754688"/>
            <a:ext cx="720725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3" name="Rectangle 35"/>
          <p:cNvSpPr>
            <a:spLocks noChangeArrowheads="1"/>
          </p:cNvSpPr>
          <p:nvPr/>
        </p:nvSpPr>
        <p:spPr bwMode="auto">
          <a:xfrm>
            <a:off x="4500563" y="5754688"/>
            <a:ext cx="4318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5" name="Rectangle 37"/>
          <p:cNvSpPr>
            <a:spLocks noChangeArrowheads="1"/>
          </p:cNvSpPr>
          <p:nvPr/>
        </p:nvSpPr>
        <p:spPr bwMode="auto">
          <a:xfrm>
            <a:off x="4932363" y="5754688"/>
            <a:ext cx="215900" cy="914400"/>
          </a:xfrm>
          <a:prstGeom prst="rect">
            <a:avLst/>
          </a:prstGeom>
          <a:solidFill>
            <a:srgbClr val="FFEB9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6" name="Rectangle 38"/>
          <p:cNvSpPr>
            <a:spLocks noChangeArrowheads="1"/>
          </p:cNvSpPr>
          <p:nvPr/>
        </p:nvSpPr>
        <p:spPr bwMode="auto">
          <a:xfrm>
            <a:off x="5148263" y="5754688"/>
            <a:ext cx="1439862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473127" name="Rectangle 39"/>
          <p:cNvSpPr>
            <a:spLocks noChangeArrowheads="1"/>
          </p:cNvSpPr>
          <p:nvPr/>
        </p:nvSpPr>
        <p:spPr bwMode="auto">
          <a:xfrm>
            <a:off x="6877050" y="5899150"/>
            <a:ext cx="206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>
                <a:solidFill>
                  <a:schemeClr val="accent2"/>
                </a:solidFill>
              </a:rPr>
              <a:t>compactación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3128" name="Rectangle 4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3129" name="Rectangle 4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3130" name="Rectangle 4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3131" name="Rectangle 4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3132" name="Rectangle 4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3133" name="Rectangle 4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715589"/>
            <a:ext cx="8229600" cy="4685211"/>
          </a:xfrm>
        </p:spPr>
        <p:txBody>
          <a:bodyPr/>
          <a:lstStyle/>
          <a:p>
            <a:pPr algn="just"/>
            <a:r>
              <a:rPr lang="es-ES" dirty="0"/>
              <a:t>Solicitud.</a:t>
            </a:r>
          </a:p>
          <a:p>
            <a:pPr lvl="1" algn="just"/>
            <a:r>
              <a:rPr lang="es-ES" dirty="0"/>
              <a:t>Por demanda</a:t>
            </a:r>
          </a:p>
          <a:p>
            <a:pPr algn="just"/>
            <a:r>
              <a:rPr lang="es-ES" dirty="0"/>
              <a:t>Ubicación.</a:t>
            </a:r>
          </a:p>
          <a:p>
            <a:pPr lvl="1" algn="just"/>
            <a:r>
              <a:rPr lang="es-ES" dirty="0"/>
              <a:t>Primer ajuste. El primer bloque disponible que ubique (parte del inicio)</a:t>
            </a:r>
          </a:p>
          <a:p>
            <a:pPr lvl="1" algn="just"/>
            <a:r>
              <a:rPr lang="es-ES" dirty="0"/>
              <a:t>Siguiente ajuste. El siguiente bloque disponible que ubique (parte desde la ubicación actual) </a:t>
            </a:r>
          </a:p>
          <a:p>
            <a:pPr lvl="1" algn="just"/>
            <a:r>
              <a:rPr lang="es-ES" dirty="0"/>
              <a:t>Mejor ajuste. El bloque disponible que deje el menor espacio libre (búsqueda exhaustiva)</a:t>
            </a:r>
          </a:p>
          <a:p>
            <a:pPr lvl="1" algn="just"/>
            <a:r>
              <a:rPr lang="es-ES" dirty="0"/>
              <a:t>Peor ajuste. </a:t>
            </a:r>
            <a:r>
              <a:rPr lang="es-AR" dirty="0">
                <a:solidFill>
                  <a:schemeClr val="dk1"/>
                </a:solidFill>
              </a:rPr>
              <a:t>Se asigna el hueco </a:t>
            </a:r>
            <a:r>
              <a:rPr lang="es-AR" i="1" dirty="0">
                <a:solidFill>
                  <a:schemeClr val="dk1"/>
                </a:solidFill>
              </a:rPr>
              <a:t>más grande</a:t>
            </a:r>
            <a:r>
              <a:rPr lang="es-AR" dirty="0">
                <a:solidFill>
                  <a:schemeClr val="dk1"/>
                </a:solidFill>
              </a:rPr>
              <a:t>; hay que buscar en la lista completa de huecos (salvo si está ordenada por tamaño)</a:t>
            </a:r>
            <a:endParaRPr lang="es-ES" dirty="0"/>
          </a:p>
          <a:p>
            <a:pPr algn="just"/>
            <a:r>
              <a:rPr lang="es-ES" dirty="0"/>
              <a:t>Reemplazo.</a:t>
            </a:r>
          </a:p>
          <a:p>
            <a:pPr lvl="1" algn="just"/>
            <a:r>
              <a:rPr lang="es-ES" dirty="0"/>
              <a:t>Uno de los proceso se saca, según el planificador.</a:t>
            </a:r>
            <a:endParaRPr lang="es-PE" dirty="0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104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04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chemeClr val="accent2"/>
                </a:solidFill>
              </a:rPr>
              <a:t>2. Estrategias</a:t>
            </a:r>
            <a:endParaRPr lang="es-PE">
              <a:solidFill>
                <a:schemeClr val="accent2"/>
              </a:solidFill>
            </a:endParaRPr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104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104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606410"/>
            <a:ext cx="8229600" cy="392093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s-ES" dirty="0"/>
              <a:t>Primer ajuste. Es bueno, con baja compactación. Puebla el inicio de la memoria</a:t>
            </a:r>
          </a:p>
          <a:p>
            <a:pPr algn="just">
              <a:lnSpc>
                <a:spcPct val="90000"/>
              </a:lnSpc>
            </a:pPr>
            <a:endParaRPr lang="es-ES" dirty="0"/>
          </a:p>
          <a:p>
            <a:pPr algn="just">
              <a:lnSpc>
                <a:spcPct val="90000"/>
              </a:lnSpc>
            </a:pPr>
            <a:r>
              <a:rPr lang="es-ES" dirty="0"/>
              <a:t>Siguiente ajuste. Puebla el final de la memoria, el siguiente bloque libre siempre está al final de la memoria.</a:t>
            </a:r>
          </a:p>
          <a:p>
            <a:pPr algn="just">
              <a:lnSpc>
                <a:spcPct val="90000"/>
              </a:lnSpc>
            </a:pPr>
            <a:endParaRPr lang="es-ES" dirty="0"/>
          </a:p>
          <a:p>
            <a:pPr algn="just">
              <a:lnSpc>
                <a:spcPct val="90000"/>
              </a:lnSpc>
            </a:pPr>
            <a:r>
              <a:rPr lang="es-ES" dirty="0"/>
              <a:t>Mejor ajuste. Tiene peores resultados, dado que busca la partición que deje el hueco más pequeño, la memoria se llena de huecos pequeños. Se compacta con más frecuencia</a:t>
            </a:r>
            <a:endParaRPr lang="es-PE" dirty="0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360075" y="2168857"/>
            <a:ext cx="2879725" cy="269875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rgbClr val="FFEB95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360074" y="3242085"/>
            <a:ext cx="2879725" cy="269875"/>
          </a:xfrm>
          <a:prstGeom prst="rect">
            <a:avLst/>
          </a:prstGeom>
          <a:gradFill rotWithShape="1">
            <a:gsLst>
              <a:gs pos="0">
                <a:srgbClr val="FFEB95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360074" y="4585190"/>
            <a:ext cx="2879725" cy="269875"/>
          </a:xfrm>
          <a:prstGeom prst="rect">
            <a:avLst/>
          </a:prstGeom>
          <a:pattFill prst="dkVert">
            <a:fgClr>
              <a:srgbClr val="FFEB95"/>
            </a:fgClr>
            <a:bgClr>
              <a:schemeClr val="bg2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696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Paginación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193" y="1628633"/>
            <a:ext cx="6772082" cy="3816824"/>
          </a:xfrm>
        </p:spPr>
        <p:txBody>
          <a:bodyPr/>
          <a:lstStyle/>
          <a:p>
            <a:pPr algn="just"/>
            <a:r>
              <a:rPr lang="es-ES" dirty="0"/>
              <a:t>La memoria principal se divide en un conjunto de marcos de igual tamaño.</a:t>
            </a:r>
          </a:p>
          <a:p>
            <a:pPr algn="just"/>
            <a:r>
              <a:rPr lang="es-ES" dirty="0"/>
              <a:t>Cada proceso se divide en una serie de páginas del tamaño de los marcos.</a:t>
            </a:r>
          </a:p>
          <a:p>
            <a:pPr algn="just"/>
            <a:r>
              <a:rPr lang="es-ES" dirty="0"/>
              <a:t>Un proceso se carga en los marcos que requiera (todas las páginas), no necesariamente contiguos.</a:t>
            </a:r>
          </a:p>
          <a:p>
            <a:pPr algn="just"/>
            <a:endParaRPr lang="es-ES" dirty="0"/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hay fragmentación externa</a:t>
            </a:r>
          </a:p>
          <a:p>
            <a:pPr algn="just"/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interna pequeña.</a:t>
            </a:r>
            <a:endParaRPr lang="es-PE" dirty="0"/>
          </a:p>
        </p:txBody>
      </p:sp>
      <p:sp>
        <p:nvSpPr>
          <p:cNvPr id="449540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9541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49542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9543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49544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49545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871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06"/>
              </p:ext>
            </p:extLst>
          </p:nvPr>
        </p:nvGraphicFramePr>
        <p:xfrm>
          <a:off x="790576" y="3008716"/>
          <a:ext cx="7272337" cy="372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5296639" imgH="2715004" progId="Paint.Picture">
                  <p:embed/>
                </p:oleObj>
              </mc:Choice>
              <mc:Fallback>
                <p:oleObj name="Imagen de mapa de bits" r:id="rId2" imgW="5296639" imgH="2715004" progId="Paint.Picture">
                  <p:embed/>
                  <p:pic>
                    <p:nvPicPr>
                      <p:cNvPr id="4782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6" y="3008716"/>
                        <a:ext cx="7272337" cy="372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Paginación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768" y="1323866"/>
            <a:ext cx="8222775" cy="1815120"/>
          </a:xfrm>
        </p:spPr>
        <p:txBody>
          <a:bodyPr/>
          <a:lstStyle/>
          <a:p>
            <a:r>
              <a:rPr lang="es-PE" sz="2000" dirty="0"/>
              <a:t>El SO mantiene una tabla de paginas para cada proceso, que contiene la lista de marcos para cada pagina.</a:t>
            </a:r>
          </a:p>
          <a:p>
            <a:r>
              <a:rPr lang="es-PE" sz="2000" dirty="0"/>
              <a:t>Una dirección de memoria es un número de página (P) y un desplazamiento dentro de la página (W).</a:t>
            </a:r>
          </a:p>
        </p:txBody>
      </p:sp>
      <p:sp>
        <p:nvSpPr>
          <p:cNvPr id="478213" name="Text Box 5"/>
          <p:cNvSpPr txBox="1">
            <a:spLocks noChangeArrowheads="1"/>
          </p:cNvSpPr>
          <p:nvPr/>
        </p:nvSpPr>
        <p:spPr bwMode="auto">
          <a:xfrm>
            <a:off x="3059113" y="4206875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600"/>
              <a:t>p</a:t>
            </a:r>
            <a:endParaRPr lang="es-PE" sz="1600"/>
          </a:p>
        </p:txBody>
      </p:sp>
      <p:sp>
        <p:nvSpPr>
          <p:cNvPr id="478214" name="Text Box 6"/>
          <p:cNvSpPr txBox="1">
            <a:spLocks noChangeArrowheads="1"/>
          </p:cNvSpPr>
          <p:nvPr/>
        </p:nvSpPr>
        <p:spPr bwMode="auto">
          <a:xfrm>
            <a:off x="5238750" y="4206875"/>
            <a:ext cx="341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s-ES" sz="1600"/>
              <a:t>p’</a:t>
            </a:r>
            <a:endParaRPr lang="es-PE" sz="1600"/>
          </a:p>
        </p:txBody>
      </p:sp>
      <p:sp>
        <p:nvSpPr>
          <p:cNvPr id="478216" name="Text Box 8"/>
          <p:cNvSpPr txBox="1">
            <a:spLocks noChangeArrowheads="1"/>
          </p:cNvSpPr>
          <p:nvPr/>
        </p:nvSpPr>
        <p:spPr bwMode="auto">
          <a:xfrm>
            <a:off x="5944394" y="3589960"/>
            <a:ext cx="1219200" cy="2889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>
            <a:spAutoFit/>
          </a:bodyPr>
          <a:lstStyle/>
          <a:p>
            <a:r>
              <a:rPr lang="es-ES" sz="1600" b="1" dirty="0"/>
              <a:t>p’ = marcos</a:t>
            </a:r>
            <a:endParaRPr lang="es-PE" sz="1600" b="1" dirty="0"/>
          </a:p>
        </p:txBody>
      </p:sp>
      <p:sp>
        <p:nvSpPr>
          <p:cNvPr id="478217" name="Rectangle 9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8218" name="Rectangle 10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8219" name="Rectangle 11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8220" name="Rectangle 12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8221" name="Rectangle 13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8222" name="Rectangle 14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559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3. Estrategias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038" y="1483578"/>
            <a:ext cx="8229600" cy="4895850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Se cargan todas las páginas de un proceso en los marcos libres y se actualiza su tabla de páginas.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Una de las páginas se puede sacar y se marca como que no está cargada. Esto es posible por que cada proceso tiene su propia tabla de páginas.</a:t>
            </a:r>
          </a:p>
          <a:p>
            <a:pPr lvl="1"/>
            <a:r>
              <a:rPr lang="es-ES" dirty="0"/>
              <a:t>No es necesario sacar todas las páginas de un proceso.</a:t>
            </a:r>
            <a:endParaRPr lang="es-PE" dirty="0"/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5153" name="Rectangle 17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5154" name="Rectangle 18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5155" name="Rectangle 19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5156" name="Rectangle 20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5157" name="Rectangle 21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63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1676400" y="1377950"/>
            <a:ext cx="7010400" cy="4483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generada por un proceso es dividida en: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Página (</a:t>
            </a:r>
            <a:r>
              <a:rPr lang="es-AR" sz="1800" b="1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usado como índice en la tabla de páginas que contiene la dirección base de cada página en memoria física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Desplazamiento (d)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se combina con la dirección base para definir la dirección de memoria física que se envía a la unidad de memoria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Ej.: Dado un espacio de direcciones lógicas de 2</a:t>
            </a:r>
            <a:r>
              <a:rPr lang="es-AR" sz="1800" b="0" i="1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 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 tamaño de página</a:t>
            </a:r>
            <a:r>
              <a:rPr lang="es-AR" sz="1800" b="0" i="1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18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lang="es-AR" sz="1800" b="0" i="0" u="none" strike="noStrike" cap="none" baseline="30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</a:p>
        </p:txBody>
      </p:sp>
      <p:sp>
        <p:nvSpPr>
          <p:cNvPr id="272" name="Shape 27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Traducción de Direcciones</a:t>
            </a:r>
          </a:p>
        </p:txBody>
      </p:sp>
      <p:grpSp>
        <p:nvGrpSpPr>
          <p:cNvPr id="273" name="Shape 273"/>
          <p:cNvGrpSpPr/>
          <p:nvPr/>
        </p:nvGrpSpPr>
        <p:grpSpPr>
          <a:xfrm>
            <a:off x="2057399" y="4876799"/>
            <a:ext cx="5775324" cy="1282700"/>
            <a:chOff x="1377" y="2546"/>
            <a:chExt cx="2390" cy="808"/>
          </a:xfrm>
        </p:grpSpPr>
        <p:sp>
          <p:nvSpPr>
            <p:cNvPr id="274" name="Shape 274"/>
            <p:cNvSpPr/>
            <p:nvPr/>
          </p:nvSpPr>
          <p:spPr>
            <a:xfrm>
              <a:off x="1632" y="2819"/>
              <a:ext cx="1956" cy="2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cxnSp>
          <p:nvCxnSpPr>
            <p:cNvPr id="275" name="Shape 275"/>
            <p:cNvCxnSpPr/>
            <p:nvPr/>
          </p:nvCxnSpPr>
          <p:spPr>
            <a:xfrm>
              <a:off x="2662" y="2603"/>
              <a:ext cx="0" cy="4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6" name="Shape 276"/>
            <p:cNvSpPr txBox="1"/>
            <p:nvPr/>
          </p:nvSpPr>
          <p:spPr>
            <a:xfrm>
              <a:off x="1377" y="2546"/>
              <a:ext cx="1275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número de página</a:t>
              </a:r>
            </a:p>
          </p:txBody>
        </p:sp>
        <p:sp>
          <p:nvSpPr>
            <p:cNvPr id="277" name="Shape 277"/>
            <p:cNvSpPr txBox="1"/>
            <p:nvPr/>
          </p:nvSpPr>
          <p:spPr>
            <a:xfrm>
              <a:off x="2643" y="2554"/>
              <a:ext cx="1124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desplazamiento</a:t>
              </a:r>
            </a:p>
          </p:txBody>
        </p:sp>
        <p:sp>
          <p:nvSpPr>
            <p:cNvPr id="278" name="Shape 278"/>
            <p:cNvSpPr txBox="1"/>
            <p:nvPr/>
          </p:nvSpPr>
          <p:spPr>
            <a:xfrm>
              <a:off x="1981" y="2836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</a:p>
          </p:txBody>
        </p:sp>
        <p:sp>
          <p:nvSpPr>
            <p:cNvPr id="279" name="Shape 279"/>
            <p:cNvSpPr txBox="1"/>
            <p:nvPr/>
          </p:nvSpPr>
          <p:spPr>
            <a:xfrm>
              <a:off x="2895" y="2854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</a:t>
              </a:r>
            </a:p>
          </p:txBody>
        </p:sp>
        <p:sp>
          <p:nvSpPr>
            <p:cNvPr id="280" name="Shape 280"/>
            <p:cNvSpPr txBox="1"/>
            <p:nvPr/>
          </p:nvSpPr>
          <p:spPr>
            <a:xfrm>
              <a:off x="1860" y="3118"/>
              <a:ext cx="499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m - n</a:t>
              </a:r>
            </a:p>
          </p:txBody>
        </p:sp>
        <p:sp>
          <p:nvSpPr>
            <p:cNvPr id="281" name="Shape 281"/>
            <p:cNvSpPr txBox="1"/>
            <p:nvPr/>
          </p:nvSpPr>
          <p:spPr>
            <a:xfrm>
              <a:off x="2865" y="3123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221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276" name="Picture 44"/>
          <p:cNvPicPr>
            <a:picLocks noChangeAspect="1" noChangeArrowheads="1"/>
          </p:cNvPicPr>
          <p:nvPr/>
        </p:nvPicPr>
        <p:blipFill>
          <a:blip r:embed="rId2" cstate="print"/>
          <a:srcRect b="5620"/>
          <a:stretch>
            <a:fillRect/>
          </a:stretch>
        </p:blipFill>
        <p:spPr bwMode="auto">
          <a:xfrm>
            <a:off x="1293813" y="1323833"/>
            <a:ext cx="7489825" cy="4319588"/>
          </a:xfrm>
          <a:prstGeom prst="rect">
            <a:avLst/>
          </a:prstGeom>
          <a:noFill/>
        </p:spPr>
      </p:pic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13838" y="556475"/>
            <a:ext cx="7411798" cy="767358"/>
          </a:xfrm>
          <a:noFill/>
          <a:ln/>
        </p:spPr>
        <p:txBody>
          <a:bodyPr/>
          <a:lstStyle/>
          <a:p>
            <a:r>
              <a:rPr lang="es-ES" dirty="0">
                <a:solidFill>
                  <a:srgbClr val="A50021"/>
                </a:solidFill>
              </a:rPr>
              <a:t>3. Capacidad de Direccionamiento</a:t>
            </a:r>
            <a:endParaRPr lang="es-PE" dirty="0">
              <a:solidFill>
                <a:srgbClr val="A50021"/>
              </a:solidFill>
            </a:endParaRPr>
          </a:p>
        </p:txBody>
      </p:sp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250825" y="5300663"/>
            <a:ext cx="38227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16</a:t>
            </a:r>
            <a:r>
              <a:rPr lang="es-PE" sz="2000" b="1">
                <a:solidFill>
                  <a:schemeClr val="accent2"/>
                </a:solidFill>
              </a:rPr>
              <a:t>	= 65,536 		=   64K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20</a:t>
            </a:r>
            <a:r>
              <a:rPr lang="es-PE" sz="2000" b="1">
                <a:solidFill>
                  <a:schemeClr val="accent2"/>
                </a:solidFill>
              </a:rPr>
              <a:t>	= 1'048,576		=  1MB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24</a:t>
            </a:r>
            <a:r>
              <a:rPr lang="es-PE" sz="2000" b="1">
                <a:solidFill>
                  <a:schemeClr val="accent2"/>
                </a:solidFill>
              </a:rPr>
              <a:t>	= 16’777,216	=16MB </a:t>
            </a:r>
          </a:p>
          <a:p>
            <a:pPr marL="342900" indent="-342900"/>
            <a:r>
              <a:rPr lang="es-PE" sz="2000" b="1">
                <a:solidFill>
                  <a:schemeClr val="accent2"/>
                </a:solidFill>
              </a:rPr>
              <a:t>2</a:t>
            </a:r>
            <a:r>
              <a:rPr lang="es-PE" sz="2000" b="1" baseline="30000">
                <a:solidFill>
                  <a:schemeClr val="accent2"/>
                </a:solidFill>
              </a:rPr>
              <a:t>32</a:t>
            </a:r>
            <a:r>
              <a:rPr lang="es-PE" sz="2000" b="1">
                <a:solidFill>
                  <a:schemeClr val="accent2"/>
                </a:solidFill>
              </a:rPr>
              <a:t>	= 4,294'967,296	=  4GB</a:t>
            </a:r>
          </a:p>
        </p:txBody>
      </p:sp>
      <p:sp>
        <p:nvSpPr>
          <p:cNvPr id="479277" name="Rectangle 45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9278" name="Rectangle 46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79279" name="Rectangle 47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9280" name="Rectangle 48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79281" name="Rectangle 49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79282" name="Rectangle 50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52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Paginación</a:t>
            </a:r>
          </a:p>
        </p:txBody>
      </p:sp>
      <p:pic>
        <p:nvPicPr>
          <p:cNvPr id="16" name="Shape 293"/>
          <p:cNvPicPr preferRelativeResize="0"/>
          <p:nvPr/>
        </p:nvPicPr>
        <p:blipFill rotWithShape="1">
          <a:blip r:embed="rId3">
            <a:alphaModFix/>
          </a:blip>
          <a:srcRect l="10391" t="623" r="10610" b="950"/>
          <a:stretch/>
        </p:blipFill>
        <p:spPr>
          <a:xfrm>
            <a:off x="1945200" y="1405315"/>
            <a:ext cx="5672342" cy="530028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607896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Paginación</a:t>
            </a:r>
          </a:p>
        </p:txBody>
      </p:sp>
      <p:pic>
        <p:nvPicPr>
          <p:cNvPr id="4" name="Shape 299"/>
          <p:cNvPicPr preferRelativeResize="0"/>
          <p:nvPr/>
        </p:nvPicPr>
        <p:blipFill rotWithShape="1">
          <a:blip r:embed="rId3">
            <a:alphaModFix/>
          </a:blip>
          <a:srcRect l="19978" t="639" r="20579" b="638"/>
          <a:stretch/>
        </p:blipFill>
        <p:spPr>
          <a:xfrm>
            <a:off x="2362200" y="1371600"/>
            <a:ext cx="4189413" cy="521700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Shape 300"/>
          <p:cNvSpPr txBox="1"/>
          <p:nvPr/>
        </p:nvSpPr>
        <p:spPr>
          <a:xfrm>
            <a:off x="6705600" y="5562600"/>
            <a:ext cx="2009774" cy="92332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Memoria de 32 bytes y páginas de 4 bytes</a:t>
            </a:r>
          </a:p>
        </p:txBody>
      </p:sp>
    </p:spTree>
    <p:extLst>
      <p:ext uri="{BB962C8B-B14F-4D97-AF65-F5344CB8AC3E}">
        <p14:creationId xmlns:p14="http://schemas.microsoft.com/office/powerpoint/2010/main" val="3082807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92"/>
          <p:cNvSpPr txBox="1">
            <a:spLocks noGrp="1"/>
          </p:cNvSpPr>
          <p:nvPr>
            <p:ph type="title"/>
          </p:nvPr>
        </p:nvSpPr>
        <p:spPr>
          <a:xfrm>
            <a:off x="1460310" y="593366"/>
            <a:ext cx="5036024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Marcos Libres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6" name="Shape 308"/>
          <p:cNvPicPr preferRelativeResize="0"/>
          <p:nvPr/>
        </p:nvPicPr>
        <p:blipFill rotWithShape="1">
          <a:blip r:embed="rId3">
            <a:alphaModFix/>
          </a:blip>
          <a:srcRect l="698" t="2477" r="699" b="3087"/>
          <a:stretch/>
        </p:blipFill>
        <p:spPr>
          <a:xfrm>
            <a:off x="1945200" y="1524000"/>
            <a:ext cx="5929313" cy="425767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" name="Shape 306"/>
          <p:cNvSpPr txBox="1"/>
          <p:nvPr/>
        </p:nvSpPr>
        <p:spPr>
          <a:xfrm>
            <a:off x="1963736" y="6002337"/>
            <a:ext cx="2512730" cy="5349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Antes de la asignación</a:t>
            </a:r>
          </a:p>
        </p:txBody>
      </p:sp>
      <p:sp>
        <p:nvSpPr>
          <p:cNvPr id="8" name="Shape 307"/>
          <p:cNvSpPr txBox="1"/>
          <p:nvPr/>
        </p:nvSpPr>
        <p:spPr>
          <a:xfrm>
            <a:off x="5124450" y="6034087"/>
            <a:ext cx="2845843" cy="5031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u="none" dirty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Después de la asignación</a:t>
            </a:r>
          </a:p>
        </p:txBody>
      </p:sp>
    </p:spTree>
    <p:extLst>
      <p:ext uri="{BB962C8B-B14F-4D97-AF65-F5344CB8AC3E}">
        <p14:creationId xmlns:p14="http://schemas.microsoft.com/office/powerpoint/2010/main" val="2059995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1600200" y="1377950"/>
            <a:ext cx="7315200" cy="502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tabla de páginas se mantiene en memoria principal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registro base de la tabla de páginas (PTBR)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apunta al inicio de la tabla de páginas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longitud de la tabla de páginas (PRLR)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indica el tamaño de la tabla de páginas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este esquema cada acceso a dato o instrucción requiere dos accesos a memoria. Uno para la tabla de páginas y otro para obtener el dato o instrucción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puede agilizar el proceso usando una pequeña memoria asociativa o 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TLB (translation look-aside buffer)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14" name="Shape 314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</a:t>
            </a:r>
          </a:p>
        </p:txBody>
      </p:sp>
    </p:spTree>
    <p:extLst>
      <p:ext uri="{BB962C8B-B14F-4D97-AF65-F5344CB8AC3E}">
        <p14:creationId xmlns:p14="http://schemas.microsoft.com/office/powerpoint/2010/main" val="1929342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1524000" y="1306512"/>
            <a:ext cx="7391400" cy="4941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Memoria asociativa – búsqueda en paralelo 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Traducción de direcciones (p, d)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p está en un registro asociativo se obtiene el número de marco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no, se obtiene el número de marco de la tabla de páginas que está en memoria principal</a:t>
            </a:r>
          </a:p>
          <a:p>
            <a:pPr marL="628650" marR="0" lvl="1" indent="-2857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6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20" name="Shape 320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Memoria Asociativa</a:t>
            </a:r>
          </a:p>
        </p:txBody>
      </p:sp>
      <p:sp>
        <p:nvSpPr>
          <p:cNvPr id="321" name="Shape 321"/>
          <p:cNvSpPr/>
          <p:nvPr/>
        </p:nvSpPr>
        <p:spPr>
          <a:xfrm>
            <a:off x="3059113" y="2105025"/>
            <a:ext cx="2895600" cy="121919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22" name="Shape 322"/>
          <p:cNvCxnSpPr/>
          <p:nvPr/>
        </p:nvCxnSpPr>
        <p:spPr>
          <a:xfrm>
            <a:off x="4506912" y="1647825"/>
            <a:ext cx="0" cy="16763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Shape 323"/>
          <p:cNvCxnSpPr/>
          <p:nvPr/>
        </p:nvCxnSpPr>
        <p:spPr>
          <a:xfrm>
            <a:off x="3059113" y="24098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Shape 324"/>
          <p:cNvCxnSpPr/>
          <p:nvPr/>
        </p:nvCxnSpPr>
        <p:spPr>
          <a:xfrm>
            <a:off x="3059113" y="27146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Shape 325"/>
          <p:cNvCxnSpPr/>
          <p:nvPr/>
        </p:nvCxnSpPr>
        <p:spPr>
          <a:xfrm>
            <a:off x="3059113" y="3095625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Shape 326"/>
          <p:cNvSpPr/>
          <p:nvPr/>
        </p:nvSpPr>
        <p:spPr>
          <a:xfrm>
            <a:off x="3363912" y="1724025"/>
            <a:ext cx="1295400" cy="304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40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 Página</a:t>
            </a:r>
          </a:p>
        </p:txBody>
      </p:sp>
      <p:sp>
        <p:nvSpPr>
          <p:cNvPr id="327" name="Shape 327"/>
          <p:cNvSpPr/>
          <p:nvPr/>
        </p:nvSpPr>
        <p:spPr>
          <a:xfrm>
            <a:off x="4735512" y="1724025"/>
            <a:ext cx="1295400" cy="304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400" u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 Marco</a:t>
            </a:r>
          </a:p>
        </p:txBody>
      </p:sp>
    </p:spTree>
    <p:extLst>
      <p:ext uri="{BB962C8B-B14F-4D97-AF65-F5344CB8AC3E}">
        <p14:creationId xmlns:p14="http://schemas.microsoft.com/office/powerpoint/2010/main" val="3177559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title"/>
          </p:nvPr>
        </p:nvSpPr>
        <p:spPr>
          <a:xfrm>
            <a:off x="1501255" y="624110"/>
            <a:ext cx="5841242" cy="69972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HW de Paginación con TLB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2" name="Shape 333"/>
          <p:cNvPicPr preferRelativeResize="0"/>
          <p:nvPr/>
        </p:nvPicPr>
        <p:blipFill rotWithShape="1">
          <a:blip r:embed="rId3">
            <a:alphaModFix/>
          </a:blip>
          <a:srcRect l="1292" t="1041" r="1292" b="682"/>
          <a:stretch/>
        </p:blipFill>
        <p:spPr>
          <a:xfrm>
            <a:off x="1945200" y="1600200"/>
            <a:ext cx="6494462" cy="491328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3789311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body" idx="1"/>
          </p:nvPr>
        </p:nvSpPr>
        <p:spPr>
          <a:xfrm>
            <a:off x="1945200" y="1354137"/>
            <a:ext cx="6894000" cy="5046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Búsqueda asociativa = ε unidades de tiempo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Acceso a memoria = 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Tasa de acierto – probabilidad de encontrar una página en los registros asociativos; este valor depende de las peticiones de páginas y del número de registros asociativos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Tasa de acierto = α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Tiempo de acceso efectivo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(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Effective Access Time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, EAT)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	EAT = (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+ ε) α + (2</a:t>
            </a:r>
            <a:r>
              <a:rPr lang="es-AR" sz="20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+ ε)(1 – α)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		= 2m – αm + ε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</p:txBody>
      </p:sp>
      <p:sp>
        <p:nvSpPr>
          <p:cNvPr id="339" name="Shape 33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Tiempo de Acceso Efectivo</a:t>
            </a:r>
          </a:p>
        </p:txBody>
      </p:sp>
    </p:spTree>
    <p:extLst>
      <p:ext uri="{BB962C8B-B14F-4D97-AF65-F5344CB8AC3E}">
        <p14:creationId xmlns:p14="http://schemas.microsoft.com/office/powerpoint/2010/main" val="2252749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1752600" y="1447800"/>
            <a:ext cx="7162800" cy="4876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protección de la memoria se implementa asociando un bit de protección con cada página</a:t>
            </a:r>
            <a:b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24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Hay un </a:t>
            </a:r>
            <a:r>
              <a:rPr lang="es-AR" sz="24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bit de validez</a:t>
            </a:r>
            <a:r>
              <a:rPr lang="es-AR" sz="2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en cada entrada de la tabla de páginas: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“válido” indica que la página asociada está en el espacio de direcciones lógico del proceso, y por tanto es legal el acceso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“inválido” indica que la página no está en el espacio de direcciones lógico del proceso</a:t>
            </a:r>
          </a:p>
        </p:txBody>
      </p:sp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Protección de la Memoria</a:t>
            </a:r>
          </a:p>
        </p:txBody>
      </p:sp>
    </p:spTree>
    <p:extLst>
      <p:ext uri="{BB962C8B-B14F-4D97-AF65-F5344CB8AC3E}">
        <p14:creationId xmlns:p14="http://schemas.microsoft.com/office/powerpoint/2010/main" val="3073841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xfrm>
            <a:off x="1515107" y="678701"/>
            <a:ext cx="5568081" cy="5632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AR" dirty="0"/>
              <a:t>Ejemplo de bit de Validez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" name="Shape 351"/>
          <p:cNvPicPr preferRelativeResize="0"/>
          <p:nvPr/>
        </p:nvPicPr>
        <p:blipFill rotWithShape="1">
          <a:blip r:embed="rId3">
            <a:alphaModFix/>
          </a:blip>
          <a:srcRect l="7300" t="603" r="7300" b="603"/>
          <a:stretch/>
        </p:blipFill>
        <p:spPr>
          <a:xfrm>
            <a:off x="1680948" y="1436556"/>
            <a:ext cx="6011861" cy="5216727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265245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xfrm>
            <a:off x="6553200" y="1390137"/>
            <a:ext cx="2514600" cy="5206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Divide el espacio de direcciones lógicas en múltiples tablas de páginas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ejemplo simple es una tabla de páginas de dos niveles</a:t>
            </a:r>
          </a:p>
        </p:txBody>
      </p:sp>
      <p:sp>
        <p:nvSpPr>
          <p:cNvPr id="357" name="Shape 35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Multinivel</a:t>
            </a:r>
          </a:p>
        </p:txBody>
      </p:sp>
      <p:pic>
        <p:nvPicPr>
          <p:cNvPr id="358" name="Shape 358"/>
          <p:cNvPicPr preferRelativeResize="0"/>
          <p:nvPr/>
        </p:nvPicPr>
        <p:blipFill rotWithShape="1">
          <a:blip r:embed="rId3">
            <a:alphaModFix/>
          </a:blip>
          <a:srcRect l="14992" t="847" r="15005" b="1041"/>
          <a:stretch/>
        </p:blipFill>
        <p:spPr>
          <a:xfrm>
            <a:off x="1335600" y="1390137"/>
            <a:ext cx="4988998" cy="524388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9820628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>
            <a:spLocks noGrp="1"/>
          </p:cNvSpPr>
          <p:nvPr>
            <p:ph type="body" idx="1"/>
          </p:nvPr>
        </p:nvSpPr>
        <p:spPr>
          <a:xfrm>
            <a:off x="1945200" y="1336424"/>
            <a:ext cx="6905700" cy="517355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lógica (en una máquina de 32 bits con tamaño de páginas de 4K) se divide en: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número de página de 20 bits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desplazamiento dentro de la página de 12 bits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Ya que la tabla de páginas está paginada y cada entrada de la tabla de páginas ocupa 4 bytes, el número de página es de nuevo dividido en: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número de página de 10 bits </a:t>
            </a:r>
          </a:p>
          <a:p>
            <a:pPr marL="628650" marR="0" lvl="1" indent="-2857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desplazamiento de 10 bits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Por tanto, una dirección lógica tiene el siguiente aspecto:</a:t>
            </a: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b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1600" dirty="0"/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donde </a:t>
            </a:r>
            <a:r>
              <a:rPr lang="es-AR" sz="1600" b="0" i="1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 b="0" i="1" u="none" strike="noStrike" cap="none" baseline="-25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es un índice en la tabla externa y </a:t>
            </a:r>
            <a:r>
              <a:rPr lang="es-AR" sz="1600" b="0" i="1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 b="0" i="1" u="none" strike="noStrike" cap="none" baseline="-25000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2</a:t>
            </a:r>
            <a:r>
              <a:rPr lang="es-AR" sz="1600" b="0" i="0" u="none" strike="noStrike" cap="none" dirty="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es un desplazamiento en la segunda tabla de páginas</a:t>
            </a:r>
          </a:p>
        </p:txBody>
      </p:sp>
      <p:sp>
        <p:nvSpPr>
          <p:cNvPr id="364" name="Shape 364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905700" cy="128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 de Paginación de 2 Niveles</a:t>
            </a:r>
          </a:p>
        </p:txBody>
      </p:sp>
      <p:grpSp>
        <p:nvGrpSpPr>
          <p:cNvPr id="365" name="Shape 365"/>
          <p:cNvGrpSpPr/>
          <p:nvPr/>
        </p:nvGrpSpPr>
        <p:grpSpPr>
          <a:xfrm>
            <a:off x="1676399" y="4268787"/>
            <a:ext cx="6934199" cy="1392178"/>
            <a:chOff x="1676" y="2684"/>
            <a:chExt cx="2419" cy="876"/>
          </a:xfrm>
        </p:grpSpPr>
        <p:sp>
          <p:nvSpPr>
            <p:cNvPr id="366" name="Shape 366"/>
            <p:cNvSpPr/>
            <p:nvPr/>
          </p:nvSpPr>
          <p:spPr>
            <a:xfrm>
              <a:off x="1931" y="2955"/>
              <a:ext cx="1956" cy="2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cxnSp>
          <p:nvCxnSpPr>
            <p:cNvPr id="367" name="Shape 367"/>
            <p:cNvCxnSpPr/>
            <p:nvPr/>
          </p:nvCxnSpPr>
          <p:spPr>
            <a:xfrm>
              <a:off x="2460" y="2950"/>
              <a:ext cx="0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Shape 368"/>
            <p:cNvCxnSpPr/>
            <p:nvPr/>
          </p:nvCxnSpPr>
          <p:spPr>
            <a:xfrm>
              <a:off x="2961" y="2739"/>
              <a:ext cx="0" cy="47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9" name="Shape 369"/>
            <p:cNvSpPr txBox="1"/>
            <p:nvPr/>
          </p:nvSpPr>
          <p:spPr>
            <a:xfrm>
              <a:off x="1676" y="2684"/>
              <a:ext cx="1275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número de página</a:t>
              </a:r>
            </a:p>
          </p:txBody>
        </p:sp>
        <p:sp>
          <p:nvSpPr>
            <p:cNvPr id="370" name="Shape 370"/>
            <p:cNvSpPr txBox="1"/>
            <p:nvPr/>
          </p:nvSpPr>
          <p:spPr>
            <a:xfrm>
              <a:off x="2971" y="2692"/>
              <a:ext cx="1124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desplazamiento</a:t>
              </a:r>
            </a:p>
          </p:txBody>
        </p:sp>
        <p:sp>
          <p:nvSpPr>
            <p:cNvPr id="371" name="Shape 371"/>
            <p:cNvSpPr txBox="1"/>
            <p:nvPr/>
          </p:nvSpPr>
          <p:spPr>
            <a:xfrm>
              <a:off x="2060" y="2972"/>
              <a:ext cx="248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  <a:r>
                <a:rPr lang="es-AR" sz="1800" u="none" baseline="-250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  <p:sp>
          <p:nvSpPr>
            <p:cNvPr id="372" name="Shape 372"/>
            <p:cNvSpPr txBox="1"/>
            <p:nvPr/>
          </p:nvSpPr>
          <p:spPr>
            <a:xfrm>
              <a:off x="2563" y="2968"/>
              <a:ext cx="248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  <a:r>
                <a:rPr lang="es-AR" sz="1800" u="none" baseline="-250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  <p:sp>
          <p:nvSpPr>
            <p:cNvPr id="373" name="Shape 373"/>
            <p:cNvSpPr txBox="1"/>
            <p:nvPr/>
          </p:nvSpPr>
          <p:spPr>
            <a:xfrm>
              <a:off x="3194" y="2992"/>
              <a:ext cx="19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i="1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</a:t>
              </a:r>
            </a:p>
          </p:txBody>
        </p:sp>
        <p:sp>
          <p:nvSpPr>
            <p:cNvPr id="374" name="Shape 374"/>
            <p:cNvSpPr txBox="1"/>
            <p:nvPr/>
          </p:nvSpPr>
          <p:spPr>
            <a:xfrm>
              <a:off x="2050" y="3330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10</a:t>
              </a:r>
            </a:p>
          </p:txBody>
        </p:sp>
        <p:sp>
          <p:nvSpPr>
            <p:cNvPr id="375" name="Shape 375"/>
            <p:cNvSpPr txBox="1"/>
            <p:nvPr/>
          </p:nvSpPr>
          <p:spPr>
            <a:xfrm>
              <a:off x="2535" y="3330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10</a:t>
              </a:r>
            </a:p>
          </p:txBody>
        </p:sp>
        <p:sp>
          <p:nvSpPr>
            <p:cNvPr id="376" name="Shape 376"/>
            <p:cNvSpPr txBox="1"/>
            <p:nvPr/>
          </p:nvSpPr>
          <p:spPr>
            <a:xfrm>
              <a:off x="3265" y="3326"/>
              <a:ext cx="276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1422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xfrm>
            <a:off x="1981200" y="685800"/>
            <a:ext cx="7399200" cy="60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Traducción</a:t>
            </a:r>
          </a:p>
        </p:txBody>
      </p:sp>
      <p:pic>
        <p:nvPicPr>
          <p:cNvPr id="382" name="Shape 382"/>
          <p:cNvPicPr preferRelativeResize="0"/>
          <p:nvPr/>
        </p:nvPicPr>
        <p:blipFill rotWithShape="1">
          <a:blip r:embed="rId3">
            <a:alphaModFix/>
          </a:blip>
          <a:srcRect l="510" t="22414" r="511" b="22413"/>
          <a:stretch/>
        </p:blipFill>
        <p:spPr>
          <a:xfrm>
            <a:off x="685800" y="1981200"/>
            <a:ext cx="8202584" cy="34290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909727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20"/>
          <p:cNvSpPr txBox="1">
            <a:spLocks noGrp="1"/>
          </p:cNvSpPr>
          <p:nvPr>
            <p:ph type="title"/>
          </p:nvPr>
        </p:nvSpPr>
        <p:spPr>
          <a:xfrm>
            <a:off x="1512703" y="566070"/>
            <a:ext cx="5229291" cy="7635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 dirty="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Paginación de Pentium</a:t>
            </a:r>
          </a:p>
        </p:txBody>
      </p:sp>
      <p:pic>
        <p:nvPicPr>
          <p:cNvPr id="9" name="Shape 421"/>
          <p:cNvPicPr preferRelativeResize="0"/>
          <p:nvPr/>
        </p:nvPicPr>
        <p:blipFill rotWithShape="1">
          <a:blip r:embed="rId3">
            <a:alphaModFix/>
          </a:blip>
          <a:srcRect l="13206" t="844" r="13206" b="844"/>
          <a:stretch/>
        </p:blipFill>
        <p:spPr>
          <a:xfrm>
            <a:off x="2100261" y="1509712"/>
            <a:ext cx="5062536" cy="507259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4186901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Paginación de 3 Niveles</a:t>
            </a:r>
          </a:p>
        </p:txBody>
      </p:sp>
      <p:pic>
        <p:nvPicPr>
          <p:cNvPr id="388" name="Shape 388"/>
          <p:cNvPicPr preferRelativeResize="0"/>
          <p:nvPr/>
        </p:nvPicPr>
        <p:blipFill rotWithShape="1">
          <a:blip r:embed="rId3">
            <a:alphaModFix/>
          </a:blip>
          <a:srcRect l="699" t="38262" r="458" b="37975"/>
          <a:stretch/>
        </p:blipFill>
        <p:spPr>
          <a:xfrm>
            <a:off x="1452562" y="4191000"/>
            <a:ext cx="6675436" cy="120332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89" name="Shape 389"/>
          <p:cNvPicPr preferRelativeResize="0"/>
          <p:nvPr/>
        </p:nvPicPr>
        <p:blipFill rotWithShape="1">
          <a:blip r:embed="rId4">
            <a:alphaModFix/>
          </a:blip>
          <a:srcRect l="647" t="35193" r="647" b="35501"/>
          <a:stretch/>
        </p:blipFill>
        <p:spPr>
          <a:xfrm>
            <a:off x="1757361" y="1890251"/>
            <a:ext cx="6065837" cy="1350961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964938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1923077" y="1524000"/>
            <a:ext cx="6516600" cy="4792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entrada por cada </a:t>
            </a:r>
            <a:r>
              <a:rPr lang="es-AR" sz="20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marco</a:t>
            </a: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de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Las entradas contienen la dirección virtual de la página almacenada en el marco  con información sobre el proceso que la posee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Disminuye la memoria necesaria para almacenar cada tabla de páginas pero aumenta el tiempo requerido para buscar en la tabla cuando ocurre una referencia a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Solución: usar una tabla hash para limitar la búsqueda a una entrada (o unas pocas como mucho)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Invertida</a:t>
            </a:r>
          </a:p>
        </p:txBody>
      </p:sp>
    </p:spTree>
    <p:extLst>
      <p:ext uri="{BB962C8B-B14F-4D97-AF65-F5344CB8AC3E}">
        <p14:creationId xmlns:p14="http://schemas.microsoft.com/office/powerpoint/2010/main" val="2158659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Tabla de Páginas Invertida</a:t>
            </a:r>
          </a:p>
        </p:txBody>
      </p:sp>
      <p:pic>
        <p:nvPicPr>
          <p:cNvPr id="5" name="Shape 401"/>
          <p:cNvPicPr preferRelativeResize="0"/>
          <p:nvPr/>
        </p:nvPicPr>
        <p:blipFill rotWithShape="1">
          <a:blip r:embed="rId3">
            <a:alphaModFix/>
          </a:blip>
          <a:srcRect l="706" t="4347" r="705" b="4672"/>
          <a:stretch/>
        </p:blipFill>
        <p:spPr>
          <a:xfrm>
            <a:off x="1771292" y="1600200"/>
            <a:ext cx="6937014" cy="48006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031885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Segmentación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194" y="1905110"/>
            <a:ext cx="6591900" cy="3777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s-ES" dirty="0"/>
              <a:t>Cada proceso y sus datos se dividen en segmentos de longitud variable.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Un proceso carga sus segmentos en particiones dinámicas no necesariamente contiguas.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Todos los segmentos de un proceso se deben de cargar en memoria.</a:t>
            </a:r>
          </a:p>
          <a:p>
            <a:pPr algn="just">
              <a:lnSpc>
                <a:spcPct val="90000"/>
              </a:lnSpc>
            </a:pPr>
            <a:r>
              <a:rPr lang="es-ES" dirty="0"/>
              <a:t>Se diferencia de la partición dinámica en que un proceso puede ocupar más de un segmento.</a:t>
            </a:r>
            <a:endParaRPr lang="es-PE" dirty="0"/>
          </a:p>
          <a:p>
            <a:pPr algn="just">
              <a:lnSpc>
                <a:spcPct val="90000"/>
              </a:lnSpc>
            </a:pPr>
            <a:r>
              <a:rPr lang="es-ES" dirty="0">
                <a:solidFill>
                  <a:schemeClr val="accent2"/>
                </a:solidFill>
              </a:rPr>
              <a:t>Ventajas</a:t>
            </a:r>
            <a:r>
              <a:rPr lang="es-ES" dirty="0"/>
              <a:t>. No hay fragmentación interna.</a:t>
            </a:r>
          </a:p>
          <a:p>
            <a:pPr algn="just">
              <a:lnSpc>
                <a:spcPct val="90000"/>
              </a:lnSpc>
            </a:pPr>
            <a:r>
              <a:rPr lang="es-ES" dirty="0">
                <a:solidFill>
                  <a:schemeClr val="accent2"/>
                </a:solidFill>
              </a:rPr>
              <a:t>Desventajas</a:t>
            </a:r>
            <a:r>
              <a:rPr lang="es-ES" dirty="0"/>
              <a:t>. Fragmentación externa, pero menor (compactación)</a:t>
            </a:r>
            <a:endParaRPr lang="es-PE" dirty="0"/>
          </a:p>
        </p:txBody>
      </p:sp>
      <p:sp>
        <p:nvSpPr>
          <p:cNvPr id="450564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50565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50566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50567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50568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50569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5766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Segmentación Simple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83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77618" cy="1871663"/>
          </a:xfrm>
        </p:spPr>
        <p:txBody>
          <a:bodyPr/>
          <a:lstStyle/>
          <a:p>
            <a:pPr algn="just"/>
            <a:r>
              <a:rPr lang="es-PE" sz="2000" dirty="0"/>
              <a:t>El SO mantiene una tabla de segmentos para cada proceso y la lista de bloques libres.</a:t>
            </a:r>
          </a:p>
          <a:p>
            <a:pPr algn="just"/>
            <a:r>
              <a:rPr lang="es-PE" sz="2000" dirty="0"/>
              <a:t>Una dirección de memoria es un número de segmento (S) y un desplazamiento dentro de segmento (W).</a:t>
            </a:r>
          </a:p>
        </p:txBody>
      </p:sp>
      <p:sp>
        <p:nvSpPr>
          <p:cNvPr id="483348" name="Rectangle 2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3349" name="Rectangle 2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3350" name="Rectangle 2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3351" name="Rectangle 2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3352" name="Rectangle 2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3353" name="Rectangle 2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354867"/>
              </p:ext>
            </p:extLst>
          </p:nvPr>
        </p:nvGraphicFramePr>
        <p:xfrm>
          <a:off x="684213" y="2868613"/>
          <a:ext cx="7272337" cy="372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95960" imgH="2714760" progId="Paint.Picture">
                  <p:embed/>
                </p:oleObj>
              </mc:Choice>
              <mc:Fallback>
                <p:oleObj name="Bitmap Image" r:id="rId2" imgW="5295960" imgH="2714760" progId="Paint.Picture">
                  <p:embed/>
                  <p:pic>
                    <p:nvPicPr>
                      <p:cNvPr id="2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868613"/>
                        <a:ext cx="7272337" cy="372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7235825" y="4797425"/>
            <a:ext cx="638175" cy="284163"/>
          </a:xfrm>
          <a:prstGeom prst="rect">
            <a:avLst/>
          </a:prstGeom>
          <a:solidFill>
            <a:srgbClr val="00FF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s-ES" sz="1800" b="1" dirty="0"/>
              <a:t>s’+ w </a:t>
            </a:r>
            <a:endParaRPr lang="es-PE" sz="1800" b="1" dirty="0"/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4352925" y="5805488"/>
            <a:ext cx="147638" cy="17938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s-ES" sz="1400" b="1" dirty="0"/>
              <a:t>s’</a:t>
            </a:r>
            <a:endParaRPr lang="es-PE" sz="1400" b="1" dirty="0"/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5651500" y="3459163"/>
            <a:ext cx="1600200" cy="287337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/>
          <a:lstStyle/>
          <a:p>
            <a:r>
              <a:rPr lang="es-ES" sz="1400" b="1" dirty="0"/>
              <a:t>Memoria principal</a:t>
            </a:r>
            <a:endParaRPr lang="es-PE" sz="1400" b="1" dirty="0"/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3276600" y="3459163"/>
            <a:ext cx="1804988" cy="287337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/>
          <a:lstStyle/>
          <a:p>
            <a:r>
              <a:rPr lang="es-ES" sz="1400" b="1" dirty="0"/>
              <a:t>Tabla de Segmentos</a:t>
            </a:r>
            <a:endParaRPr lang="es-PE" sz="1400" b="1" dirty="0"/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2016125" y="3357563"/>
            <a:ext cx="179388" cy="142875"/>
          </a:xfrm>
          <a:prstGeom prst="rect">
            <a:avLst/>
          </a:prstGeom>
          <a:solidFill>
            <a:srgbClr val="00FF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s-ES" sz="1800" b="1" dirty="0"/>
              <a:t>s</a:t>
            </a:r>
            <a:endParaRPr lang="es-PE" sz="1800" b="1" dirty="0"/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1403350" y="2852738"/>
            <a:ext cx="2305050" cy="360362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 anchor="ctr"/>
          <a:lstStyle/>
          <a:p>
            <a:pPr algn="ctr"/>
            <a:r>
              <a:rPr lang="es-ES" sz="1400" b="1" dirty="0">
                <a:latin typeface="Arial Narrow" pitchFamily="34" charset="0"/>
              </a:rPr>
              <a:t>Segmentos   Desplazamiento</a:t>
            </a:r>
            <a:endParaRPr lang="es-PE" sz="1400" b="1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">
                <a:solidFill>
                  <a:srgbClr val="A50021"/>
                </a:solidFill>
              </a:rPr>
              <a:t>4. Estrategias</a:t>
            </a:r>
            <a:endParaRPr lang="es-PE">
              <a:solidFill>
                <a:srgbClr val="A50021"/>
              </a:solidFill>
            </a:endParaRP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69930"/>
            <a:ext cx="7148513" cy="3975527"/>
          </a:xfrm>
        </p:spPr>
        <p:txBody>
          <a:bodyPr/>
          <a:lstStyle/>
          <a:p>
            <a:r>
              <a:rPr lang="es-ES" dirty="0"/>
              <a:t>Solicitud.</a:t>
            </a:r>
          </a:p>
          <a:p>
            <a:pPr lvl="1"/>
            <a:r>
              <a:rPr lang="es-ES" dirty="0"/>
              <a:t>Por demanda</a:t>
            </a:r>
          </a:p>
          <a:p>
            <a:r>
              <a:rPr lang="es-ES" dirty="0"/>
              <a:t>Ubicación.</a:t>
            </a:r>
          </a:p>
          <a:p>
            <a:pPr lvl="1"/>
            <a:r>
              <a:rPr lang="es-ES" dirty="0"/>
              <a:t>Se cargan los segmentos de un proceso en los bloques libres y se actualiza su tabla de segmentos.</a:t>
            </a:r>
          </a:p>
          <a:p>
            <a:r>
              <a:rPr lang="es-ES" dirty="0"/>
              <a:t>Reemplazo.</a:t>
            </a:r>
          </a:p>
          <a:p>
            <a:pPr lvl="1"/>
            <a:r>
              <a:rPr lang="es-ES" dirty="0"/>
              <a:t>Uno de los segmentos se puede sacar y se marca como que no está cargada. Esto es posible por que cada proceso tiene su propia tabla de segmentos.</a:t>
            </a:r>
          </a:p>
        </p:txBody>
      </p:sp>
      <p:sp>
        <p:nvSpPr>
          <p:cNvPr id="484362" name="Rectangle 1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4363" name="Rectangle 1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4364" name="Rectangle 1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4365" name="Rectangle 1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4366" name="Rectangle 1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4367" name="Rectangle 1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479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Segmentación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1560969" y="1427075"/>
            <a:ext cx="6380988" cy="2590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Esquema de gestión de memoria que apoya la visión que el usuario tiene de la memoria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programa es una colección de segmentos.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segmento es una unidad lógica tal como: 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programa principal, </a:t>
            </a:r>
            <a:r>
              <a:rPr lang="es-AR" sz="20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procedimiento, función, método, objeto, variables locales, variables globales, bloque común, pila, tabla de símbolos, arrays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214" name="Shape 214"/>
          <p:cNvGrpSpPr/>
          <p:nvPr/>
        </p:nvGrpSpPr>
        <p:grpSpPr>
          <a:xfrm>
            <a:off x="2094350" y="3972419"/>
            <a:ext cx="2064670" cy="2765234"/>
            <a:chOff x="864" y="738"/>
            <a:chExt cx="1823" cy="3116"/>
          </a:xfrm>
        </p:grpSpPr>
        <p:sp>
          <p:nvSpPr>
            <p:cNvPr id="215" name="Shape 215"/>
            <p:cNvSpPr/>
            <p:nvPr/>
          </p:nvSpPr>
          <p:spPr>
            <a:xfrm>
              <a:off x="864" y="738"/>
              <a:ext cx="1823" cy="2495"/>
            </a:xfrm>
            <a:prstGeom prst="ellipse">
              <a:avLst/>
            </a:prstGeom>
            <a:solidFill>
              <a:srgbClr val="C99F9C"/>
            </a:solidFill>
            <a:ln w="9525" cap="rnd" cmpd="sng">
              <a:solidFill>
                <a:srgbClr val="9D2D0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16" name="Shape 216"/>
            <p:cNvSpPr/>
            <p:nvPr/>
          </p:nvSpPr>
          <p:spPr>
            <a:xfrm>
              <a:off x="1200" y="1169"/>
              <a:ext cx="623" cy="33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  <p:sp>
          <p:nvSpPr>
            <p:cNvPr id="217" name="Shape 217"/>
            <p:cNvSpPr/>
            <p:nvPr/>
          </p:nvSpPr>
          <p:spPr>
            <a:xfrm>
              <a:off x="1103" y="1889"/>
              <a:ext cx="576" cy="57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3</a:t>
              </a:r>
            </a:p>
          </p:txBody>
        </p:sp>
        <p:sp>
          <p:nvSpPr>
            <p:cNvPr id="218" name="Shape 218"/>
            <p:cNvSpPr/>
            <p:nvPr/>
          </p:nvSpPr>
          <p:spPr>
            <a:xfrm>
              <a:off x="2015" y="1553"/>
              <a:ext cx="576" cy="23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  <p:sp>
          <p:nvSpPr>
            <p:cNvPr id="219" name="Shape 219"/>
            <p:cNvSpPr/>
            <p:nvPr/>
          </p:nvSpPr>
          <p:spPr>
            <a:xfrm>
              <a:off x="1968" y="2178"/>
              <a:ext cx="576" cy="33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4</a:t>
              </a:r>
            </a:p>
          </p:txBody>
        </p:sp>
        <p:sp>
          <p:nvSpPr>
            <p:cNvPr id="220" name="Shape 220"/>
            <p:cNvSpPr txBox="1"/>
            <p:nvPr/>
          </p:nvSpPr>
          <p:spPr>
            <a:xfrm>
              <a:off x="864" y="3311"/>
              <a:ext cx="1727" cy="54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Espacio de usuario </a:t>
              </a:r>
            </a:p>
          </p:txBody>
        </p:sp>
      </p:grpSp>
      <p:grpSp>
        <p:nvGrpSpPr>
          <p:cNvPr id="221" name="Shape 221"/>
          <p:cNvGrpSpPr/>
          <p:nvPr/>
        </p:nvGrpSpPr>
        <p:grpSpPr>
          <a:xfrm>
            <a:off x="4751462" y="3733800"/>
            <a:ext cx="2986154" cy="3006774"/>
            <a:chOff x="2982" y="738"/>
            <a:chExt cx="1880" cy="2837"/>
          </a:xfrm>
        </p:grpSpPr>
        <p:grpSp>
          <p:nvGrpSpPr>
            <p:cNvPr id="222" name="Shape 222"/>
            <p:cNvGrpSpPr/>
            <p:nvPr/>
          </p:nvGrpSpPr>
          <p:grpSpPr>
            <a:xfrm>
              <a:off x="3552" y="738"/>
              <a:ext cx="719" cy="2495"/>
              <a:chOff x="3888" y="1056"/>
              <a:chExt cx="719" cy="2495"/>
            </a:xfrm>
          </p:grpSpPr>
          <p:grpSp>
            <p:nvGrpSpPr>
              <p:cNvPr id="223" name="Shape 223"/>
              <p:cNvGrpSpPr/>
              <p:nvPr/>
            </p:nvGrpSpPr>
            <p:grpSpPr>
              <a:xfrm>
                <a:off x="3888" y="1056"/>
                <a:ext cx="719" cy="672"/>
                <a:chOff x="3888" y="1056"/>
                <a:chExt cx="719" cy="672"/>
              </a:xfrm>
            </p:grpSpPr>
            <p:sp>
              <p:nvSpPr>
                <p:cNvPr id="224" name="Shape 224"/>
                <p:cNvSpPr/>
                <p:nvPr/>
              </p:nvSpPr>
              <p:spPr>
                <a:xfrm>
                  <a:off x="3888" y="1056"/>
                  <a:ext cx="719" cy="672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buNone/>
                  </a:pPr>
                  <a:endParaRPr sz="1800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cxnSp>
              <p:nvCxnSpPr>
                <p:cNvPr id="225" name="Shape 225"/>
                <p:cNvCxnSpPr/>
                <p:nvPr/>
              </p:nvCxnSpPr>
              <p:spPr>
                <a:xfrm>
                  <a:off x="3888" y="1392"/>
                  <a:ext cx="71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26" name="Shape 226"/>
              <p:cNvGrpSpPr/>
              <p:nvPr/>
            </p:nvGrpSpPr>
            <p:grpSpPr>
              <a:xfrm>
                <a:off x="3888" y="1728"/>
                <a:ext cx="719" cy="672"/>
                <a:chOff x="3888" y="1056"/>
                <a:chExt cx="719" cy="672"/>
              </a:xfrm>
            </p:grpSpPr>
            <p:sp>
              <p:nvSpPr>
                <p:cNvPr id="227" name="Shape 227"/>
                <p:cNvSpPr/>
                <p:nvPr/>
              </p:nvSpPr>
              <p:spPr>
                <a:xfrm>
                  <a:off x="3888" y="1056"/>
                  <a:ext cx="719" cy="672"/>
                </a:xfrm>
                <a:prstGeom prst="rect">
                  <a:avLst/>
                </a:prstGeom>
                <a:solidFill>
                  <a:srgbClr val="DDDDDD"/>
                </a:solidFill>
                <a:ln w="9525" cap="flat" cmpd="sng">
                  <a:solidFill>
                    <a:schemeClr val="dk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buNone/>
                  </a:pPr>
                  <a:endParaRPr sz="1800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cxnSp>
              <p:nvCxnSpPr>
                <p:cNvPr id="228" name="Shape 228"/>
                <p:cNvCxnSpPr/>
                <p:nvPr/>
              </p:nvCxnSpPr>
              <p:spPr>
                <a:xfrm>
                  <a:off x="3888" y="1392"/>
                  <a:ext cx="71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9" name="Shape 229"/>
              <p:cNvSpPr txBox="1"/>
              <p:nvPr/>
            </p:nvSpPr>
            <p:spPr>
              <a:xfrm>
                <a:off x="4125" y="1132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1</a:t>
                </a:r>
              </a:p>
            </p:txBody>
          </p:sp>
          <p:sp>
            <p:nvSpPr>
              <p:cNvPr id="230" name="Shape 230"/>
              <p:cNvSpPr txBox="1"/>
              <p:nvPr/>
            </p:nvSpPr>
            <p:spPr>
              <a:xfrm>
                <a:off x="4127" y="1439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4</a:t>
                </a:r>
              </a:p>
            </p:txBody>
          </p:sp>
          <p:sp>
            <p:nvSpPr>
              <p:cNvPr id="231" name="Shape 231"/>
              <p:cNvSpPr/>
              <p:nvPr/>
            </p:nvSpPr>
            <p:spPr>
              <a:xfrm>
                <a:off x="3888" y="2400"/>
                <a:ext cx="719" cy="911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2" name="Shape 232"/>
              <p:cNvSpPr/>
              <p:nvPr/>
            </p:nvSpPr>
            <p:spPr>
              <a:xfrm>
                <a:off x="3888" y="3311"/>
                <a:ext cx="719" cy="239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buNone/>
                </a:pPr>
                <a:endParaRPr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cxnSp>
            <p:nvCxnSpPr>
              <p:cNvPr id="233" name="Shape 233"/>
              <p:cNvCxnSpPr/>
              <p:nvPr/>
            </p:nvCxnSpPr>
            <p:spPr>
              <a:xfrm>
                <a:off x="3888" y="2639"/>
                <a:ext cx="719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4" name="Shape 234"/>
              <p:cNvSpPr txBox="1"/>
              <p:nvPr/>
            </p:nvSpPr>
            <p:spPr>
              <a:xfrm>
                <a:off x="4127" y="2429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2</a:t>
                </a:r>
              </a:p>
            </p:txBody>
          </p:sp>
          <p:sp>
            <p:nvSpPr>
              <p:cNvPr id="235" name="Shape 235"/>
              <p:cNvSpPr txBox="1"/>
              <p:nvPr/>
            </p:nvSpPr>
            <p:spPr>
              <a:xfrm>
                <a:off x="4127" y="2888"/>
                <a:ext cx="196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AR" sz="1800" u="none">
                    <a:solidFill>
                      <a:schemeClr val="dk1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3</a:t>
                </a:r>
              </a:p>
            </p:txBody>
          </p:sp>
        </p:grpSp>
        <p:sp>
          <p:nvSpPr>
            <p:cNvPr id="236" name="Shape 236"/>
            <p:cNvSpPr txBox="1"/>
            <p:nvPr/>
          </p:nvSpPr>
          <p:spPr>
            <a:xfrm>
              <a:off x="2982" y="3232"/>
              <a:ext cx="1880" cy="34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u="none" dirty="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Espacio de memoria física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005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segmentación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Una dirección lógica consiste en un par: 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&lt;número de segmento, desplazamiento&gt;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Tabla de segmentos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contiene información sobre la ubicación de los segmentos en memoria; cada entrada tiene: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base</a:t>
            </a: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contiene la dirección física en la que comienza el segmento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6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límite</a:t>
            </a: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– especifica la longitud del segmento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base de la tabla de segmentos (STBR)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apunta a la localización en memoria de la tabla de segmentos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</a:t>
            </a:r>
            <a:r>
              <a:rPr lang="es-AR" sz="1800" b="1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 de longitud de la tabla de segmentos (STLR)</a:t>
            </a:r>
            <a:r>
              <a:rPr lang="es-AR" sz="18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indica el número de segmentos usados por un programa;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número de segmento </a:t>
            </a:r>
            <a:r>
              <a:rPr lang="es-AR" sz="1800" b="1" i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 legal si </a:t>
            </a:r>
            <a:r>
              <a:rPr lang="es-AR" sz="1800" b="1" i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&lt; </a:t>
            </a:r>
            <a:r>
              <a:rPr lang="es-AR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STLR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Noto Sans Symbols"/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4176668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Esquema de segmentación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1588008" y="1752600"/>
            <a:ext cx="6380988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Protección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cada entrada de la tabla de segmentos hay: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privilegios de lectura/escritura/ejecución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Set de instrucciones permitidas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Nivel de privilegio.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bits de protección están asociados con los segmentos; la compartición de código ocurre a nivel de segmento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s-AR" sz="2400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Ya que los segmentos varían en longitud, la asignación de memoria es un problema de asignación dinámica</a:t>
            </a:r>
          </a:p>
        </p:txBody>
      </p:sp>
    </p:spTree>
    <p:extLst>
      <p:ext uri="{BB962C8B-B14F-4D97-AF65-F5344CB8AC3E}">
        <p14:creationId xmlns:p14="http://schemas.microsoft.com/office/powerpoint/2010/main" val="13889854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7606" y="624110"/>
            <a:ext cx="7560860" cy="781609"/>
          </a:xfrm>
        </p:spPr>
        <p:txBody>
          <a:bodyPr/>
          <a:lstStyle/>
          <a:p>
            <a:r>
              <a:rPr lang="es-ES" dirty="0">
                <a:solidFill>
                  <a:srgbClr val="A50021"/>
                </a:solidFill>
              </a:rPr>
              <a:t>4. Validación del Direccionamiento</a:t>
            </a:r>
            <a:endParaRPr lang="es-PE" dirty="0">
              <a:solidFill>
                <a:srgbClr val="A50021"/>
              </a:solidFill>
            </a:endParaRP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7663" y="1905110"/>
            <a:ext cx="8435975" cy="2515216"/>
          </a:xfrm>
        </p:spPr>
        <p:txBody>
          <a:bodyPr/>
          <a:lstStyle/>
          <a:p>
            <a:pPr algn="just"/>
            <a:r>
              <a:rPr lang="es-ES" dirty="0"/>
              <a:t>No hay correspondencia entre dirección lógica y dirección física.</a:t>
            </a:r>
          </a:p>
          <a:p>
            <a:r>
              <a:rPr lang="es-PE" dirty="0"/>
              <a:t>El SO trabaja con direcciones lógicas.</a:t>
            </a:r>
          </a:p>
          <a:p>
            <a:r>
              <a:rPr lang="es-PE" dirty="0"/>
              <a:t>El SO debe asegurar que cada dirección lógica esté dentro del rango de direcciones del proceso</a:t>
            </a:r>
          </a:p>
          <a:p>
            <a:r>
              <a:rPr lang="es-PE" dirty="0"/>
              <a:t>El SO implementa la tabla de segmentos como un arreglo de registros base limite</a:t>
            </a:r>
            <a:endParaRPr lang="es-ES" dirty="0"/>
          </a:p>
        </p:txBody>
      </p:sp>
      <p:sp>
        <p:nvSpPr>
          <p:cNvPr id="482314" name="Rectangle 10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2315" name="Rectangle 11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2316" name="Rectangle 12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2317" name="Rectangle 13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2318" name="Rectangle 14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2319" name="Rectangle 15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2320" name="Rectangle 16"/>
          <p:cNvSpPr>
            <a:spLocks noChangeArrowheads="1"/>
          </p:cNvSpPr>
          <p:nvPr/>
        </p:nvSpPr>
        <p:spPr bwMode="auto">
          <a:xfrm>
            <a:off x="431801" y="4801216"/>
            <a:ext cx="8351837" cy="646331"/>
          </a:xfrm>
          <a:prstGeom prst="rect">
            <a:avLst/>
          </a:prstGeom>
          <a:solidFill>
            <a:srgbClr val="FFEB95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s-ES" sz="1800"/>
              <a:t>La segmentación por lo general es invisible al programador.</a:t>
            </a:r>
          </a:p>
          <a:p>
            <a:pPr algn="ctr"/>
            <a:r>
              <a:rPr lang="es-ES" sz="1800"/>
              <a:t>Es el compilador el que define los segmentos.</a:t>
            </a:r>
          </a:p>
        </p:txBody>
      </p:sp>
    </p:spTree>
    <p:extLst>
      <p:ext uri="{BB962C8B-B14F-4D97-AF65-F5344CB8AC3E}">
        <p14:creationId xmlns:p14="http://schemas.microsoft.com/office/powerpoint/2010/main" val="199969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8" name="Rectangle 4"/>
          <p:cNvSpPr>
            <a:spLocks noChangeArrowheads="1"/>
          </p:cNvSpPr>
          <p:nvPr/>
        </p:nvSpPr>
        <p:spPr bwMode="auto">
          <a:xfrm>
            <a:off x="6983413" y="0"/>
            <a:ext cx="36036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PF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7429" name="Rectangle 5"/>
          <p:cNvSpPr>
            <a:spLocks noChangeArrowheads="1"/>
          </p:cNvSpPr>
          <p:nvPr/>
        </p:nvSpPr>
        <p:spPr bwMode="auto">
          <a:xfrm>
            <a:off x="7343775" y="0"/>
            <a:ext cx="36036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chemeClr val="accent2"/>
                </a:solidFill>
              </a:rPr>
              <a:t>PD</a:t>
            </a:r>
            <a:endParaRPr lang="es-PE" sz="1600" b="1">
              <a:solidFill>
                <a:schemeClr val="accent2"/>
              </a:solidFill>
            </a:endParaRPr>
          </a:p>
        </p:txBody>
      </p:sp>
      <p:sp>
        <p:nvSpPr>
          <p:cNvPr id="487430" name="Rectangle 6"/>
          <p:cNvSpPr>
            <a:spLocks noChangeArrowheads="1"/>
          </p:cNvSpPr>
          <p:nvPr/>
        </p:nvSpPr>
        <p:spPr bwMode="auto">
          <a:xfrm>
            <a:off x="7702550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PS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7431" name="Rectangle 7"/>
          <p:cNvSpPr>
            <a:spLocks noChangeArrowheads="1"/>
          </p:cNvSpPr>
          <p:nvPr/>
        </p:nvSpPr>
        <p:spPr bwMode="auto">
          <a:xfrm>
            <a:off x="8062913" y="0"/>
            <a:ext cx="360362" cy="360363"/>
          </a:xfrm>
          <a:prstGeom prst="rect">
            <a:avLst/>
          </a:prstGeom>
          <a:solidFill>
            <a:srgbClr val="D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A50021"/>
                </a:solidFill>
              </a:rPr>
              <a:t>SS</a:t>
            </a:r>
            <a:endParaRPr lang="es-PE" sz="1600" b="1">
              <a:solidFill>
                <a:srgbClr val="A50021"/>
              </a:solidFill>
            </a:endParaRPr>
          </a:p>
        </p:txBody>
      </p:sp>
      <p:sp>
        <p:nvSpPr>
          <p:cNvPr id="487432" name="Rectangle 8"/>
          <p:cNvSpPr>
            <a:spLocks noChangeArrowheads="1"/>
          </p:cNvSpPr>
          <p:nvPr/>
        </p:nvSpPr>
        <p:spPr bwMode="auto">
          <a:xfrm>
            <a:off x="8423275" y="0"/>
            <a:ext cx="3603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VP</a:t>
            </a:r>
            <a:endParaRPr lang="es-PE" sz="1600" b="1">
              <a:solidFill>
                <a:srgbClr val="FF3300"/>
              </a:solidFill>
            </a:endParaRPr>
          </a:p>
        </p:txBody>
      </p:sp>
      <p:sp>
        <p:nvSpPr>
          <p:cNvPr id="487433" name="Rectangle 9"/>
          <p:cNvSpPr>
            <a:spLocks noChangeArrowheads="1"/>
          </p:cNvSpPr>
          <p:nvPr/>
        </p:nvSpPr>
        <p:spPr bwMode="auto">
          <a:xfrm>
            <a:off x="8783638" y="0"/>
            <a:ext cx="3603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1600" b="1">
                <a:solidFill>
                  <a:srgbClr val="FF3300"/>
                </a:solidFill>
              </a:rPr>
              <a:t>VS</a:t>
            </a:r>
            <a:endParaRPr lang="es-PE" sz="1600" b="1">
              <a:solidFill>
                <a:srgbClr val="FF3300"/>
              </a:solidFill>
            </a:endParaRPr>
          </a:p>
        </p:txBody>
      </p:sp>
      <p:pic>
        <p:nvPicPr>
          <p:cNvPr id="487434" name="Picture 10" descr="validi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282217"/>
            <a:ext cx="8820150" cy="5513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84719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Segmentación</a:t>
            </a:r>
          </a:p>
        </p:txBody>
      </p:sp>
      <p:pic>
        <p:nvPicPr>
          <p:cNvPr id="260" name="Shape 260"/>
          <p:cNvPicPr preferRelativeResize="0"/>
          <p:nvPr/>
        </p:nvPicPr>
        <p:blipFill rotWithShape="1">
          <a:blip r:embed="rId3">
            <a:alphaModFix/>
          </a:blip>
          <a:srcRect l="7813" t="926" r="7814" b="1533"/>
          <a:stretch/>
        </p:blipFill>
        <p:spPr>
          <a:xfrm>
            <a:off x="1696500" y="1447800"/>
            <a:ext cx="7086600" cy="511756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5962581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 txBox="1">
            <a:spLocks noGrp="1"/>
          </p:cNvSpPr>
          <p:nvPr>
            <p:ph type="body" idx="1"/>
          </p:nvPr>
        </p:nvSpPr>
        <p:spPr>
          <a:xfrm>
            <a:off x="1752600" y="1501340"/>
            <a:ext cx="7162800" cy="5128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paginación y la segmentación se pueden combinar en la segmentación con paginación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este esquema de gestión de memoria los segmentos se paginan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apoya la visión de la memoria que tiene el usuario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resuelve el problema de la asignación dinámica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 necesario una tabla de segmentos y una tabla de páginas por cada segmento</a:t>
            </a:r>
          </a:p>
          <a:p>
            <a:pPr marL="342900" marR="0" lvl="1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20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traducción de direcciones es más compleja y puede requerir un mayor número de accesos a memoria en el peor caso</a:t>
            </a:r>
          </a:p>
        </p:txBody>
      </p:sp>
      <p:sp>
        <p:nvSpPr>
          <p:cNvPr id="407" name="Shape 407"/>
          <p:cNvSpPr txBox="1">
            <a:spLocks noGrp="1"/>
          </p:cNvSpPr>
          <p:nvPr>
            <p:ph type="title"/>
          </p:nvPr>
        </p:nvSpPr>
        <p:spPr>
          <a:xfrm>
            <a:off x="1752600" y="622108"/>
            <a:ext cx="7162800" cy="97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Segmentación con Paginación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1945200" y="1447800"/>
            <a:ext cx="6894000" cy="2729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proceso genera una dirección lógica</a:t>
            </a:r>
          </a:p>
          <a:p>
            <a:pPr marL="342900" marR="0" lvl="1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le da a la unidad de segmentación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Soporta segmentación y segmentación con paginación</a:t>
            </a:r>
          </a:p>
          <a:p>
            <a:pPr marL="342900" marR="0" lvl="2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Que produce una dirección lineal </a:t>
            </a:r>
          </a:p>
          <a:p>
            <a:pPr marL="342900" marR="0" lvl="1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dirección lineal pasa a la unidad de paginación</a:t>
            </a:r>
          </a:p>
          <a:p>
            <a:pPr marL="342900" marR="0" lvl="2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97368"/>
              <a:buFont typeface="Noto Sans Symbols"/>
              <a:buChar char="●"/>
            </a:pPr>
            <a:r>
              <a:rPr lang="es-AR" sz="185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Que genera la dirección física para la memoria principal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97368"/>
              <a:buFont typeface="Noto Sans Symbols"/>
              <a:buNone/>
            </a:pPr>
            <a:endParaRPr sz="185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13" name="Shape 41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Ejemplo: Intel Pentium</a:t>
            </a:r>
          </a:p>
        </p:txBody>
      </p:sp>
      <p:pic>
        <p:nvPicPr>
          <p:cNvPr id="414" name="Shape 414"/>
          <p:cNvPicPr preferRelativeResize="0"/>
          <p:nvPr/>
        </p:nvPicPr>
        <p:blipFill rotWithShape="1">
          <a:blip r:embed="rId3">
            <a:alphaModFix/>
          </a:blip>
          <a:srcRect l="446" t="43227" r="680" b="42946"/>
          <a:stretch/>
        </p:blipFill>
        <p:spPr>
          <a:xfrm>
            <a:off x="1096962" y="4353355"/>
            <a:ext cx="7894638" cy="827086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15" name="Shape 415"/>
          <p:cNvPicPr preferRelativeResize="0"/>
          <p:nvPr/>
        </p:nvPicPr>
        <p:blipFill rotWithShape="1">
          <a:blip r:embed="rId4">
            <a:alphaModFix/>
          </a:blip>
          <a:srcRect l="638" t="35570" r="660" b="35571"/>
          <a:stretch/>
        </p:blipFill>
        <p:spPr>
          <a:xfrm>
            <a:off x="2007317" y="5356225"/>
            <a:ext cx="5805487" cy="1273174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/>
          <p:nvPr/>
        </p:nvSpPr>
        <p:spPr>
          <a:xfrm>
            <a:off x="1715775" y="304800"/>
            <a:ext cx="6258599" cy="156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600">
                <a:latin typeface="Kaushan Script"/>
                <a:ea typeface="Kaushan Script"/>
                <a:cs typeface="Kaushan Script"/>
                <a:sym typeface="Kaushan Script"/>
              </a:rPr>
              <a:t>¿</a:t>
            </a:r>
            <a:r>
              <a:rPr lang="es-AR" sz="9600" cap="none">
                <a:latin typeface="Kaushan Script"/>
                <a:ea typeface="Kaushan Script"/>
                <a:cs typeface="Kaushan Script"/>
                <a:sym typeface="Kaushan Script"/>
              </a:rPr>
              <a:t>DUDAS ?</a:t>
            </a:r>
          </a:p>
        </p:txBody>
      </p:sp>
      <p:pic>
        <p:nvPicPr>
          <p:cNvPr id="427" name="Shape 4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3000" y="0"/>
            <a:ext cx="123443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2967</Words>
  <Application>Microsoft Office PowerPoint</Application>
  <PresentationFormat>Presentación en pantalla (4:3)</PresentationFormat>
  <Paragraphs>460</Paragraphs>
  <Slides>57</Slides>
  <Notes>32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57</vt:i4>
      </vt:variant>
    </vt:vector>
  </HeadingPairs>
  <TitlesOfParts>
    <vt:vector size="66" baseType="lpstr">
      <vt:lpstr>Questrial</vt:lpstr>
      <vt:lpstr>Arial Narrow</vt:lpstr>
      <vt:lpstr>Calibri</vt:lpstr>
      <vt:lpstr>Noto Sans Symbols</vt:lpstr>
      <vt:lpstr>Arial</vt:lpstr>
      <vt:lpstr>Kaushan Script</vt:lpstr>
      <vt:lpstr>simple-light-2</vt:lpstr>
      <vt:lpstr>Imagen de mapa de bits</vt:lpstr>
      <vt:lpstr>Bitmap Image</vt:lpstr>
      <vt:lpstr>Memoria Real</vt:lpstr>
      <vt:lpstr>Introducción</vt:lpstr>
      <vt:lpstr>Organización Física de la Memoria</vt:lpstr>
      <vt:lpstr>Organización Lógica de la Memoria</vt:lpstr>
      <vt:lpstr>Procesos y Memoria</vt:lpstr>
      <vt:lpstr>Memoria Virtual</vt:lpstr>
      <vt:lpstr>El disco es LENTO</vt:lpstr>
      <vt:lpstr>Vinculación de direcciones</vt:lpstr>
      <vt:lpstr>Espacio de Direcciones</vt:lpstr>
      <vt:lpstr>Base y límite</vt:lpstr>
      <vt:lpstr>Memory Management Unit</vt:lpstr>
      <vt:lpstr>Memory Management Unit</vt:lpstr>
      <vt:lpstr>Administrador de Memoria</vt:lpstr>
      <vt:lpstr>Requisitos del administrador de memoria</vt:lpstr>
      <vt:lpstr>Estrategias </vt:lpstr>
      <vt:lpstr>Administrador de Memoria</vt:lpstr>
      <vt:lpstr>1. Partición Fija</vt:lpstr>
      <vt:lpstr>1. Estrategias</vt:lpstr>
      <vt:lpstr>1. Estrategia de Ubicación</vt:lpstr>
      <vt:lpstr>1. Partición Fija</vt:lpstr>
      <vt:lpstr>2. Partición Dinámica</vt:lpstr>
      <vt:lpstr>2. Partición Dinámica</vt:lpstr>
      <vt:lpstr>2. Estrategias</vt:lpstr>
      <vt:lpstr>2. Estrategias</vt:lpstr>
      <vt:lpstr>3. Paginación Simple</vt:lpstr>
      <vt:lpstr>3. Paginación Simple</vt:lpstr>
      <vt:lpstr>3. Estrategias</vt:lpstr>
      <vt:lpstr>Traducción de Direcciones</vt:lpstr>
      <vt:lpstr>3. Capacidad de Direccionamiento</vt:lpstr>
      <vt:lpstr>Ejemplo de Paginación</vt:lpstr>
      <vt:lpstr>Ejemplo de Paginación</vt:lpstr>
      <vt:lpstr>Marcos Libres</vt:lpstr>
      <vt:lpstr>Tabla de Páginas</vt:lpstr>
      <vt:lpstr>Memoria Asociativa</vt:lpstr>
      <vt:lpstr>HW de Paginación con TLB</vt:lpstr>
      <vt:lpstr>Tiempo de Acceso Efectivo</vt:lpstr>
      <vt:lpstr>Protección de la Memoria</vt:lpstr>
      <vt:lpstr>Ejemplo de bit de Validez</vt:lpstr>
      <vt:lpstr>Tabla de Páginas Multinivel</vt:lpstr>
      <vt:lpstr>Ej de Paginación de 2 Niveles</vt:lpstr>
      <vt:lpstr>Esquema de Traducción</vt:lpstr>
      <vt:lpstr>Paginación de Pentium</vt:lpstr>
      <vt:lpstr>Paginación de 3 Niveles</vt:lpstr>
      <vt:lpstr>Tabla de Páginas Invertida</vt:lpstr>
      <vt:lpstr>Tabla de Páginas Invertida</vt:lpstr>
      <vt:lpstr>4. Segmentación Simple</vt:lpstr>
      <vt:lpstr>4. Segmentación Simple</vt:lpstr>
      <vt:lpstr>4. Estrategias</vt:lpstr>
      <vt:lpstr>Segmentación</vt:lpstr>
      <vt:lpstr>Esquema de segmentación</vt:lpstr>
      <vt:lpstr>Esquema de segmentación</vt:lpstr>
      <vt:lpstr>4. Validación del Direccionamiento</vt:lpstr>
      <vt:lpstr>Presentación de PowerPoint</vt:lpstr>
      <vt:lpstr>Ejemplo de Segmentación</vt:lpstr>
      <vt:lpstr>Segmentación con Paginación</vt:lpstr>
      <vt:lpstr>Ejemplo: Intel Pentium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Real</dc:title>
  <dc:creator>Esquivel, Nestor (Tech Data)</dc:creator>
  <cp:lastModifiedBy>Agustin Massucco</cp:lastModifiedBy>
  <cp:revision>10</cp:revision>
  <dcterms:modified xsi:type="dcterms:W3CDTF">2026-05-27T21:17:41Z</dcterms:modified>
</cp:coreProperties>
</file>