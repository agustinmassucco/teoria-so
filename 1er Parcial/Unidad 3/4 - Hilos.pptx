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2"/>
  </p:notesMasterIdLst>
  <p:sldIdLst>
    <p:sldId id="256" r:id="rId2"/>
    <p:sldId id="258" r:id="rId3"/>
    <p:sldId id="259" r:id="rId4"/>
    <p:sldId id="260" r:id="rId5"/>
    <p:sldId id="261" r:id="rId6"/>
    <p:sldId id="289" r:id="rId7"/>
    <p:sldId id="290" r:id="rId8"/>
    <p:sldId id="291" r:id="rId9"/>
    <p:sldId id="292" r:id="rId10"/>
    <p:sldId id="266" r:id="rId11"/>
    <p:sldId id="293" r:id="rId12"/>
    <p:sldId id="294" r:id="rId13"/>
    <p:sldId id="295" r:id="rId14"/>
    <p:sldId id="285" r:id="rId15"/>
    <p:sldId id="268" r:id="rId16"/>
    <p:sldId id="269" r:id="rId17"/>
    <p:sldId id="296" r:id="rId18"/>
    <p:sldId id="297" r:id="rId19"/>
    <p:sldId id="298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embeddedFontLst>
    <p:embeddedFont>
      <p:font typeface="Questrial" panose="020B0604020202020204" charset="0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210620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8062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0821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0640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1452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8" name="Shape 98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6225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4522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6044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1823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0994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9595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9405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54789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1175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9" name="Shape 13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5687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02591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1463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6188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842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9942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44382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8" name="Shape 168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7802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6118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3" name="Shape 20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49346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7" name="Shape 257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7566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3" name="Shape 27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91687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6" name="Shape 2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86805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Shape 314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s-AR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80311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9" name="Shape 329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81093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4" name="Shape 344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38569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0" name="Shape 350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9042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4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31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69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262626"/>
              </a:buClr>
              <a:buFont typeface="Questrial"/>
              <a:buNone/>
              <a:defRPr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00" cy="377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742950" marR="0" lvl="1" indent="-18415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143000" marR="0" lvl="2" indent="-1397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4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600200" marR="0" lvl="3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057400" marR="0" lvl="4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514600" marR="0" lvl="5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971800" marR="0" lvl="6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429000" marR="0" lvl="7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886200" marR="0" lvl="8" indent="-1524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  <a:defRPr sz="12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500" cy="370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ftr" idx="11"/>
          </p:nvPr>
        </p:nvSpPr>
        <p:spPr>
          <a:xfrm>
            <a:off x="1942415" y="6135808"/>
            <a:ext cx="5716500" cy="36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9" name="Shape 59"/>
          <p:cNvSpPr/>
          <p:nvPr/>
        </p:nvSpPr>
        <p:spPr>
          <a:xfrm rot="10800000" flipH="1">
            <a:off x="57" y="711299"/>
            <a:ext cx="1358400" cy="5079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20000" y="56328"/>
                </a:moveTo>
                <a:lnTo>
                  <a:pt x="99772" y="2256"/>
                </a:lnTo>
                <a:cubicBezTo>
                  <a:pt x="99635" y="1884"/>
                  <a:pt x="99468" y="1500"/>
                  <a:pt x="99332" y="1128"/>
                </a:cubicBezTo>
                <a:cubicBezTo>
                  <a:pt x="98922" y="0"/>
                  <a:pt x="98497" y="0"/>
                  <a:pt x="98072" y="0"/>
                </a:cubicBezTo>
                <a:lnTo>
                  <a:pt x="90060" y="0"/>
                </a:lnTo>
                <a:lnTo>
                  <a:pt x="0" y="744"/>
                </a:lnTo>
                <a:lnTo>
                  <a:pt x="0" y="120000"/>
                </a:lnTo>
                <a:lnTo>
                  <a:pt x="90060" y="119424"/>
                </a:lnTo>
                <a:lnTo>
                  <a:pt x="98072" y="119424"/>
                </a:lnTo>
                <a:cubicBezTo>
                  <a:pt x="98497" y="119424"/>
                  <a:pt x="98922" y="118308"/>
                  <a:pt x="99332" y="118308"/>
                </a:cubicBezTo>
                <a:cubicBezTo>
                  <a:pt x="99332" y="117168"/>
                  <a:pt x="99772" y="117168"/>
                  <a:pt x="99772" y="117168"/>
                </a:cubicBezTo>
                <a:lnTo>
                  <a:pt x="120000" y="63096"/>
                </a:lnTo>
                <a:cubicBezTo>
                  <a:pt x="120834" y="60840"/>
                  <a:pt x="120834" y="58596"/>
                  <a:pt x="120000" y="5632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511227" y="787783"/>
            <a:ext cx="584999" cy="365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s-AR" sz="2000" b="0" i="0" u="none" strike="noStrike" cap="none">
                <a:solidFill>
                  <a:srgbClr val="FEFFFF"/>
                </a:solidFill>
                <a:latin typeface="Questrial"/>
                <a:ea typeface="Questrial"/>
                <a:cs typeface="Questrial"/>
                <a:sym typeface="Questrial"/>
              </a:rPr>
              <a:t>‹#›</a:t>
            </a:fld>
            <a:endParaRPr lang="es-AR" sz="2000" b="0" i="0" u="none" strike="noStrike" cap="none">
              <a:solidFill>
                <a:srgbClr val="FE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180138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854" y="299113"/>
            <a:ext cx="7772400" cy="808714"/>
          </a:xfrm>
        </p:spPr>
        <p:txBody>
          <a:bodyPr/>
          <a:lstStyle/>
          <a:p>
            <a:r>
              <a:rPr lang="es-AR" dirty="0" smtClean="0"/>
              <a:t>HILOS</a:t>
            </a:r>
            <a:endParaRPr lang="es-AR" dirty="0"/>
          </a:p>
        </p:txBody>
      </p:sp>
      <p:pic>
        <p:nvPicPr>
          <p:cNvPr id="8" name="Shape 66" descr="https://pbs.twimg.com/media/B4rVC4ICQAAr65m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543" y="1107827"/>
            <a:ext cx="8760654" cy="452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073" y="5634167"/>
            <a:ext cx="1223961" cy="1223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Procesos</a:t>
            </a:r>
          </a:p>
        </p:txBody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1435608" y="1524000"/>
            <a:ext cx="4355592" cy="472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Un </a:t>
            </a:r>
            <a:r>
              <a:rPr lang="es-AR" sz="1800" b="0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proceso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es un programa en ejecución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Se suele decir que el programa es la entidad pasiva y el proceso la activa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Los libros de texto usan los términos </a:t>
            </a: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proceso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y </a:t>
            </a: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tarea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para referirse normalmente a lo mismo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Un proceso es la unidad de ejecución más pequeña planificable</a:t>
            </a:r>
          </a:p>
        </p:txBody>
      </p:sp>
      <p:pic>
        <p:nvPicPr>
          <p:cNvPr id="73" name="Shape 73"/>
          <p:cNvPicPr preferRelativeResize="0"/>
          <p:nvPr/>
        </p:nvPicPr>
        <p:blipFill rotWithShape="1">
          <a:blip r:embed="rId3">
            <a:alphaModFix/>
          </a:blip>
          <a:srcRect l="27091" t="1192" r="27121" b="1191"/>
          <a:stretch/>
        </p:blipFill>
        <p:spPr>
          <a:xfrm>
            <a:off x="6011862" y="1527412"/>
            <a:ext cx="2522538" cy="4033837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333643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 de Stack</a:t>
            </a:r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435608" y="1752599"/>
            <a:ext cx="3898391" cy="42363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int main(int argc, char *argv[]) {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    hacer_algo(3); // 3 veces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}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void hacer_algo(int tope) {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    if(tope &gt; 0) {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         hacer_algo(tope – 1);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     }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}</a:t>
            </a:r>
          </a:p>
        </p:txBody>
      </p:sp>
      <p:sp>
        <p:nvSpPr>
          <p:cNvPr id="80" name="Shape 80"/>
          <p:cNvSpPr/>
          <p:nvPr/>
        </p:nvSpPr>
        <p:spPr>
          <a:xfrm>
            <a:off x="5355608" y="4267200"/>
            <a:ext cx="3405099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main -&gt; argc = 0, argv = []</a:t>
            </a:r>
          </a:p>
        </p:txBody>
      </p:sp>
      <p:sp>
        <p:nvSpPr>
          <p:cNvPr id="81" name="Shape 81"/>
          <p:cNvSpPr/>
          <p:nvPr/>
        </p:nvSpPr>
        <p:spPr>
          <a:xfrm>
            <a:off x="758679" y="1752599"/>
            <a:ext cx="609599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15875" cap="rnd" cmpd="sng">
            <a:solidFill>
              <a:srgbClr val="00518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5573619" y="3867089"/>
            <a:ext cx="2969083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hacer_algo-&gt; tope = 3</a:t>
            </a:r>
          </a:p>
        </p:txBody>
      </p:sp>
      <p:sp>
        <p:nvSpPr>
          <p:cNvPr id="83" name="Shape 83"/>
          <p:cNvSpPr/>
          <p:nvPr/>
        </p:nvSpPr>
        <p:spPr>
          <a:xfrm>
            <a:off x="5573619" y="3466980"/>
            <a:ext cx="2969083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hacer_algo-&gt; tope = 2</a:t>
            </a:r>
          </a:p>
        </p:txBody>
      </p:sp>
      <p:sp>
        <p:nvSpPr>
          <p:cNvPr id="84" name="Shape 84"/>
          <p:cNvSpPr/>
          <p:nvPr/>
        </p:nvSpPr>
        <p:spPr>
          <a:xfrm>
            <a:off x="5575894" y="3066869"/>
            <a:ext cx="2969083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hacer_algo-&gt; tope = 1</a:t>
            </a:r>
          </a:p>
        </p:txBody>
      </p:sp>
      <p:sp>
        <p:nvSpPr>
          <p:cNvPr id="85" name="Shape 85"/>
          <p:cNvSpPr/>
          <p:nvPr/>
        </p:nvSpPr>
        <p:spPr>
          <a:xfrm>
            <a:off x="5573616" y="2676517"/>
            <a:ext cx="2969083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hacer_algo-&gt; tope = 0</a:t>
            </a:r>
          </a:p>
        </p:txBody>
      </p:sp>
      <p:sp>
        <p:nvSpPr>
          <p:cNvPr id="86" name="Shape 86"/>
          <p:cNvSpPr/>
          <p:nvPr/>
        </p:nvSpPr>
        <p:spPr>
          <a:xfrm rot="10800000" flipH="1">
            <a:off x="4318460" y="3656898"/>
            <a:ext cx="507000" cy="10104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000000"/>
          </a:solidFill>
          <a:ln w="15875" cap="rnd" cmpd="sng">
            <a:solidFill>
              <a:srgbClr val="00518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350353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Estados</a:t>
            </a:r>
          </a:p>
        </p:txBody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1435608" y="1417637"/>
            <a:ext cx="7498080" cy="52117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Conforme se ejecuta un proceso cambia su </a:t>
            </a:r>
            <a:r>
              <a:rPr lang="es-AR" sz="1800" b="0" i="1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estado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nuevo: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El proceso se está creando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en ejecución: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Se están ejecutando sus instrucciones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en espera: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Está esperando que ocurra algún evento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listo: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Está esperando que le asignen la CPU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terminado: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Ha terminado su ejecución</a:t>
            </a:r>
          </a:p>
        </p:txBody>
      </p:sp>
      <p:pic>
        <p:nvPicPr>
          <p:cNvPr id="93" name="Shape 93"/>
          <p:cNvPicPr preferRelativeResize="0"/>
          <p:nvPr/>
        </p:nvPicPr>
        <p:blipFill rotWithShape="1">
          <a:blip r:embed="rId3">
            <a:alphaModFix/>
          </a:blip>
          <a:srcRect l="459" t="24141" r="689" b="24419"/>
          <a:stretch/>
        </p:blipFill>
        <p:spPr>
          <a:xfrm>
            <a:off x="1470865" y="3943516"/>
            <a:ext cx="6829424" cy="2665411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4" name="Shape 94"/>
          <p:cNvSpPr/>
          <p:nvPr/>
        </p:nvSpPr>
        <p:spPr>
          <a:xfrm rot="-2742180">
            <a:off x="1932638" y="4678640"/>
            <a:ext cx="1219200" cy="70422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4343"/>
          </a:solidFill>
          <a:ln w="15875" cap="rnd" cmpd="sng">
            <a:solidFill>
              <a:srgbClr val="00518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5" name="Shape 95"/>
          <p:cNvSpPr/>
          <p:nvPr/>
        </p:nvSpPr>
        <p:spPr>
          <a:xfrm flipH="1">
            <a:off x="6324599" y="4724400"/>
            <a:ext cx="1359089" cy="70422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15875" cap="rnd" cmpd="sng">
            <a:solidFill>
              <a:srgbClr val="00518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420147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Planificaciones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1435608" y="1417637"/>
            <a:ext cx="7498080" cy="52117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Tenemos 3 / 4 tipos de planificaciones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Extra largo plazo: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La realiza el administrador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Largo plazo: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Se controla el grado de multiprogramación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Mediano plazo: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Se controlan los procesos suspendidos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Corto plazo: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Se controla el grado de multiprocesamiento</a:t>
            </a: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02" name="Shape 102" descr="medium-ter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3810000"/>
            <a:ext cx="7452029" cy="2666999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3" name="Shape 103"/>
          <p:cNvSpPr/>
          <p:nvPr/>
        </p:nvSpPr>
        <p:spPr>
          <a:xfrm>
            <a:off x="1435608" y="3641678"/>
            <a:ext cx="6717792" cy="1006521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4" name="Shape 104"/>
          <p:cNvSpPr/>
          <p:nvPr/>
        </p:nvSpPr>
        <p:spPr>
          <a:xfrm>
            <a:off x="685800" y="4991100"/>
            <a:ext cx="2023295" cy="304799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5" name="Shape 105"/>
          <p:cNvSpPr/>
          <p:nvPr/>
        </p:nvSpPr>
        <p:spPr>
          <a:xfrm>
            <a:off x="7922040" y="4991098"/>
            <a:ext cx="1011647" cy="296838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4800600" y="4960960"/>
            <a:ext cx="1447800" cy="326977"/>
          </a:xfrm>
          <a:prstGeom prst="rect">
            <a:avLst/>
          </a:prstGeom>
          <a:noFill/>
          <a:ln w="76200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325345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PCB</a:t>
            </a:r>
          </a:p>
        </p:txBody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1435608" y="1417637"/>
            <a:ext cx="7498080" cy="52117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Contiene información asociada con cada proceso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ID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Estado del proceso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Contador de programa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Registros de la CPU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Información de planificación de CPU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Información de gestión de memoria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Información contable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Información de estado de E/S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Punteros</a:t>
            </a:r>
          </a:p>
        </p:txBody>
      </p:sp>
    </p:spTree>
    <p:extLst>
      <p:ext uri="{BB962C8B-B14F-4D97-AF65-F5344CB8AC3E}">
        <p14:creationId xmlns:p14="http://schemas.microsoft.com/office/powerpoint/2010/main" val="260938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Colas</a:t>
            </a:r>
          </a:p>
        </p:txBody>
      </p:sp>
      <p:pic>
        <p:nvPicPr>
          <p:cNvPr id="118" name="Shape 118"/>
          <p:cNvPicPr preferRelativeResize="0"/>
          <p:nvPr/>
        </p:nvPicPr>
        <p:blipFill rotWithShape="1">
          <a:blip r:embed="rId3">
            <a:alphaModFix/>
          </a:blip>
          <a:srcRect l="7364" t="517" r="7363" b="1550"/>
          <a:stretch/>
        </p:blipFill>
        <p:spPr>
          <a:xfrm>
            <a:off x="1945200" y="1447800"/>
            <a:ext cx="6004823" cy="5171473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73366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Cambio de contexto</a:t>
            </a: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1435608" y="1417637"/>
            <a:ext cx="7498080" cy="52117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Cuando se cambia el proceso que posee la CPU, el sistema debe salvar el estado del proceso anterior y cargar el estado salvado del nuevo proceso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tiempo que dura una conmutación de contexto es un gasto extra; el sistema no hace nada útil durante la conmutación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Este tiempo es Overhead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 tratará de minimizar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tiempo requerido para la conmutación depende del soporte del procesador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cambio de contexto puede realizarse para cambiar de proceso, pero también para atender una interrupción, permitiendo que el proceso original continúe</a:t>
            </a: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5490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Cambio de contexto</a:t>
            </a:r>
          </a:p>
        </p:txBody>
      </p:sp>
      <p:pic>
        <p:nvPicPr>
          <p:cNvPr id="130" name="Shape 130"/>
          <p:cNvPicPr preferRelativeResize="0"/>
          <p:nvPr/>
        </p:nvPicPr>
        <p:blipFill rotWithShape="1">
          <a:blip r:embed="rId3">
            <a:alphaModFix/>
          </a:blip>
          <a:srcRect l="4802" t="873" r="4801" b="290"/>
          <a:stretch/>
        </p:blipFill>
        <p:spPr>
          <a:xfrm>
            <a:off x="1676400" y="1264554"/>
            <a:ext cx="6629400" cy="5436143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103625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Hilos</a:t>
            </a:r>
          </a:p>
        </p:txBody>
      </p:sp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1435608" y="1417637"/>
            <a:ext cx="7498080" cy="52117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Un </a:t>
            </a: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hilo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es una unidad básica de utilización de la CPU y consiste en un juego de registros y un espacio de pila. Es también conocido como </a:t>
            </a: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proceso ligero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Comparte el </a:t>
            </a: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código, los datos y los recursos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con sus hilos pares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Una tarea (o </a:t>
            </a:r>
            <a:r>
              <a:rPr lang="es-AR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proceso pesado</a:t>
            </a: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) está formada por uno o más hilos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Generalmente, un hilo sólo puede pertenecer a una tarea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Al compartir recursos, pueden comunicarse sin usar ningún mecanismo de comunicación inter-proceso del SO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conmutación de contexto es más rápida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No hay protección entre hilos. Un hilo puede escribir en la pila de otro hilo del mismo proceso</a:t>
            </a: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106922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 dirty="0" smtClean="0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Hilos y Procesos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2133600" y="1763713"/>
            <a:ext cx="1060450" cy="1506537"/>
            <a:chOff x="1344" y="1111"/>
            <a:chExt cx="668" cy="949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1345" y="1111"/>
              <a:ext cx="622" cy="622"/>
            </a:xfrm>
            <a:prstGeom prst="rect">
              <a:avLst/>
            </a:prstGeom>
            <a:solidFill>
              <a:srgbClr val="CCFFFF"/>
            </a:solidFill>
            <a:ln w="12699">
              <a:miter lim="800000"/>
              <a:headEnd/>
              <a:tailEnd/>
            </a:ln>
            <a:effectLst/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wrap="none" anchor="ctr">
              <a:flatTx/>
            </a:bodyPr>
            <a:lstStyle/>
            <a:p>
              <a:endParaRPr lang="es-AR"/>
            </a:p>
          </p:txBody>
        </p:sp>
        <p:sp>
          <p:nvSpPr>
            <p:cNvPr id="7" name="Freeform 12"/>
            <p:cNvSpPr>
              <a:spLocks/>
            </p:cNvSpPr>
            <p:nvPr/>
          </p:nvSpPr>
          <p:spPr bwMode="auto">
            <a:xfrm>
              <a:off x="1639" y="1207"/>
              <a:ext cx="101" cy="433"/>
            </a:xfrm>
            <a:custGeom>
              <a:avLst/>
              <a:gdLst/>
              <a:ahLst/>
              <a:cxnLst>
                <a:cxn ang="0">
                  <a:pos x="50" y="0"/>
                </a:cxn>
                <a:cxn ang="0">
                  <a:pos x="70" y="7"/>
                </a:cxn>
                <a:cxn ang="0">
                  <a:pos x="86" y="16"/>
                </a:cxn>
                <a:cxn ang="0">
                  <a:pos x="98" y="29"/>
                </a:cxn>
                <a:cxn ang="0">
                  <a:pos x="100" y="38"/>
                </a:cxn>
                <a:cxn ang="0">
                  <a:pos x="98" y="48"/>
                </a:cxn>
                <a:cxn ang="0">
                  <a:pos x="92" y="60"/>
                </a:cxn>
                <a:cxn ang="0">
                  <a:pos x="78" y="79"/>
                </a:cxn>
                <a:cxn ang="0">
                  <a:pos x="64" y="98"/>
                </a:cxn>
                <a:cxn ang="0">
                  <a:pos x="45" y="120"/>
                </a:cxn>
                <a:cxn ang="0">
                  <a:pos x="28" y="139"/>
                </a:cxn>
                <a:cxn ang="0">
                  <a:pos x="14" y="161"/>
                </a:cxn>
                <a:cxn ang="0">
                  <a:pos x="3" y="177"/>
                </a:cxn>
                <a:cxn ang="0">
                  <a:pos x="0" y="193"/>
                </a:cxn>
                <a:cxn ang="0">
                  <a:pos x="5" y="202"/>
                </a:cxn>
                <a:cxn ang="0">
                  <a:pos x="17" y="208"/>
                </a:cxn>
                <a:cxn ang="0">
                  <a:pos x="31" y="215"/>
                </a:cxn>
                <a:cxn ang="0">
                  <a:pos x="50" y="218"/>
                </a:cxn>
                <a:cxn ang="0">
                  <a:pos x="67" y="221"/>
                </a:cxn>
                <a:cxn ang="0">
                  <a:pos x="84" y="224"/>
                </a:cxn>
                <a:cxn ang="0">
                  <a:pos x="95" y="230"/>
                </a:cxn>
                <a:cxn ang="0">
                  <a:pos x="98" y="240"/>
                </a:cxn>
                <a:cxn ang="0">
                  <a:pos x="95" y="252"/>
                </a:cxn>
                <a:cxn ang="0">
                  <a:pos x="84" y="271"/>
                </a:cxn>
                <a:cxn ang="0">
                  <a:pos x="70" y="290"/>
                </a:cxn>
                <a:cxn ang="0">
                  <a:pos x="53" y="312"/>
                </a:cxn>
                <a:cxn ang="0">
                  <a:pos x="33" y="331"/>
                </a:cxn>
                <a:cxn ang="0">
                  <a:pos x="19" y="350"/>
                </a:cxn>
                <a:cxn ang="0">
                  <a:pos x="5" y="369"/>
                </a:cxn>
                <a:cxn ang="0">
                  <a:pos x="0" y="382"/>
                </a:cxn>
                <a:cxn ang="0">
                  <a:pos x="0" y="394"/>
                </a:cxn>
                <a:cxn ang="0">
                  <a:pos x="3" y="404"/>
                </a:cxn>
                <a:cxn ang="0">
                  <a:pos x="14" y="416"/>
                </a:cxn>
                <a:cxn ang="0">
                  <a:pos x="31" y="426"/>
                </a:cxn>
                <a:cxn ang="0">
                  <a:pos x="50" y="432"/>
                </a:cxn>
              </a:cxnLst>
              <a:rect l="0" t="0" r="r" b="b"/>
              <a:pathLst>
                <a:path w="101" h="433">
                  <a:moveTo>
                    <a:pt x="50" y="0"/>
                  </a:moveTo>
                  <a:lnTo>
                    <a:pt x="70" y="7"/>
                  </a:lnTo>
                  <a:lnTo>
                    <a:pt x="86" y="16"/>
                  </a:lnTo>
                  <a:lnTo>
                    <a:pt x="98" y="29"/>
                  </a:lnTo>
                  <a:lnTo>
                    <a:pt x="100" y="38"/>
                  </a:lnTo>
                  <a:lnTo>
                    <a:pt x="98" y="48"/>
                  </a:lnTo>
                  <a:lnTo>
                    <a:pt x="92" y="60"/>
                  </a:lnTo>
                  <a:lnTo>
                    <a:pt x="78" y="79"/>
                  </a:lnTo>
                  <a:lnTo>
                    <a:pt x="64" y="98"/>
                  </a:lnTo>
                  <a:lnTo>
                    <a:pt x="45" y="120"/>
                  </a:lnTo>
                  <a:lnTo>
                    <a:pt x="28" y="139"/>
                  </a:lnTo>
                  <a:lnTo>
                    <a:pt x="14" y="161"/>
                  </a:lnTo>
                  <a:lnTo>
                    <a:pt x="3" y="177"/>
                  </a:lnTo>
                  <a:lnTo>
                    <a:pt x="0" y="193"/>
                  </a:lnTo>
                  <a:lnTo>
                    <a:pt x="5" y="202"/>
                  </a:lnTo>
                  <a:lnTo>
                    <a:pt x="17" y="208"/>
                  </a:lnTo>
                  <a:lnTo>
                    <a:pt x="31" y="215"/>
                  </a:lnTo>
                  <a:lnTo>
                    <a:pt x="50" y="218"/>
                  </a:lnTo>
                  <a:lnTo>
                    <a:pt x="67" y="221"/>
                  </a:lnTo>
                  <a:lnTo>
                    <a:pt x="84" y="224"/>
                  </a:lnTo>
                  <a:lnTo>
                    <a:pt x="95" y="230"/>
                  </a:lnTo>
                  <a:lnTo>
                    <a:pt x="98" y="240"/>
                  </a:lnTo>
                  <a:lnTo>
                    <a:pt x="95" y="252"/>
                  </a:lnTo>
                  <a:lnTo>
                    <a:pt x="84" y="271"/>
                  </a:lnTo>
                  <a:lnTo>
                    <a:pt x="70" y="290"/>
                  </a:lnTo>
                  <a:lnTo>
                    <a:pt x="53" y="312"/>
                  </a:lnTo>
                  <a:lnTo>
                    <a:pt x="33" y="331"/>
                  </a:lnTo>
                  <a:lnTo>
                    <a:pt x="19" y="350"/>
                  </a:lnTo>
                  <a:lnTo>
                    <a:pt x="5" y="369"/>
                  </a:lnTo>
                  <a:lnTo>
                    <a:pt x="0" y="382"/>
                  </a:lnTo>
                  <a:lnTo>
                    <a:pt x="0" y="394"/>
                  </a:lnTo>
                  <a:lnTo>
                    <a:pt x="3" y="404"/>
                  </a:lnTo>
                  <a:lnTo>
                    <a:pt x="14" y="416"/>
                  </a:lnTo>
                  <a:lnTo>
                    <a:pt x="31" y="426"/>
                  </a:lnTo>
                  <a:lnTo>
                    <a:pt x="50" y="432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Rectangle 19"/>
            <p:cNvSpPr>
              <a:spLocks noChangeArrowheads="1"/>
            </p:cNvSpPr>
            <p:nvPr/>
          </p:nvSpPr>
          <p:spPr bwMode="auto">
            <a:xfrm>
              <a:off x="1344" y="1734"/>
              <a:ext cx="66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s-MX" sz="1400">
                  <a:effectLst/>
                  <a:latin typeface="Arial" pitchFamily="34" charset="0"/>
                </a:rPr>
                <a:t>un proceso</a:t>
              </a:r>
            </a:p>
            <a:p>
              <a:r>
                <a:rPr lang="es-MX" sz="1400">
                  <a:effectLst/>
                  <a:latin typeface="Arial" pitchFamily="34" charset="0"/>
                </a:rPr>
                <a:t>un hilo</a:t>
              </a:r>
            </a:p>
          </p:txBody>
        </p:sp>
      </p:grpSp>
      <p:grpSp>
        <p:nvGrpSpPr>
          <p:cNvPr id="9" name="Group 30"/>
          <p:cNvGrpSpPr>
            <a:grpSpLocks/>
          </p:cNvGrpSpPr>
          <p:nvPr/>
        </p:nvGrpSpPr>
        <p:grpSpPr bwMode="auto">
          <a:xfrm>
            <a:off x="1106488" y="4344988"/>
            <a:ext cx="2568575" cy="1492250"/>
            <a:chOff x="697" y="2737"/>
            <a:chExt cx="1618" cy="940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97" y="2737"/>
              <a:ext cx="622" cy="622"/>
            </a:xfrm>
            <a:prstGeom prst="rect">
              <a:avLst/>
            </a:prstGeom>
            <a:solidFill>
              <a:srgbClr val="CCFFFF"/>
            </a:solidFill>
            <a:ln w="12699">
              <a:miter lim="800000"/>
              <a:headEnd/>
              <a:tailEnd/>
            </a:ln>
            <a:effectLst/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wrap="none" anchor="ctr">
              <a:flatTx/>
            </a:bodyPr>
            <a:lstStyle/>
            <a:p>
              <a:endParaRPr lang="es-AR"/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693" y="2737"/>
              <a:ext cx="622" cy="622"/>
            </a:xfrm>
            <a:prstGeom prst="rect">
              <a:avLst/>
            </a:prstGeom>
            <a:solidFill>
              <a:srgbClr val="CCFFFF"/>
            </a:solidFill>
            <a:ln w="12699">
              <a:miter lim="800000"/>
              <a:headEnd/>
              <a:tailEnd/>
            </a:ln>
            <a:effectLst/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wrap="none" anchor="ctr">
              <a:flatTx/>
            </a:bodyPr>
            <a:lstStyle/>
            <a:p>
              <a:endParaRPr lang="es-AR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1938" y="2831"/>
              <a:ext cx="101" cy="435"/>
            </a:xfrm>
            <a:custGeom>
              <a:avLst/>
              <a:gdLst/>
              <a:ahLst/>
              <a:cxnLst>
                <a:cxn ang="0">
                  <a:pos x="50" y="0"/>
                </a:cxn>
                <a:cxn ang="0">
                  <a:pos x="71" y="6"/>
                </a:cxn>
                <a:cxn ang="0">
                  <a:pos x="89" y="16"/>
                </a:cxn>
                <a:cxn ang="0">
                  <a:pos x="96" y="27"/>
                </a:cxn>
                <a:cxn ang="0">
                  <a:pos x="100" y="37"/>
                </a:cxn>
                <a:cxn ang="0">
                  <a:pos x="96" y="47"/>
                </a:cxn>
                <a:cxn ang="0">
                  <a:pos x="89" y="63"/>
                </a:cxn>
                <a:cxn ang="0">
                  <a:pos x="79" y="79"/>
                </a:cxn>
                <a:cxn ang="0">
                  <a:pos x="46" y="121"/>
                </a:cxn>
                <a:cxn ang="0">
                  <a:pos x="32" y="141"/>
                </a:cxn>
                <a:cxn ang="0">
                  <a:pos x="18" y="162"/>
                </a:cxn>
                <a:cxn ang="0">
                  <a:pos x="7" y="178"/>
                </a:cxn>
                <a:cxn ang="0">
                  <a:pos x="4" y="194"/>
                </a:cxn>
                <a:cxn ang="0">
                  <a:pos x="7" y="204"/>
                </a:cxn>
                <a:cxn ang="0">
                  <a:pos x="18" y="209"/>
                </a:cxn>
                <a:cxn ang="0">
                  <a:pos x="32" y="215"/>
                </a:cxn>
                <a:cxn ang="0">
                  <a:pos x="50" y="220"/>
                </a:cxn>
                <a:cxn ang="0">
                  <a:pos x="68" y="220"/>
                </a:cxn>
                <a:cxn ang="0">
                  <a:pos x="82" y="225"/>
                </a:cxn>
                <a:cxn ang="0">
                  <a:pos x="93" y="230"/>
                </a:cxn>
                <a:cxn ang="0">
                  <a:pos x="96" y="241"/>
                </a:cxn>
                <a:cxn ang="0">
                  <a:pos x="93" y="256"/>
                </a:cxn>
                <a:cxn ang="0">
                  <a:pos x="82" y="272"/>
                </a:cxn>
                <a:cxn ang="0">
                  <a:pos x="68" y="293"/>
                </a:cxn>
                <a:cxn ang="0">
                  <a:pos x="54" y="314"/>
                </a:cxn>
                <a:cxn ang="0">
                  <a:pos x="22" y="356"/>
                </a:cxn>
                <a:cxn ang="0">
                  <a:pos x="11" y="371"/>
                </a:cxn>
                <a:cxn ang="0">
                  <a:pos x="4" y="387"/>
                </a:cxn>
                <a:cxn ang="0">
                  <a:pos x="0" y="397"/>
                </a:cxn>
                <a:cxn ang="0">
                  <a:pos x="4" y="408"/>
                </a:cxn>
                <a:cxn ang="0">
                  <a:pos x="11" y="418"/>
                </a:cxn>
                <a:cxn ang="0">
                  <a:pos x="29" y="429"/>
                </a:cxn>
                <a:cxn ang="0">
                  <a:pos x="50" y="434"/>
                </a:cxn>
              </a:cxnLst>
              <a:rect l="0" t="0" r="r" b="b"/>
              <a:pathLst>
                <a:path w="101" h="435">
                  <a:moveTo>
                    <a:pt x="50" y="0"/>
                  </a:moveTo>
                  <a:lnTo>
                    <a:pt x="71" y="6"/>
                  </a:lnTo>
                  <a:lnTo>
                    <a:pt x="89" y="16"/>
                  </a:lnTo>
                  <a:lnTo>
                    <a:pt x="96" y="27"/>
                  </a:lnTo>
                  <a:lnTo>
                    <a:pt x="100" y="37"/>
                  </a:lnTo>
                  <a:lnTo>
                    <a:pt x="96" y="47"/>
                  </a:lnTo>
                  <a:lnTo>
                    <a:pt x="89" y="63"/>
                  </a:lnTo>
                  <a:lnTo>
                    <a:pt x="79" y="79"/>
                  </a:lnTo>
                  <a:lnTo>
                    <a:pt x="46" y="121"/>
                  </a:lnTo>
                  <a:lnTo>
                    <a:pt x="32" y="141"/>
                  </a:lnTo>
                  <a:lnTo>
                    <a:pt x="18" y="162"/>
                  </a:lnTo>
                  <a:lnTo>
                    <a:pt x="7" y="178"/>
                  </a:lnTo>
                  <a:lnTo>
                    <a:pt x="4" y="194"/>
                  </a:lnTo>
                  <a:lnTo>
                    <a:pt x="7" y="204"/>
                  </a:lnTo>
                  <a:lnTo>
                    <a:pt x="18" y="209"/>
                  </a:lnTo>
                  <a:lnTo>
                    <a:pt x="32" y="215"/>
                  </a:lnTo>
                  <a:lnTo>
                    <a:pt x="50" y="220"/>
                  </a:lnTo>
                  <a:lnTo>
                    <a:pt x="68" y="220"/>
                  </a:lnTo>
                  <a:lnTo>
                    <a:pt x="82" y="225"/>
                  </a:lnTo>
                  <a:lnTo>
                    <a:pt x="93" y="230"/>
                  </a:lnTo>
                  <a:lnTo>
                    <a:pt x="96" y="241"/>
                  </a:lnTo>
                  <a:lnTo>
                    <a:pt x="93" y="256"/>
                  </a:lnTo>
                  <a:lnTo>
                    <a:pt x="82" y="272"/>
                  </a:lnTo>
                  <a:lnTo>
                    <a:pt x="68" y="293"/>
                  </a:lnTo>
                  <a:lnTo>
                    <a:pt x="54" y="314"/>
                  </a:lnTo>
                  <a:lnTo>
                    <a:pt x="22" y="356"/>
                  </a:lnTo>
                  <a:lnTo>
                    <a:pt x="11" y="371"/>
                  </a:lnTo>
                  <a:lnTo>
                    <a:pt x="4" y="387"/>
                  </a:lnTo>
                  <a:lnTo>
                    <a:pt x="0" y="397"/>
                  </a:lnTo>
                  <a:lnTo>
                    <a:pt x="4" y="408"/>
                  </a:lnTo>
                  <a:lnTo>
                    <a:pt x="11" y="418"/>
                  </a:lnTo>
                  <a:lnTo>
                    <a:pt x="29" y="429"/>
                  </a:lnTo>
                  <a:lnTo>
                    <a:pt x="50" y="434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942" y="2831"/>
              <a:ext cx="101" cy="435"/>
            </a:xfrm>
            <a:custGeom>
              <a:avLst/>
              <a:gdLst/>
              <a:ahLst/>
              <a:cxnLst>
                <a:cxn ang="0">
                  <a:pos x="51" y="0"/>
                </a:cxn>
                <a:cxn ang="0">
                  <a:pos x="70" y="6"/>
                </a:cxn>
                <a:cxn ang="0">
                  <a:pos x="86" y="16"/>
                </a:cxn>
                <a:cxn ang="0">
                  <a:pos x="94" y="21"/>
                </a:cxn>
                <a:cxn ang="0">
                  <a:pos x="98" y="27"/>
                </a:cxn>
                <a:cxn ang="0">
                  <a:pos x="100" y="37"/>
                </a:cxn>
                <a:cxn ang="0">
                  <a:pos x="98" y="47"/>
                </a:cxn>
                <a:cxn ang="0">
                  <a:pos x="96" y="53"/>
                </a:cxn>
                <a:cxn ang="0">
                  <a:pos x="92" y="63"/>
                </a:cxn>
                <a:cxn ang="0">
                  <a:pos x="79" y="79"/>
                </a:cxn>
                <a:cxn ang="0">
                  <a:pos x="64" y="100"/>
                </a:cxn>
                <a:cxn ang="0">
                  <a:pos x="47" y="121"/>
                </a:cxn>
                <a:cxn ang="0">
                  <a:pos x="30" y="141"/>
                </a:cxn>
                <a:cxn ang="0">
                  <a:pos x="15" y="162"/>
                </a:cxn>
                <a:cxn ang="0">
                  <a:pos x="6" y="178"/>
                </a:cxn>
                <a:cxn ang="0">
                  <a:pos x="4" y="188"/>
                </a:cxn>
                <a:cxn ang="0">
                  <a:pos x="2" y="194"/>
                </a:cxn>
                <a:cxn ang="0">
                  <a:pos x="4" y="199"/>
                </a:cxn>
                <a:cxn ang="0">
                  <a:pos x="6" y="204"/>
                </a:cxn>
                <a:cxn ang="0">
                  <a:pos x="17" y="209"/>
                </a:cxn>
                <a:cxn ang="0">
                  <a:pos x="32" y="215"/>
                </a:cxn>
                <a:cxn ang="0">
                  <a:pos x="51" y="220"/>
                </a:cxn>
                <a:cxn ang="0">
                  <a:pos x="68" y="220"/>
                </a:cxn>
                <a:cxn ang="0">
                  <a:pos x="83" y="225"/>
                </a:cxn>
                <a:cxn ang="0">
                  <a:pos x="94" y="230"/>
                </a:cxn>
                <a:cxn ang="0">
                  <a:pos x="96" y="235"/>
                </a:cxn>
                <a:cxn ang="0">
                  <a:pos x="98" y="241"/>
                </a:cxn>
                <a:cxn ang="0">
                  <a:pos x="98" y="246"/>
                </a:cxn>
                <a:cxn ang="0">
                  <a:pos x="94" y="256"/>
                </a:cxn>
                <a:cxn ang="0">
                  <a:pos x="85" y="272"/>
                </a:cxn>
                <a:cxn ang="0">
                  <a:pos x="70" y="293"/>
                </a:cxn>
                <a:cxn ang="0">
                  <a:pos x="53" y="314"/>
                </a:cxn>
                <a:cxn ang="0">
                  <a:pos x="36" y="335"/>
                </a:cxn>
                <a:cxn ang="0">
                  <a:pos x="21" y="356"/>
                </a:cxn>
                <a:cxn ang="0">
                  <a:pos x="8" y="371"/>
                </a:cxn>
                <a:cxn ang="0">
                  <a:pos x="4" y="382"/>
                </a:cxn>
                <a:cxn ang="0">
                  <a:pos x="2" y="387"/>
                </a:cxn>
                <a:cxn ang="0">
                  <a:pos x="0" y="397"/>
                </a:cxn>
                <a:cxn ang="0">
                  <a:pos x="2" y="408"/>
                </a:cxn>
                <a:cxn ang="0">
                  <a:pos x="8" y="413"/>
                </a:cxn>
                <a:cxn ang="0">
                  <a:pos x="13" y="418"/>
                </a:cxn>
                <a:cxn ang="0">
                  <a:pos x="30" y="429"/>
                </a:cxn>
                <a:cxn ang="0">
                  <a:pos x="51" y="434"/>
                </a:cxn>
              </a:cxnLst>
              <a:rect l="0" t="0" r="r" b="b"/>
              <a:pathLst>
                <a:path w="101" h="435">
                  <a:moveTo>
                    <a:pt x="51" y="0"/>
                  </a:moveTo>
                  <a:lnTo>
                    <a:pt x="70" y="6"/>
                  </a:lnTo>
                  <a:lnTo>
                    <a:pt x="86" y="16"/>
                  </a:lnTo>
                  <a:lnTo>
                    <a:pt x="94" y="21"/>
                  </a:lnTo>
                  <a:lnTo>
                    <a:pt x="98" y="27"/>
                  </a:lnTo>
                  <a:lnTo>
                    <a:pt x="100" y="37"/>
                  </a:lnTo>
                  <a:lnTo>
                    <a:pt x="98" y="47"/>
                  </a:lnTo>
                  <a:lnTo>
                    <a:pt x="96" y="53"/>
                  </a:lnTo>
                  <a:lnTo>
                    <a:pt x="92" y="63"/>
                  </a:lnTo>
                  <a:lnTo>
                    <a:pt x="79" y="79"/>
                  </a:lnTo>
                  <a:lnTo>
                    <a:pt x="64" y="100"/>
                  </a:lnTo>
                  <a:lnTo>
                    <a:pt x="47" y="121"/>
                  </a:lnTo>
                  <a:lnTo>
                    <a:pt x="30" y="141"/>
                  </a:lnTo>
                  <a:lnTo>
                    <a:pt x="15" y="162"/>
                  </a:lnTo>
                  <a:lnTo>
                    <a:pt x="6" y="178"/>
                  </a:lnTo>
                  <a:lnTo>
                    <a:pt x="4" y="188"/>
                  </a:lnTo>
                  <a:lnTo>
                    <a:pt x="2" y="194"/>
                  </a:lnTo>
                  <a:lnTo>
                    <a:pt x="4" y="199"/>
                  </a:lnTo>
                  <a:lnTo>
                    <a:pt x="6" y="204"/>
                  </a:lnTo>
                  <a:lnTo>
                    <a:pt x="17" y="209"/>
                  </a:lnTo>
                  <a:lnTo>
                    <a:pt x="32" y="215"/>
                  </a:lnTo>
                  <a:lnTo>
                    <a:pt x="51" y="220"/>
                  </a:lnTo>
                  <a:lnTo>
                    <a:pt x="68" y="220"/>
                  </a:lnTo>
                  <a:lnTo>
                    <a:pt x="83" y="225"/>
                  </a:lnTo>
                  <a:lnTo>
                    <a:pt x="94" y="230"/>
                  </a:lnTo>
                  <a:lnTo>
                    <a:pt x="96" y="235"/>
                  </a:lnTo>
                  <a:lnTo>
                    <a:pt x="98" y="241"/>
                  </a:lnTo>
                  <a:lnTo>
                    <a:pt x="98" y="246"/>
                  </a:lnTo>
                  <a:lnTo>
                    <a:pt x="94" y="256"/>
                  </a:lnTo>
                  <a:lnTo>
                    <a:pt x="85" y="272"/>
                  </a:lnTo>
                  <a:lnTo>
                    <a:pt x="70" y="293"/>
                  </a:lnTo>
                  <a:lnTo>
                    <a:pt x="53" y="314"/>
                  </a:lnTo>
                  <a:lnTo>
                    <a:pt x="36" y="335"/>
                  </a:lnTo>
                  <a:lnTo>
                    <a:pt x="21" y="356"/>
                  </a:lnTo>
                  <a:lnTo>
                    <a:pt x="8" y="371"/>
                  </a:lnTo>
                  <a:lnTo>
                    <a:pt x="4" y="382"/>
                  </a:lnTo>
                  <a:lnTo>
                    <a:pt x="2" y="387"/>
                  </a:lnTo>
                  <a:lnTo>
                    <a:pt x="0" y="397"/>
                  </a:lnTo>
                  <a:lnTo>
                    <a:pt x="2" y="408"/>
                  </a:lnTo>
                  <a:lnTo>
                    <a:pt x="8" y="413"/>
                  </a:lnTo>
                  <a:lnTo>
                    <a:pt x="13" y="418"/>
                  </a:lnTo>
                  <a:lnTo>
                    <a:pt x="30" y="429"/>
                  </a:lnTo>
                  <a:lnTo>
                    <a:pt x="51" y="434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Rectangle 20"/>
            <p:cNvSpPr>
              <a:spLocks noChangeArrowheads="1"/>
            </p:cNvSpPr>
            <p:nvPr/>
          </p:nvSpPr>
          <p:spPr bwMode="auto">
            <a:xfrm>
              <a:off x="1020" y="3351"/>
              <a:ext cx="1065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s-MX" sz="1400">
                  <a:effectLst/>
                  <a:latin typeface="Arial" pitchFamily="34" charset="0"/>
                </a:rPr>
                <a:t>varios procesos</a:t>
              </a:r>
            </a:p>
            <a:p>
              <a:pPr algn="ctr"/>
              <a:r>
                <a:rPr lang="es-MX" sz="1400">
                  <a:effectLst/>
                  <a:latin typeface="Arial" pitchFamily="34" charset="0"/>
                </a:rPr>
                <a:t>un hilo por proceso</a:t>
              </a:r>
            </a:p>
          </p:txBody>
        </p:sp>
      </p:grpSp>
      <p:grpSp>
        <p:nvGrpSpPr>
          <p:cNvPr id="15" name="Group 31"/>
          <p:cNvGrpSpPr>
            <a:grpSpLocks/>
          </p:cNvGrpSpPr>
          <p:nvPr/>
        </p:nvGrpSpPr>
        <p:grpSpPr bwMode="auto">
          <a:xfrm>
            <a:off x="5313363" y="4344988"/>
            <a:ext cx="2536825" cy="1506537"/>
            <a:chOff x="3347" y="2737"/>
            <a:chExt cx="1598" cy="949"/>
          </a:xfrm>
        </p:grpSpPr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3347" y="2737"/>
              <a:ext cx="622" cy="622"/>
            </a:xfrm>
            <a:prstGeom prst="rect">
              <a:avLst/>
            </a:prstGeom>
            <a:solidFill>
              <a:srgbClr val="CCFFFF"/>
            </a:solidFill>
            <a:ln w="12699">
              <a:miter lim="800000"/>
              <a:headEnd/>
              <a:tailEnd/>
            </a:ln>
            <a:effectLst/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wrap="none" anchor="ctr">
              <a:flatTx/>
            </a:bodyPr>
            <a:lstStyle/>
            <a:p>
              <a:endParaRPr lang="es-AR"/>
            </a:p>
          </p:txBody>
        </p:sp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4323" y="2737"/>
              <a:ext cx="622" cy="622"/>
            </a:xfrm>
            <a:prstGeom prst="rect">
              <a:avLst/>
            </a:prstGeom>
            <a:solidFill>
              <a:srgbClr val="CCFFFF"/>
            </a:solidFill>
            <a:ln w="12699">
              <a:miter lim="800000"/>
              <a:headEnd/>
              <a:tailEnd/>
            </a:ln>
            <a:effectLst/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wrap="none" anchor="ctr">
              <a:flatTx/>
            </a:bodyPr>
            <a:lstStyle/>
            <a:p>
              <a:endParaRPr lang="es-AR"/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4377" y="2831"/>
              <a:ext cx="100" cy="435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85" y="16"/>
                </a:cxn>
                <a:cxn ang="0">
                  <a:pos x="99" y="27"/>
                </a:cxn>
                <a:cxn ang="0">
                  <a:pos x="99" y="47"/>
                </a:cxn>
                <a:cxn ang="0">
                  <a:pos x="92" y="63"/>
                </a:cxn>
                <a:cxn ang="0">
                  <a:pos x="78" y="79"/>
                </a:cxn>
                <a:cxn ang="0">
                  <a:pos x="49" y="121"/>
                </a:cxn>
                <a:cxn ang="0">
                  <a:pos x="14" y="162"/>
                </a:cxn>
                <a:cxn ang="0">
                  <a:pos x="7" y="178"/>
                </a:cxn>
                <a:cxn ang="0">
                  <a:pos x="0" y="194"/>
                </a:cxn>
                <a:cxn ang="0">
                  <a:pos x="7" y="204"/>
                </a:cxn>
                <a:cxn ang="0">
                  <a:pos x="14" y="209"/>
                </a:cxn>
                <a:cxn ang="0">
                  <a:pos x="49" y="220"/>
                </a:cxn>
                <a:cxn ang="0">
                  <a:pos x="85" y="225"/>
                </a:cxn>
                <a:cxn ang="0">
                  <a:pos x="92" y="230"/>
                </a:cxn>
                <a:cxn ang="0">
                  <a:pos x="99" y="241"/>
                </a:cxn>
                <a:cxn ang="0">
                  <a:pos x="92" y="256"/>
                </a:cxn>
                <a:cxn ang="0">
                  <a:pos x="85" y="272"/>
                </a:cxn>
                <a:cxn ang="0">
                  <a:pos x="49" y="314"/>
                </a:cxn>
                <a:cxn ang="0">
                  <a:pos x="21" y="356"/>
                </a:cxn>
                <a:cxn ang="0">
                  <a:pos x="7" y="371"/>
                </a:cxn>
                <a:cxn ang="0">
                  <a:pos x="0" y="387"/>
                </a:cxn>
                <a:cxn ang="0">
                  <a:pos x="0" y="408"/>
                </a:cxn>
                <a:cxn ang="0">
                  <a:pos x="14" y="418"/>
                </a:cxn>
                <a:cxn ang="0">
                  <a:pos x="49" y="434"/>
                </a:cxn>
              </a:cxnLst>
              <a:rect l="0" t="0" r="r" b="b"/>
              <a:pathLst>
                <a:path w="100" h="435">
                  <a:moveTo>
                    <a:pt x="49" y="0"/>
                  </a:moveTo>
                  <a:lnTo>
                    <a:pt x="85" y="16"/>
                  </a:lnTo>
                  <a:lnTo>
                    <a:pt x="99" y="27"/>
                  </a:lnTo>
                  <a:lnTo>
                    <a:pt x="99" y="47"/>
                  </a:lnTo>
                  <a:lnTo>
                    <a:pt x="92" y="63"/>
                  </a:lnTo>
                  <a:lnTo>
                    <a:pt x="78" y="79"/>
                  </a:lnTo>
                  <a:lnTo>
                    <a:pt x="49" y="121"/>
                  </a:lnTo>
                  <a:lnTo>
                    <a:pt x="14" y="162"/>
                  </a:lnTo>
                  <a:lnTo>
                    <a:pt x="7" y="178"/>
                  </a:lnTo>
                  <a:lnTo>
                    <a:pt x="0" y="194"/>
                  </a:lnTo>
                  <a:lnTo>
                    <a:pt x="7" y="204"/>
                  </a:lnTo>
                  <a:lnTo>
                    <a:pt x="14" y="209"/>
                  </a:lnTo>
                  <a:lnTo>
                    <a:pt x="49" y="220"/>
                  </a:lnTo>
                  <a:lnTo>
                    <a:pt x="85" y="225"/>
                  </a:lnTo>
                  <a:lnTo>
                    <a:pt x="92" y="230"/>
                  </a:lnTo>
                  <a:lnTo>
                    <a:pt x="99" y="241"/>
                  </a:lnTo>
                  <a:lnTo>
                    <a:pt x="92" y="256"/>
                  </a:lnTo>
                  <a:lnTo>
                    <a:pt x="85" y="272"/>
                  </a:lnTo>
                  <a:lnTo>
                    <a:pt x="49" y="314"/>
                  </a:lnTo>
                  <a:lnTo>
                    <a:pt x="21" y="356"/>
                  </a:lnTo>
                  <a:lnTo>
                    <a:pt x="7" y="371"/>
                  </a:lnTo>
                  <a:lnTo>
                    <a:pt x="0" y="387"/>
                  </a:lnTo>
                  <a:lnTo>
                    <a:pt x="0" y="408"/>
                  </a:lnTo>
                  <a:lnTo>
                    <a:pt x="14" y="418"/>
                  </a:lnTo>
                  <a:lnTo>
                    <a:pt x="49" y="434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3404" y="2831"/>
              <a:ext cx="93" cy="435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65" y="6"/>
                </a:cxn>
                <a:cxn ang="0">
                  <a:pos x="87" y="16"/>
                </a:cxn>
                <a:cxn ang="0">
                  <a:pos x="92" y="27"/>
                </a:cxn>
                <a:cxn ang="0">
                  <a:pos x="92" y="47"/>
                </a:cxn>
                <a:cxn ang="0">
                  <a:pos x="87" y="63"/>
                </a:cxn>
                <a:cxn ang="0">
                  <a:pos x="76" y="79"/>
                </a:cxn>
                <a:cxn ang="0">
                  <a:pos x="44" y="121"/>
                </a:cxn>
                <a:cxn ang="0">
                  <a:pos x="17" y="162"/>
                </a:cxn>
                <a:cxn ang="0">
                  <a:pos x="6" y="178"/>
                </a:cxn>
                <a:cxn ang="0">
                  <a:pos x="0" y="194"/>
                </a:cxn>
                <a:cxn ang="0">
                  <a:pos x="6" y="204"/>
                </a:cxn>
                <a:cxn ang="0">
                  <a:pos x="17" y="209"/>
                </a:cxn>
                <a:cxn ang="0">
                  <a:pos x="49" y="220"/>
                </a:cxn>
                <a:cxn ang="0">
                  <a:pos x="76" y="225"/>
                </a:cxn>
                <a:cxn ang="0">
                  <a:pos x="87" y="230"/>
                </a:cxn>
                <a:cxn ang="0">
                  <a:pos x="92" y="241"/>
                </a:cxn>
                <a:cxn ang="0">
                  <a:pos x="87" y="256"/>
                </a:cxn>
                <a:cxn ang="0">
                  <a:pos x="81" y="272"/>
                </a:cxn>
                <a:cxn ang="0">
                  <a:pos x="49" y="314"/>
                </a:cxn>
                <a:cxn ang="0">
                  <a:pos x="17" y="356"/>
                </a:cxn>
                <a:cxn ang="0">
                  <a:pos x="6" y="371"/>
                </a:cxn>
                <a:cxn ang="0">
                  <a:pos x="0" y="387"/>
                </a:cxn>
                <a:cxn ang="0">
                  <a:pos x="0" y="408"/>
                </a:cxn>
                <a:cxn ang="0">
                  <a:pos x="6" y="418"/>
                </a:cxn>
                <a:cxn ang="0">
                  <a:pos x="22" y="429"/>
                </a:cxn>
                <a:cxn ang="0">
                  <a:pos x="44" y="434"/>
                </a:cxn>
              </a:cxnLst>
              <a:rect l="0" t="0" r="r" b="b"/>
              <a:pathLst>
                <a:path w="93" h="435">
                  <a:moveTo>
                    <a:pt x="44" y="0"/>
                  </a:moveTo>
                  <a:lnTo>
                    <a:pt x="65" y="6"/>
                  </a:lnTo>
                  <a:lnTo>
                    <a:pt x="87" y="16"/>
                  </a:lnTo>
                  <a:lnTo>
                    <a:pt x="92" y="27"/>
                  </a:lnTo>
                  <a:lnTo>
                    <a:pt x="92" y="47"/>
                  </a:lnTo>
                  <a:lnTo>
                    <a:pt x="87" y="63"/>
                  </a:lnTo>
                  <a:lnTo>
                    <a:pt x="76" y="79"/>
                  </a:lnTo>
                  <a:lnTo>
                    <a:pt x="44" y="121"/>
                  </a:lnTo>
                  <a:lnTo>
                    <a:pt x="17" y="162"/>
                  </a:lnTo>
                  <a:lnTo>
                    <a:pt x="6" y="178"/>
                  </a:lnTo>
                  <a:lnTo>
                    <a:pt x="0" y="194"/>
                  </a:lnTo>
                  <a:lnTo>
                    <a:pt x="6" y="204"/>
                  </a:lnTo>
                  <a:lnTo>
                    <a:pt x="17" y="209"/>
                  </a:lnTo>
                  <a:lnTo>
                    <a:pt x="49" y="220"/>
                  </a:lnTo>
                  <a:lnTo>
                    <a:pt x="76" y="225"/>
                  </a:lnTo>
                  <a:lnTo>
                    <a:pt x="87" y="230"/>
                  </a:lnTo>
                  <a:lnTo>
                    <a:pt x="92" y="241"/>
                  </a:lnTo>
                  <a:lnTo>
                    <a:pt x="87" y="256"/>
                  </a:lnTo>
                  <a:lnTo>
                    <a:pt x="81" y="272"/>
                  </a:lnTo>
                  <a:lnTo>
                    <a:pt x="49" y="314"/>
                  </a:lnTo>
                  <a:lnTo>
                    <a:pt x="17" y="356"/>
                  </a:lnTo>
                  <a:lnTo>
                    <a:pt x="6" y="371"/>
                  </a:lnTo>
                  <a:lnTo>
                    <a:pt x="0" y="387"/>
                  </a:lnTo>
                  <a:lnTo>
                    <a:pt x="0" y="408"/>
                  </a:lnTo>
                  <a:lnTo>
                    <a:pt x="6" y="418"/>
                  </a:lnTo>
                  <a:lnTo>
                    <a:pt x="22" y="429"/>
                  </a:lnTo>
                  <a:lnTo>
                    <a:pt x="44" y="434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3596" y="2831"/>
              <a:ext cx="93" cy="435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69" y="6"/>
                </a:cxn>
                <a:cxn ang="0">
                  <a:pos x="86" y="16"/>
                </a:cxn>
                <a:cxn ang="0">
                  <a:pos x="92" y="27"/>
                </a:cxn>
                <a:cxn ang="0">
                  <a:pos x="92" y="47"/>
                </a:cxn>
                <a:cxn ang="0">
                  <a:pos x="86" y="63"/>
                </a:cxn>
                <a:cxn ang="0">
                  <a:pos x="74" y="79"/>
                </a:cxn>
                <a:cxn ang="0">
                  <a:pos x="46" y="121"/>
                </a:cxn>
                <a:cxn ang="0">
                  <a:pos x="12" y="162"/>
                </a:cxn>
                <a:cxn ang="0">
                  <a:pos x="6" y="178"/>
                </a:cxn>
                <a:cxn ang="0">
                  <a:pos x="0" y="194"/>
                </a:cxn>
                <a:cxn ang="0">
                  <a:pos x="6" y="204"/>
                </a:cxn>
                <a:cxn ang="0">
                  <a:pos x="17" y="209"/>
                </a:cxn>
                <a:cxn ang="0">
                  <a:pos x="46" y="220"/>
                </a:cxn>
                <a:cxn ang="0">
                  <a:pos x="80" y="225"/>
                </a:cxn>
                <a:cxn ang="0">
                  <a:pos x="86" y="230"/>
                </a:cxn>
                <a:cxn ang="0">
                  <a:pos x="92" y="241"/>
                </a:cxn>
                <a:cxn ang="0">
                  <a:pos x="86" y="256"/>
                </a:cxn>
                <a:cxn ang="0">
                  <a:pos x="80" y="272"/>
                </a:cxn>
                <a:cxn ang="0">
                  <a:pos x="46" y="314"/>
                </a:cxn>
                <a:cxn ang="0">
                  <a:pos x="17" y="356"/>
                </a:cxn>
                <a:cxn ang="0">
                  <a:pos x="6" y="371"/>
                </a:cxn>
                <a:cxn ang="0">
                  <a:pos x="0" y="387"/>
                </a:cxn>
                <a:cxn ang="0">
                  <a:pos x="0" y="408"/>
                </a:cxn>
                <a:cxn ang="0">
                  <a:pos x="6" y="418"/>
                </a:cxn>
                <a:cxn ang="0">
                  <a:pos x="23" y="429"/>
                </a:cxn>
                <a:cxn ang="0">
                  <a:pos x="46" y="434"/>
                </a:cxn>
              </a:cxnLst>
              <a:rect l="0" t="0" r="r" b="b"/>
              <a:pathLst>
                <a:path w="93" h="435">
                  <a:moveTo>
                    <a:pt x="46" y="0"/>
                  </a:moveTo>
                  <a:lnTo>
                    <a:pt x="69" y="6"/>
                  </a:lnTo>
                  <a:lnTo>
                    <a:pt x="86" y="16"/>
                  </a:lnTo>
                  <a:lnTo>
                    <a:pt x="92" y="27"/>
                  </a:lnTo>
                  <a:lnTo>
                    <a:pt x="92" y="47"/>
                  </a:lnTo>
                  <a:lnTo>
                    <a:pt x="86" y="63"/>
                  </a:lnTo>
                  <a:lnTo>
                    <a:pt x="74" y="79"/>
                  </a:lnTo>
                  <a:lnTo>
                    <a:pt x="46" y="121"/>
                  </a:lnTo>
                  <a:lnTo>
                    <a:pt x="12" y="162"/>
                  </a:lnTo>
                  <a:lnTo>
                    <a:pt x="6" y="178"/>
                  </a:lnTo>
                  <a:lnTo>
                    <a:pt x="0" y="194"/>
                  </a:lnTo>
                  <a:lnTo>
                    <a:pt x="6" y="204"/>
                  </a:lnTo>
                  <a:lnTo>
                    <a:pt x="17" y="209"/>
                  </a:lnTo>
                  <a:lnTo>
                    <a:pt x="46" y="220"/>
                  </a:lnTo>
                  <a:lnTo>
                    <a:pt x="80" y="225"/>
                  </a:lnTo>
                  <a:lnTo>
                    <a:pt x="86" y="230"/>
                  </a:lnTo>
                  <a:lnTo>
                    <a:pt x="92" y="241"/>
                  </a:lnTo>
                  <a:lnTo>
                    <a:pt x="86" y="256"/>
                  </a:lnTo>
                  <a:lnTo>
                    <a:pt x="80" y="272"/>
                  </a:lnTo>
                  <a:lnTo>
                    <a:pt x="46" y="314"/>
                  </a:lnTo>
                  <a:lnTo>
                    <a:pt x="17" y="356"/>
                  </a:lnTo>
                  <a:lnTo>
                    <a:pt x="6" y="371"/>
                  </a:lnTo>
                  <a:lnTo>
                    <a:pt x="0" y="387"/>
                  </a:lnTo>
                  <a:lnTo>
                    <a:pt x="0" y="408"/>
                  </a:lnTo>
                  <a:lnTo>
                    <a:pt x="6" y="418"/>
                  </a:lnTo>
                  <a:lnTo>
                    <a:pt x="23" y="429"/>
                  </a:lnTo>
                  <a:lnTo>
                    <a:pt x="46" y="434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3789" y="2831"/>
              <a:ext cx="97" cy="435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84" y="16"/>
                </a:cxn>
                <a:cxn ang="0">
                  <a:pos x="96" y="27"/>
                </a:cxn>
                <a:cxn ang="0">
                  <a:pos x="96" y="47"/>
                </a:cxn>
                <a:cxn ang="0">
                  <a:pos x="90" y="63"/>
                </a:cxn>
                <a:cxn ang="0">
                  <a:pos x="78" y="79"/>
                </a:cxn>
                <a:cxn ang="0">
                  <a:pos x="42" y="121"/>
                </a:cxn>
                <a:cxn ang="0">
                  <a:pos x="12" y="162"/>
                </a:cxn>
                <a:cxn ang="0">
                  <a:pos x="6" y="178"/>
                </a:cxn>
                <a:cxn ang="0">
                  <a:pos x="0" y="194"/>
                </a:cxn>
                <a:cxn ang="0">
                  <a:pos x="6" y="204"/>
                </a:cxn>
                <a:cxn ang="0">
                  <a:pos x="18" y="209"/>
                </a:cxn>
                <a:cxn ang="0">
                  <a:pos x="48" y="220"/>
                </a:cxn>
                <a:cxn ang="0">
                  <a:pos x="84" y="225"/>
                </a:cxn>
                <a:cxn ang="0">
                  <a:pos x="90" y="230"/>
                </a:cxn>
                <a:cxn ang="0">
                  <a:pos x="96" y="241"/>
                </a:cxn>
                <a:cxn ang="0">
                  <a:pos x="90" y="256"/>
                </a:cxn>
                <a:cxn ang="0">
                  <a:pos x="84" y="272"/>
                </a:cxn>
                <a:cxn ang="0">
                  <a:pos x="48" y="314"/>
                </a:cxn>
                <a:cxn ang="0">
                  <a:pos x="18" y="356"/>
                </a:cxn>
                <a:cxn ang="0">
                  <a:pos x="6" y="371"/>
                </a:cxn>
                <a:cxn ang="0">
                  <a:pos x="0" y="387"/>
                </a:cxn>
                <a:cxn ang="0">
                  <a:pos x="0" y="408"/>
                </a:cxn>
                <a:cxn ang="0">
                  <a:pos x="6" y="418"/>
                </a:cxn>
                <a:cxn ang="0">
                  <a:pos x="24" y="429"/>
                </a:cxn>
                <a:cxn ang="0">
                  <a:pos x="48" y="434"/>
                </a:cxn>
              </a:cxnLst>
              <a:rect l="0" t="0" r="r" b="b"/>
              <a:pathLst>
                <a:path w="97" h="435">
                  <a:moveTo>
                    <a:pt x="48" y="0"/>
                  </a:moveTo>
                  <a:lnTo>
                    <a:pt x="84" y="16"/>
                  </a:lnTo>
                  <a:lnTo>
                    <a:pt x="96" y="27"/>
                  </a:lnTo>
                  <a:lnTo>
                    <a:pt x="96" y="47"/>
                  </a:lnTo>
                  <a:lnTo>
                    <a:pt x="90" y="63"/>
                  </a:lnTo>
                  <a:lnTo>
                    <a:pt x="78" y="79"/>
                  </a:lnTo>
                  <a:lnTo>
                    <a:pt x="42" y="121"/>
                  </a:lnTo>
                  <a:lnTo>
                    <a:pt x="12" y="162"/>
                  </a:lnTo>
                  <a:lnTo>
                    <a:pt x="6" y="178"/>
                  </a:lnTo>
                  <a:lnTo>
                    <a:pt x="0" y="194"/>
                  </a:lnTo>
                  <a:lnTo>
                    <a:pt x="6" y="204"/>
                  </a:lnTo>
                  <a:lnTo>
                    <a:pt x="18" y="209"/>
                  </a:lnTo>
                  <a:lnTo>
                    <a:pt x="48" y="220"/>
                  </a:lnTo>
                  <a:lnTo>
                    <a:pt x="84" y="225"/>
                  </a:lnTo>
                  <a:lnTo>
                    <a:pt x="90" y="230"/>
                  </a:lnTo>
                  <a:lnTo>
                    <a:pt x="96" y="241"/>
                  </a:lnTo>
                  <a:lnTo>
                    <a:pt x="90" y="256"/>
                  </a:lnTo>
                  <a:lnTo>
                    <a:pt x="84" y="272"/>
                  </a:lnTo>
                  <a:lnTo>
                    <a:pt x="48" y="314"/>
                  </a:lnTo>
                  <a:lnTo>
                    <a:pt x="18" y="356"/>
                  </a:lnTo>
                  <a:lnTo>
                    <a:pt x="6" y="371"/>
                  </a:lnTo>
                  <a:lnTo>
                    <a:pt x="0" y="387"/>
                  </a:lnTo>
                  <a:lnTo>
                    <a:pt x="0" y="408"/>
                  </a:lnTo>
                  <a:lnTo>
                    <a:pt x="6" y="418"/>
                  </a:lnTo>
                  <a:lnTo>
                    <a:pt x="24" y="429"/>
                  </a:lnTo>
                  <a:lnTo>
                    <a:pt x="48" y="434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4759" y="2831"/>
              <a:ext cx="101" cy="435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93" y="16"/>
                </a:cxn>
                <a:cxn ang="0">
                  <a:pos x="100" y="27"/>
                </a:cxn>
                <a:cxn ang="0">
                  <a:pos x="100" y="47"/>
                </a:cxn>
                <a:cxn ang="0">
                  <a:pos x="93" y="63"/>
                </a:cxn>
                <a:cxn ang="0">
                  <a:pos x="85" y="79"/>
                </a:cxn>
                <a:cxn ang="0">
                  <a:pos x="46" y="121"/>
                </a:cxn>
                <a:cxn ang="0">
                  <a:pos x="16" y="162"/>
                </a:cxn>
                <a:cxn ang="0">
                  <a:pos x="8" y="178"/>
                </a:cxn>
                <a:cxn ang="0">
                  <a:pos x="0" y="194"/>
                </a:cxn>
                <a:cxn ang="0">
                  <a:pos x="8" y="204"/>
                </a:cxn>
                <a:cxn ang="0">
                  <a:pos x="16" y="209"/>
                </a:cxn>
                <a:cxn ang="0">
                  <a:pos x="54" y="220"/>
                </a:cxn>
                <a:cxn ang="0">
                  <a:pos x="85" y="225"/>
                </a:cxn>
                <a:cxn ang="0">
                  <a:pos x="93" y="230"/>
                </a:cxn>
                <a:cxn ang="0">
                  <a:pos x="100" y="241"/>
                </a:cxn>
                <a:cxn ang="0">
                  <a:pos x="100" y="256"/>
                </a:cxn>
                <a:cxn ang="0">
                  <a:pos x="85" y="272"/>
                </a:cxn>
                <a:cxn ang="0">
                  <a:pos x="54" y="314"/>
                </a:cxn>
                <a:cxn ang="0">
                  <a:pos x="16" y="356"/>
                </a:cxn>
                <a:cxn ang="0">
                  <a:pos x="8" y="371"/>
                </a:cxn>
                <a:cxn ang="0">
                  <a:pos x="0" y="387"/>
                </a:cxn>
                <a:cxn ang="0">
                  <a:pos x="0" y="408"/>
                </a:cxn>
                <a:cxn ang="0">
                  <a:pos x="16" y="418"/>
                </a:cxn>
                <a:cxn ang="0">
                  <a:pos x="54" y="434"/>
                </a:cxn>
              </a:cxnLst>
              <a:rect l="0" t="0" r="r" b="b"/>
              <a:pathLst>
                <a:path w="101" h="435">
                  <a:moveTo>
                    <a:pt x="54" y="0"/>
                  </a:moveTo>
                  <a:lnTo>
                    <a:pt x="93" y="16"/>
                  </a:lnTo>
                  <a:lnTo>
                    <a:pt x="100" y="27"/>
                  </a:lnTo>
                  <a:lnTo>
                    <a:pt x="100" y="47"/>
                  </a:lnTo>
                  <a:lnTo>
                    <a:pt x="93" y="63"/>
                  </a:lnTo>
                  <a:lnTo>
                    <a:pt x="85" y="79"/>
                  </a:lnTo>
                  <a:lnTo>
                    <a:pt x="46" y="121"/>
                  </a:lnTo>
                  <a:lnTo>
                    <a:pt x="16" y="162"/>
                  </a:lnTo>
                  <a:lnTo>
                    <a:pt x="8" y="178"/>
                  </a:lnTo>
                  <a:lnTo>
                    <a:pt x="0" y="194"/>
                  </a:lnTo>
                  <a:lnTo>
                    <a:pt x="8" y="204"/>
                  </a:lnTo>
                  <a:lnTo>
                    <a:pt x="16" y="209"/>
                  </a:lnTo>
                  <a:lnTo>
                    <a:pt x="54" y="220"/>
                  </a:lnTo>
                  <a:lnTo>
                    <a:pt x="85" y="225"/>
                  </a:lnTo>
                  <a:lnTo>
                    <a:pt x="93" y="230"/>
                  </a:lnTo>
                  <a:lnTo>
                    <a:pt x="100" y="241"/>
                  </a:lnTo>
                  <a:lnTo>
                    <a:pt x="100" y="256"/>
                  </a:lnTo>
                  <a:lnTo>
                    <a:pt x="85" y="272"/>
                  </a:lnTo>
                  <a:lnTo>
                    <a:pt x="54" y="314"/>
                  </a:lnTo>
                  <a:lnTo>
                    <a:pt x="16" y="356"/>
                  </a:lnTo>
                  <a:lnTo>
                    <a:pt x="8" y="371"/>
                  </a:lnTo>
                  <a:lnTo>
                    <a:pt x="0" y="387"/>
                  </a:lnTo>
                  <a:lnTo>
                    <a:pt x="0" y="408"/>
                  </a:lnTo>
                  <a:lnTo>
                    <a:pt x="16" y="418"/>
                  </a:lnTo>
                  <a:lnTo>
                    <a:pt x="54" y="434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4571" y="2831"/>
              <a:ext cx="98" cy="435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82" y="16"/>
                </a:cxn>
                <a:cxn ang="0">
                  <a:pos x="97" y="27"/>
                </a:cxn>
                <a:cxn ang="0">
                  <a:pos x="97" y="47"/>
                </a:cxn>
                <a:cxn ang="0">
                  <a:pos x="89" y="63"/>
                </a:cxn>
                <a:cxn ang="0">
                  <a:pos x="82" y="79"/>
                </a:cxn>
                <a:cxn ang="0">
                  <a:pos x="45" y="121"/>
                </a:cxn>
                <a:cxn ang="0">
                  <a:pos x="15" y="162"/>
                </a:cxn>
                <a:cxn ang="0">
                  <a:pos x="8" y="178"/>
                </a:cxn>
                <a:cxn ang="0">
                  <a:pos x="0" y="194"/>
                </a:cxn>
                <a:cxn ang="0">
                  <a:pos x="8" y="204"/>
                </a:cxn>
                <a:cxn ang="0">
                  <a:pos x="15" y="209"/>
                </a:cxn>
                <a:cxn ang="0">
                  <a:pos x="52" y="220"/>
                </a:cxn>
                <a:cxn ang="0">
                  <a:pos x="82" y="225"/>
                </a:cxn>
                <a:cxn ang="0">
                  <a:pos x="89" y="230"/>
                </a:cxn>
                <a:cxn ang="0">
                  <a:pos x="97" y="241"/>
                </a:cxn>
                <a:cxn ang="0">
                  <a:pos x="97" y="256"/>
                </a:cxn>
                <a:cxn ang="0">
                  <a:pos x="82" y="272"/>
                </a:cxn>
                <a:cxn ang="0">
                  <a:pos x="52" y="314"/>
                </a:cxn>
                <a:cxn ang="0">
                  <a:pos x="15" y="356"/>
                </a:cxn>
                <a:cxn ang="0">
                  <a:pos x="8" y="371"/>
                </a:cxn>
                <a:cxn ang="0">
                  <a:pos x="0" y="387"/>
                </a:cxn>
                <a:cxn ang="0">
                  <a:pos x="0" y="408"/>
                </a:cxn>
                <a:cxn ang="0">
                  <a:pos x="15" y="418"/>
                </a:cxn>
                <a:cxn ang="0">
                  <a:pos x="45" y="434"/>
                </a:cxn>
              </a:cxnLst>
              <a:rect l="0" t="0" r="r" b="b"/>
              <a:pathLst>
                <a:path w="98" h="435">
                  <a:moveTo>
                    <a:pt x="45" y="0"/>
                  </a:moveTo>
                  <a:lnTo>
                    <a:pt x="82" y="16"/>
                  </a:lnTo>
                  <a:lnTo>
                    <a:pt x="97" y="27"/>
                  </a:lnTo>
                  <a:lnTo>
                    <a:pt x="97" y="47"/>
                  </a:lnTo>
                  <a:lnTo>
                    <a:pt x="89" y="63"/>
                  </a:lnTo>
                  <a:lnTo>
                    <a:pt x="82" y="79"/>
                  </a:lnTo>
                  <a:lnTo>
                    <a:pt x="45" y="121"/>
                  </a:lnTo>
                  <a:lnTo>
                    <a:pt x="15" y="162"/>
                  </a:lnTo>
                  <a:lnTo>
                    <a:pt x="8" y="178"/>
                  </a:lnTo>
                  <a:lnTo>
                    <a:pt x="0" y="194"/>
                  </a:lnTo>
                  <a:lnTo>
                    <a:pt x="8" y="204"/>
                  </a:lnTo>
                  <a:lnTo>
                    <a:pt x="15" y="209"/>
                  </a:lnTo>
                  <a:lnTo>
                    <a:pt x="52" y="220"/>
                  </a:lnTo>
                  <a:lnTo>
                    <a:pt x="82" y="225"/>
                  </a:lnTo>
                  <a:lnTo>
                    <a:pt x="89" y="230"/>
                  </a:lnTo>
                  <a:lnTo>
                    <a:pt x="97" y="241"/>
                  </a:lnTo>
                  <a:lnTo>
                    <a:pt x="97" y="256"/>
                  </a:lnTo>
                  <a:lnTo>
                    <a:pt x="82" y="272"/>
                  </a:lnTo>
                  <a:lnTo>
                    <a:pt x="52" y="314"/>
                  </a:lnTo>
                  <a:lnTo>
                    <a:pt x="15" y="356"/>
                  </a:lnTo>
                  <a:lnTo>
                    <a:pt x="8" y="371"/>
                  </a:lnTo>
                  <a:lnTo>
                    <a:pt x="0" y="387"/>
                  </a:lnTo>
                  <a:lnTo>
                    <a:pt x="0" y="408"/>
                  </a:lnTo>
                  <a:lnTo>
                    <a:pt x="15" y="418"/>
                  </a:lnTo>
                  <a:lnTo>
                    <a:pt x="45" y="434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3532" y="3360"/>
              <a:ext cx="1295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s-MX" sz="1400">
                  <a:effectLst/>
                  <a:latin typeface="Arial" pitchFamily="34" charset="0"/>
                </a:rPr>
                <a:t>varios procesos</a:t>
              </a:r>
            </a:p>
            <a:p>
              <a:pPr algn="ctr"/>
              <a:r>
                <a:rPr lang="es-MX" sz="1400">
                  <a:effectLst/>
                  <a:latin typeface="Arial" pitchFamily="34" charset="0"/>
                </a:rPr>
                <a:t>varios hilos por proceso</a:t>
              </a:r>
            </a:p>
          </p:txBody>
        </p:sp>
      </p:grpSp>
      <p:grpSp>
        <p:nvGrpSpPr>
          <p:cNvPr id="25" name="Group 29"/>
          <p:cNvGrpSpPr>
            <a:grpSpLocks/>
          </p:cNvGrpSpPr>
          <p:nvPr/>
        </p:nvGrpSpPr>
        <p:grpSpPr bwMode="auto">
          <a:xfrm>
            <a:off x="5895975" y="1763713"/>
            <a:ext cx="1071563" cy="1506537"/>
            <a:chOff x="3714" y="1111"/>
            <a:chExt cx="675" cy="949"/>
          </a:xfrm>
        </p:grpSpPr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3745" y="1111"/>
              <a:ext cx="622" cy="622"/>
            </a:xfrm>
            <a:prstGeom prst="rect">
              <a:avLst/>
            </a:prstGeom>
            <a:solidFill>
              <a:srgbClr val="CCFFFF"/>
            </a:solidFill>
            <a:ln w="12699">
              <a:miter lim="800000"/>
              <a:headEnd/>
              <a:tailEnd/>
            </a:ln>
            <a:effectLst/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wrap="none" anchor="ctr">
              <a:flatTx/>
            </a:bodyPr>
            <a:lstStyle/>
            <a:p>
              <a:endParaRPr lang="es-AR"/>
            </a:p>
          </p:txBody>
        </p:sp>
        <p:sp>
          <p:nvSpPr>
            <p:cNvPr id="27" name="Freeform 13"/>
            <p:cNvSpPr>
              <a:spLocks/>
            </p:cNvSpPr>
            <p:nvPr/>
          </p:nvSpPr>
          <p:spPr bwMode="auto">
            <a:xfrm>
              <a:off x="3992" y="1207"/>
              <a:ext cx="99" cy="433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72" y="7"/>
                </a:cxn>
                <a:cxn ang="0">
                  <a:pos x="85" y="16"/>
                </a:cxn>
                <a:cxn ang="0">
                  <a:pos x="98" y="29"/>
                </a:cxn>
                <a:cxn ang="0">
                  <a:pos x="98" y="48"/>
                </a:cxn>
                <a:cxn ang="0">
                  <a:pos x="92" y="60"/>
                </a:cxn>
                <a:cxn ang="0">
                  <a:pos x="79" y="79"/>
                </a:cxn>
                <a:cxn ang="0">
                  <a:pos x="46" y="120"/>
                </a:cxn>
                <a:cxn ang="0">
                  <a:pos x="13" y="161"/>
                </a:cxn>
                <a:cxn ang="0">
                  <a:pos x="7" y="177"/>
                </a:cxn>
                <a:cxn ang="0">
                  <a:pos x="0" y="193"/>
                </a:cxn>
                <a:cxn ang="0">
                  <a:pos x="7" y="202"/>
                </a:cxn>
                <a:cxn ang="0">
                  <a:pos x="13" y="208"/>
                </a:cxn>
                <a:cxn ang="0">
                  <a:pos x="53" y="218"/>
                </a:cxn>
                <a:cxn ang="0">
                  <a:pos x="85" y="224"/>
                </a:cxn>
                <a:cxn ang="0">
                  <a:pos x="92" y="230"/>
                </a:cxn>
                <a:cxn ang="0">
                  <a:pos x="98" y="240"/>
                </a:cxn>
                <a:cxn ang="0">
                  <a:pos x="92" y="252"/>
                </a:cxn>
                <a:cxn ang="0">
                  <a:pos x="85" y="271"/>
                </a:cxn>
                <a:cxn ang="0">
                  <a:pos x="53" y="312"/>
                </a:cxn>
                <a:cxn ang="0">
                  <a:pos x="20" y="350"/>
                </a:cxn>
                <a:cxn ang="0">
                  <a:pos x="7" y="369"/>
                </a:cxn>
                <a:cxn ang="0">
                  <a:pos x="0" y="382"/>
                </a:cxn>
                <a:cxn ang="0">
                  <a:pos x="0" y="404"/>
                </a:cxn>
                <a:cxn ang="0">
                  <a:pos x="13" y="416"/>
                </a:cxn>
                <a:cxn ang="0">
                  <a:pos x="26" y="426"/>
                </a:cxn>
                <a:cxn ang="0">
                  <a:pos x="46" y="432"/>
                </a:cxn>
              </a:cxnLst>
              <a:rect l="0" t="0" r="r" b="b"/>
              <a:pathLst>
                <a:path w="99" h="433">
                  <a:moveTo>
                    <a:pt x="46" y="0"/>
                  </a:moveTo>
                  <a:lnTo>
                    <a:pt x="72" y="7"/>
                  </a:lnTo>
                  <a:lnTo>
                    <a:pt x="85" y="16"/>
                  </a:lnTo>
                  <a:lnTo>
                    <a:pt x="98" y="29"/>
                  </a:lnTo>
                  <a:lnTo>
                    <a:pt x="98" y="48"/>
                  </a:lnTo>
                  <a:lnTo>
                    <a:pt x="92" y="60"/>
                  </a:lnTo>
                  <a:lnTo>
                    <a:pt x="79" y="79"/>
                  </a:lnTo>
                  <a:lnTo>
                    <a:pt x="46" y="120"/>
                  </a:lnTo>
                  <a:lnTo>
                    <a:pt x="13" y="161"/>
                  </a:lnTo>
                  <a:lnTo>
                    <a:pt x="7" y="177"/>
                  </a:lnTo>
                  <a:lnTo>
                    <a:pt x="0" y="193"/>
                  </a:lnTo>
                  <a:lnTo>
                    <a:pt x="7" y="202"/>
                  </a:lnTo>
                  <a:lnTo>
                    <a:pt x="13" y="208"/>
                  </a:lnTo>
                  <a:lnTo>
                    <a:pt x="53" y="218"/>
                  </a:lnTo>
                  <a:lnTo>
                    <a:pt x="85" y="224"/>
                  </a:lnTo>
                  <a:lnTo>
                    <a:pt x="92" y="230"/>
                  </a:lnTo>
                  <a:lnTo>
                    <a:pt x="98" y="240"/>
                  </a:lnTo>
                  <a:lnTo>
                    <a:pt x="92" y="252"/>
                  </a:lnTo>
                  <a:lnTo>
                    <a:pt x="85" y="271"/>
                  </a:lnTo>
                  <a:lnTo>
                    <a:pt x="53" y="312"/>
                  </a:lnTo>
                  <a:lnTo>
                    <a:pt x="20" y="350"/>
                  </a:lnTo>
                  <a:lnTo>
                    <a:pt x="7" y="369"/>
                  </a:lnTo>
                  <a:lnTo>
                    <a:pt x="0" y="382"/>
                  </a:lnTo>
                  <a:lnTo>
                    <a:pt x="0" y="404"/>
                  </a:lnTo>
                  <a:lnTo>
                    <a:pt x="13" y="416"/>
                  </a:lnTo>
                  <a:lnTo>
                    <a:pt x="26" y="426"/>
                  </a:lnTo>
                  <a:lnTo>
                    <a:pt x="46" y="432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3714" y="1734"/>
              <a:ext cx="675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s-MX" sz="1400">
                  <a:effectLst/>
                  <a:latin typeface="Arial" pitchFamily="34" charset="0"/>
                </a:rPr>
                <a:t>un proceso</a:t>
              </a:r>
            </a:p>
            <a:p>
              <a:pPr algn="ctr"/>
              <a:r>
                <a:rPr lang="es-MX" sz="1400">
                  <a:effectLst/>
                  <a:latin typeface="Arial" pitchFamily="34" charset="0"/>
                </a:rPr>
                <a:t>varios hilos</a:t>
              </a:r>
            </a:p>
          </p:txBody>
        </p:sp>
        <p:sp>
          <p:nvSpPr>
            <p:cNvPr id="29" name="Freeform 25"/>
            <p:cNvSpPr>
              <a:spLocks/>
            </p:cNvSpPr>
            <p:nvPr/>
          </p:nvSpPr>
          <p:spPr bwMode="auto">
            <a:xfrm>
              <a:off x="3799" y="1207"/>
              <a:ext cx="101" cy="433"/>
            </a:xfrm>
            <a:custGeom>
              <a:avLst/>
              <a:gdLst/>
              <a:ahLst/>
              <a:cxnLst>
                <a:cxn ang="0">
                  <a:pos x="50" y="0"/>
                </a:cxn>
                <a:cxn ang="0">
                  <a:pos x="69" y="7"/>
                </a:cxn>
                <a:cxn ang="0">
                  <a:pos x="87" y="16"/>
                </a:cxn>
                <a:cxn ang="0">
                  <a:pos x="100" y="29"/>
                </a:cxn>
                <a:cxn ang="0">
                  <a:pos x="100" y="48"/>
                </a:cxn>
                <a:cxn ang="0">
                  <a:pos x="94" y="60"/>
                </a:cxn>
                <a:cxn ang="0">
                  <a:pos x="81" y="79"/>
                </a:cxn>
                <a:cxn ang="0">
                  <a:pos x="44" y="120"/>
                </a:cxn>
                <a:cxn ang="0">
                  <a:pos x="12" y="161"/>
                </a:cxn>
                <a:cxn ang="0">
                  <a:pos x="6" y="177"/>
                </a:cxn>
                <a:cxn ang="0">
                  <a:pos x="0" y="193"/>
                </a:cxn>
                <a:cxn ang="0">
                  <a:pos x="6" y="202"/>
                </a:cxn>
                <a:cxn ang="0">
                  <a:pos x="19" y="208"/>
                </a:cxn>
                <a:cxn ang="0">
                  <a:pos x="50" y="218"/>
                </a:cxn>
                <a:cxn ang="0">
                  <a:pos x="87" y="224"/>
                </a:cxn>
                <a:cxn ang="0">
                  <a:pos x="94" y="230"/>
                </a:cxn>
                <a:cxn ang="0">
                  <a:pos x="100" y="240"/>
                </a:cxn>
                <a:cxn ang="0">
                  <a:pos x="94" y="252"/>
                </a:cxn>
                <a:cxn ang="0">
                  <a:pos x="87" y="271"/>
                </a:cxn>
                <a:cxn ang="0">
                  <a:pos x="50" y="312"/>
                </a:cxn>
                <a:cxn ang="0">
                  <a:pos x="19" y="350"/>
                </a:cxn>
                <a:cxn ang="0">
                  <a:pos x="6" y="369"/>
                </a:cxn>
                <a:cxn ang="0">
                  <a:pos x="0" y="382"/>
                </a:cxn>
                <a:cxn ang="0">
                  <a:pos x="0" y="404"/>
                </a:cxn>
                <a:cxn ang="0">
                  <a:pos x="12" y="416"/>
                </a:cxn>
                <a:cxn ang="0">
                  <a:pos x="31" y="426"/>
                </a:cxn>
                <a:cxn ang="0">
                  <a:pos x="50" y="432"/>
                </a:cxn>
              </a:cxnLst>
              <a:rect l="0" t="0" r="r" b="b"/>
              <a:pathLst>
                <a:path w="101" h="433">
                  <a:moveTo>
                    <a:pt x="50" y="0"/>
                  </a:moveTo>
                  <a:lnTo>
                    <a:pt x="69" y="7"/>
                  </a:lnTo>
                  <a:lnTo>
                    <a:pt x="87" y="16"/>
                  </a:lnTo>
                  <a:lnTo>
                    <a:pt x="100" y="29"/>
                  </a:lnTo>
                  <a:lnTo>
                    <a:pt x="100" y="48"/>
                  </a:lnTo>
                  <a:lnTo>
                    <a:pt x="94" y="60"/>
                  </a:lnTo>
                  <a:lnTo>
                    <a:pt x="81" y="79"/>
                  </a:lnTo>
                  <a:lnTo>
                    <a:pt x="44" y="120"/>
                  </a:lnTo>
                  <a:lnTo>
                    <a:pt x="12" y="161"/>
                  </a:lnTo>
                  <a:lnTo>
                    <a:pt x="6" y="177"/>
                  </a:lnTo>
                  <a:lnTo>
                    <a:pt x="0" y="193"/>
                  </a:lnTo>
                  <a:lnTo>
                    <a:pt x="6" y="202"/>
                  </a:lnTo>
                  <a:lnTo>
                    <a:pt x="19" y="208"/>
                  </a:lnTo>
                  <a:lnTo>
                    <a:pt x="50" y="218"/>
                  </a:lnTo>
                  <a:lnTo>
                    <a:pt x="87" y="224"/>
                  </a:lnTo>
                  <a:lnTo>
                    <a:pt x="94" y="230"/>
                  </a:lnTo>
                  <a:lnTo>
                    <a:pt x="100" y="240"/>
                  </a:lnTo>
                  <a:lnTo>
                    <a:pt x="94" y="252"/>
                  </a:lnTo>
                  <a:lnTo>
                    <a:pt x="87" y="271"/>
                  </a:lnTo>
                  <a:lnTo>
                    <a:pt x="50" y="312"/>
                  </a:lnTo>
                  <a:lnTo>
                    <a:pt x="19" y="350"/>
                  </a:lnTo>
                  <a:lnTo>
                    <a:pt x="6" y="369"/>
                  </a:lnTo>
                  <a:lnTo>
                    <a:pt x="0" y="382"/>
                  </a:lnTo>
                  <a:lnTo>
                    <a:pt x="0" y="404"/>
                  </a:lnTo>
                  <a:lnTo>
                    <a:pt x="12" y="416"/>
                  </a:lnTo>
                  <a:lnTo>
                    <a:pt x="31" y="426"/>
                  </a:lnTo>
                  <a:lnTo>
                    <a:pt x="50" y="432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auto">
            <a:xfrm>
              <a:off x="4186" y="1207"/>
              <a:ext cx="97" cy="433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69" y="7"/>
                </a:cxn>
                <a:cxn ang="0">
                  <a:pos x="82" y="16"/>
                </a:cxn>
                <a:cxn ang="0">
                  <a:pos x="96" y="29"/>
                </a:cxn>
                <a:cxn ang="0">
                  <a:pos x="96" y="48"/>
                </a:cxn>
                <a:cxn ang="0">
                  <a:pos x="89" y="60"/>
                </a:cxn>
                <a:cxn ang="0">
                  <a:pos x="76" y="79"/>
                </a:cxn>
                <a:cxn ang="0">
                  <a:pos x="48" y="120"/>
                </a:cxn>
                <a:cxn ang="0">
                  <a:pos x="14" y="161"/>
                </a:cxn>
                <a:cxn ang="0">
                  <a:pos x="7" y="177"/>
                </a:cxn>
                <a:cxn ang="0">
                  <a:pos x="0" y="193"/>
                </a:cxn>
                <a:cxn ang="0">
                  <a:pos x="7" y="202"/>
                </a:cxn>
                <a:cxn ang="0">
                  <a:pos x="14" y="208"/>
                </a:cxn>
                <a:cxn ang="0">
                  <a:pos x="48" y="218"/>
                </a:cxn>
                <a:cxn ang="0">
                  <a:pos x="82" y="224"/>
                </a:cxn>
                <a:cxn ang="0">
                  <a:pos x="89" y="230"/>
                </a:cxn>
                <a:cxn ang="0">
                  <a:pos x="96" y="240"/>
                </a:cxn>
                <a:cxn ang="0">
                  <a:pos x="89" y="252"/>
                </a:cxn>
                <a:cxn ang="0">
                  <a:pos x="82" y="271"/>
                </a:cxn>
                <a:cxn ang="0">
                  <a:pos x="48" y="312"/>
                </a:cxn>
                <a:cxn ang="0">
                  <a:pos x="21" y="350"/>
                </a:cxn>
                <a:cxn ang="0">
                  <a:pos x="7" y="369"/>
                </a:cxn>
                <a:cxn ang="0">
                  <a:pos x="0" y="382"/>
                </a:cxn>
                <a:cxn ang="0">
                  <a:pos x="0" y="404"/>
                </a:cxn>
                <a:cxn ang="0">
                  <a:pos x="14" y="416"/>
                </a:cxn>
                <a:cxn ang="0">
                  <a:pos x="28" y="426"/>
                </a:cxn>
                <a:cxn ang="0">
                  <a:pos x="48" y="432"/>
                </a:cxn>
              </a:cxnLst>
              <a:rect l="0" t="0" r="r" b="b"/>
              <a:pathLst>
                <a:path w="97" h="433">
                  <a:moveTo>
                    <a:pt x="48" y="0"/>
                  </a:moveTo>
                  <a:lnTo>
                    <a:pt x="69" y="7"/>
                  </a:lnTo>
                  <a:lnTo>
                    <a:pt x="82" y="16"/>
                  </a:lnTo>
                  <a:lnTo>
                    <a:pt x="96" y="29"/>
                  </a:lnTo>
                  <a:lnTo>
                    <a:pt x="96" y="48"/>
                  </a:lnTo>
                  <a:lnTo>
                    <a:pt x="89" y="60"/>
                  </a:lnTo>
                  <a:lnTo>
                    <a:pt x="76" y="79"/>
                  </a:lnTo>
                  <a:lnTo>
                    <a:pt x="48" y="120"/>
                  </a:lnTo>
                  <a:lnTo>
                    <a:pt x="14" y="161"/>
                  </a:lnTo>
                  <a:lnTo>
                    <a:pt x="7" y="177"/>
                  </a:lnTo>
                  <a:lnTo>
                    <a:pt x="0" y="193"/>
                  </a:lnTo>
                  <a:lnTo>
                    <a:pt x="7" y="202"/>
                  </a:lnTo>
                  <a:lnTo>
                    <a:pt x="14" y="208"/>
                  </a:lnTo>
                  <a:lnTo>
                    <a:pt x="48" y="218"/>
                  </a:lnTo>
                  <a:lnTo>
                    <a:pt x="82" y="224"/>
                  </a:lnTo>
                  <a:lnTo>
                    <a:pt x="89" y="230"/>
                  </a:lnTo>
                  <a:lnTo>
                    <a:pt x="96" y="240"/>
                  </a:lnTo>
                  <a:lnTo>
                    <a:pt x="89" y="252"/>
                  </a:lnTo>
                  <a:lnTo>
                    <a:pt x="82" y="271"/>
                  </a:lnTo>
                  <a:lnTo>
                    <a:pt x="48" y="312"/>
                  </a:lnTo>
                  <a:lnTo>
                    <a:pt x="21" y="350"/>
                  </a:lnTo>
                  <a:lnTo>
                    <a:pt x="7" y="369"/>
                  </a:lnTo>
                  <a:lnTo>
                    <a:pt x="0" y="382"/>
                  </a:lnTo>
                  <a:lnTo>
                    <a:pt x="0" y="404"/>
                  </a:lnTo>
                  <a:lnTo>
                    <a:pt x="14" y="416"/>
                  </a:lnTo>
                  <a:lnTo>
                    <a:pt x="28" y="426"/>
                  </a:lnTo>
                  <a:lnTo>
                    <a:pt x="48" y="432"/>
                  </a:lnTo>
                </a:path>
              </a:pathLst>
            </a:custGeom>
            <a:noFill/>
            <a:ln w="25399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283894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title"/>
          </p:nvPr>
        </p:nvSpPr>
        <p:spPr>
          <a:xfrm>
            <a:off x="1575595" y="250937"/>
            <a:ext cx="6845074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s-ES" dirty="0"/>
              <a:t>Procesos con un solo hilo y con múltiples hilos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grpSp>
        <p:nvGrpSpPr>
          <p:cNvPr id="57" name="Group 28"/>
          <p:cNvGrpSpPr>
            <a:grpSpLocks/>
          </p:cNvGrpSpPr>
          <p:nvPr/>
        </p:nvGrpSpPr>
        <p:grpSpPr bwMode="auto">
          <a:xfrm>
            <a:off x="1193800" y="2387600"/>
            <a:ext cx="2989263" cy="2314575"/>
            <a:chOff x="752" y="1504"/>
            <a:chExt cx="1883" cy="1458"/>
          </a:xfrm>
        </p:grpSpPr>
        <p:sp>
          <p:nvSpPr>
            <p:cNvPr id="58" name="Rectangle 5"/>
            <p:cNvSpPr>
              <a:spLocks noChangeArrowheads="1"/>
            </p:cNvSpPr>
            <p:nvPr/>
          </p:nvSpPr>
          <p:spPr bwMode="auto">
            <a:xfrm>
              <a:off x="753" y="1517"/>
              <a:ext cx="1882" cy="14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endParaRPr lang="es-AR"/>
            </a:p>
          </p:txBody>
        </p:sp>
        <p:sp>
          <p:nvSpPr>
            <p:cNvPr id="59" name="Rectangle 6"/>
            <p:cNvSpPr>
              <a:spLocks noChangeArrowheads="1"/>
            </p:cNvSpPr>
            <p:nvPr/>
          </p:nvSpPr>
          <p:spPr bwMode="auto">
            <a:xfrm>
              <a:off x="752" y="1504"/>
              <a:ext cx="1882" cy="47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endParaRPr lang="es-AR"/>
            </a:p>
          </p:txBody>
        </p:sp>
        <p:sp>
          <p:nvSpPr>
            <p:cNvPr id="60" name="Rectangle 7"/>
            <p:cNvSpPr>
              <a:spLocks noChangeArrowheads="1"/>
            </p:cNvSpPr>
            <p:nvPr/>
          </p:nvSpPr>
          <p:spPr bwMode="auto">
            <a:xfrm>
              <a:off x="836" y="1601"/>
              <a:ext cx="497" cy="2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es-ES" sz="1600">
                  <a:effectLst/>
                  <a:latin typeface="Arial" pitchFamily="34" charset="0"/>
                </a:rPr>
                <a:t>Código</a:t>
              </a:r>
            </a:p>
          </p:txBody>
        </p:sp>
        <p:sp>
          <p:nvSpPr>
            <p:cNvPr id="61" name="Rectangle 8"/>
            <p:cNvSpPr>
              <a:spLocks noChangeArrowheads="1"/>
            </p:cNvSpPr>
            <p:nvPr/>
          </p:nvSpPr>
          <p:spPr bwMode="auto">
            <a:xfrm>
              <a:off x="1416" y="1613"/>
              <a:ext cx="462" cy="2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es-ES" sz="1800">
                  <a:effectLst/>
                  <a:latin typeface="Arial" pitchFamily="34" charset="0"/>
                </a:rPr>
                <a:t>Datos</a:t>
              </a:r>
            </a:p>
          </p:txBody>
        </p:sp>
        <p:sp>
          <p:nvSpPr>
            <p:cNvPr id="62" name="Rectangle 9"/>
            <p:cNvSpPr>
              <a:spLocks noChangeArrowheads="1"/>
            </p:cNvSpPr>
            <p:nvPr/>
          </p:nvSpPr>
          <p:spPr bwMode="auto">
            <a:xfrm>
              <a:off x="1949" y="1613"/>
              <a:ext cx="533" cy="28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es-ES" sz="1400">
                  <a:effectLst/>
                  <a:latin typeface="Arial" pitchFamily="34" charset="0"/>
                </a:rPr>
                <a:t>Archivos</a:t>
              </a:r>
            </a:p>
          </p:txBody>
        </p:sp>
      </p:grpSp>
      <p:grpSp>
        <p:nvGrpSpPr>
          <p:cNvPr id="63" name="Group 29"/>
          <p:cNvGrpSpPr>
            <a:grpSpLocks/>
          </p:cNvGrpSpPr>
          <p:nvPr/>
        </p:nvGrpSpPr>
        <p:grpSpPr bwMode="auto">
          <a:xfrm>
            <a:off x="5108575" y="2392363"/>
            <a:ext cx="2989263" cy="2314575"/>
            <a:chOff x="3218" y="1507"/>
            <a:chExt cx="1883" cy="1458"/>
          </a:xfrm>
        </p:grpSpPr>
        <p:sp>
          <p:nvSpPr>
            <p:cNvPr id="64" name="Rectangle 10"/>
            <p:cNvSpPr>
              <a:spLocks noChangeArrowheads="1"/>
            </p:cNvSpPr>
            <p:nvPr/>
          </p:nvSpPr>
          <p:spPr bwMode="auto">
            <a:xfrm>
              <a:off x="3219" y="1520"/>
              <a:ext cx="1882" cy="14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endParaRPr lang="es-AR"/>
            </a:p>
          </p:txBody>
        </p:sp>
        <p:sp>
          <p:nvSpPr>
            <p:cNvPr id="65" name="Rectangle 11"/>
            <p:cNvSpPr>
              <a:spLocks noChangeArrowheads="1"/>
            </p:cNvSpPr>
            <p:nvPr/>
          </p:nvSpPr>
          <p:spPr bwMode="auto">
            <a:xfrm>
              <a:off x="3218" y="1507"/>
              <a:ext cx="1882" cy="47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endParaRPr lang="es-AR"/>
            </a:p>
          </p:txBody>
        </p:sp>
        <p:sp>
          <p:nvSpPr>
            <p:cNvPr id="66" name="Rectangle 12"/>
            <p:cNvSpPr>
              <a:spLocks noChangeArrowheads="1"/>
            </p:cNvSpPr>
            <p:nvPr/>
          </p:nvSpPr>
          <p:spPr bwMode="auto">
            <a:xfrm>
              <a:off x="3301" y="1603"/>
              <a:ext cx="497" cy="2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es-ES" sz="1600">
                  <a:effectLst/>
                  <a:latin typeface="Arial" pitchFamily="34" charset="0"/>
                </a:rPr>
                <a:t>Código</a:t>
              </a:r>
            </a:p>
          </p:txBody>
        </p:sp>
        <p:sp>
          <p:nvSpPr>
            <p:cNvPr id="67" name="Rectangle 13"/>
            <p:cNvSpPr>
              <a:spLocks noChangeArrowheads="1"/>
            </p:cNvSpPr>
            <p:nvPr/>
          </p:nvSpPr>
          <p:spPr bwMode="auto">
            <a:xfrm>
              <a:off x="3882" y="1616"/>
              <a:ext cx="462" cy="2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es-ES" sz="1800">
                  <a:effectLst/>
                  <a:latin typeface="Arial" pitchFamily="34" charset="0"/>
                </a:rPr>
                <a:t>Datos</a:t>
              </a:r>
            </a:p>
          </p:txBody>
        </p:sp>
        <p:sp>
          <p:nvSpPr>
            <p:cNvPr id="68" name="Rectangle 14"/>
            <p:cNvSpPr>
              <a:spLocks noChangeArrowheads="1"/>
            </p:cNvSpPr>
            <p:nvPr/>
          </p:nvSpPr>
          <p:spPr bwMode="auto">
            <a:xfrm>
              <a:off x="4415" y="1616"/>
              <a:ext cx="532" cy="28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es-ES" sz="1400">
                  <a:effectLst/>
                  <a:latin typeface="Arial" pitchFamily="34" charset="0"/>
                </a:rPr>
                <a:t>Archivos</a:t>
              </a:r>
            </a:p>
          </p:txBody>
        </p:sp>
      </p:grpSp>
      <p:sp>
        <p:nvSpPr>
          <p:cNvPr id="69" name="Freeform 15"/>
          <p:cNvSpPr>
            <a:spLocks/>
          </p:cNvSpPr>
          <p:nvPr/>
        </p:nvSpPr>
        <p:spPr bwMode="auto">
          <a:xfrm>
            <a:off x="2424113" y="3381375"/>
            <a:ext cx="228600" cy="803275"/>
          </a:xfrm>
          <a:custGeom>
            <a:avLst/>
            <a:gdLst/>
            <a:ahLst/>
            <a:cxnLst>
              <a:cxn ang="0">
                <a:pos x="45" y="0"/>
              </a:cxn>
              <a:cxn ang="0">
                <a:pos x="112" y="29"/>
              </a:cxn>
              <a:cxn ang="0">
                <a:pos x="45" y="125"/>
              </a:cxn>
              <a:cxn ang="0">
                <a:pos x="112" y="202"/>
              </a:cxn>
              <a:cxn ang="0">
                <a:pos x="16" y="298"/>
              </a:cxn>
              <a:cxn ang="0">
                <a:pos x="16" y="356"/>
              </a:cxn>
            </a:cxnLst>
            <a:rect l="0" t="0" r="r" b="b"/>
            <a:pathLst>
              <a:path w="117" h="356">
                <a:moveTo>
                  <a:pt x="45" y="0"/>
                </a:moveTo>
                <a:cubicBezTo>
                  <a:pt x="78" y="4"/>
                  <a:pt x="112" y="8"/>
                  <a:pt x="112" y="29"/>
                </a:cubicBezTo>
                <a:cubicBezTo>
                  <a:pt x="112" y="50"/>
                  <a:pt x="45" y="96"/>
                  <a:pt x="45" y="125"/>
                </a:cubicBezTo>
                <a:cubicBezTo>
                  <a:pt x="45" y="154"/>
                  <a:pt x="117" y="173"/>
                  <a:pt x="112" y="202"/>
                </a:cubicBezTo>
                <a:cubicBezTo>
                  <a:pt x="107" y="231"/>
                  <a:pt x="32" y="272"/>
                  <a:pt x="16" y="298"/>
                </a:cubicBezTo>
                <a:cubicBezTo>
                  <a:pt x="0" y="324"/>
                  <a:pt x="16" y="346"/>
                  <a:pt x="16" y="35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70" name="Freeform 16"/>
          <p:cNvSpPr>
            <a:spLocks/>
          </p:cNvSpPr>
          <p:nvPr/>
        </p:nvSpPr>
        <p:spPr bwMode="auto">
          <a:xfrm>
            <a:off x="5829300" y="3429000"/>
            <a:ext cx="228600" cy="801688"/>
          </a:xfrm>
          <a:custGeom>
            <a:avLst/>
            <a:gdLst/>
            <a:ahLst/>
            <a:cxnLst>
              <a:cxn ang="0">
                <a:pos x="45" y="0"/>
              </a:cxn>
              <a:cxn ang="0">
                <a:pos x="112" y="29"/>
              </a:cxn>
              <a:cxn ang="0">
                <a:pos x="45" y="125"/>
              </a:cxn>
              <a:cxn ang="0">
                <a:pos x="112" y="202"/>
              </a:cxn>
              <a:cxn ang="0">
                <a:pos x="16" y="298"/>
              </a:cxn>
              <a:cxn ang="0">
                <a:pos x="16" y="356"/>
              </a:cxn>
            </a:cxnLst>
            <a:rect l="0" t="0" r="r" b="b"/>
            <a:pathLst>
              <a:path w="117" h="356">
                <a:moveTo>
                  <a:pt x="45" y="0"/>
                </a:moveTo>
                <a:cubicBezTo>
                  <a:pt x="78" y="4"/>
                  <a:pt x="112" y="8"/>
                  <a:pt x="112" y="29"/>
                </a:cubicBezTo>
                <a:cubicBezTo>
                  <a:pt x="112" y="50"/>
                  <a:pt x="45" y="96"/>
                  <a:pt x="45" y="125"/>
                </a:cubicBezTo>
                <a:cubicBezTo>
                  <a:pt x="45" y="154"/>
                  <a:pt x="117" y="173"/>
                  <a:pt x="112" y="202"/>
                </a:cubicBezTo>
                <a:cubicBezTo>
                  <a:pt x="107" y="231"/>
                  <a:pt x="32" y="272"/>
                  <a:pt x="16" y="298"/>
                </a:cubicBezTo>
                <a:cubicBezTo>
                  <a:pt x="0" y="324"/>
                  <a:pt x="16" y="346"/>
                  <a:pt x="16" y="35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71" name="Freeform 17"/>
          <p:cNvSpPr>
            <a:spLocks/>
          </p:cNvSpPr>
          <p:nvPr/>
        </p:nvSpPr>
        <p:spPr bwMode="auto">
          <a:xfrm>
            <a:off x="6507163" y="3386138"/>
            <a:ext cx="227012" cy="801687"/>
          </a:xfrm>
          <a:custGeom>
            <a:avLst/>
            <a:gdLst/>
            <a:ahLst/>
            <a:cxnLst>
              <a:cxn ang="0">
                <a:pos x="45" y="0"/>
              </a:cxn>
              <a:cxn ang="0">
                <a:pos x="112" y="29"/>
              </a:cxn>
              <a:cxn ang="0">
                <a:pos x="45" y="125"/>
              </a:cxn>
              <a:cxn ang="0">
                <a:pos x="112" y="202"/>
              </a:cxn>
              <a:cxn ang="0">
                <a:pos x="16" y="298"/>
              </a:cxn>
              <a:cxn ang="0">
                <a:pos x="16" y="356"/>
              </a:cxn>
            </a:cxnLst>
            <a:rect l="0" t="0" r="r" b="b"/>
            <a:pathLst>
              <a:path w="117" h="356">
                <a:moveTo>
                  <a:pt x="45" y="0"/>
                </a:moveTo>
                <a:cubicBezTo>
                  <a:pt x="78" y="4"/>
                  <a:pt x="112" y="8"/>
                  <a:pt x="112" y="29"/>
                </a:cubicBezTo>
                <a:cubicBezTo>
                  <a:pt x="112" y="50"/>
                  <a:pt x="45" y="96"/>
                  <a:pt x="45" y="125"/>
                </a:cubicBezTo>
                <a:cubicBezTo>
                  <a:pt x="45" y="154"/>
                  <a:pt x="117" y="173"/>
                  <a:pt x="112" y="202"/>
                </a:cubicBezTo>
                <a:cubicBezTo>
                  <a:pt x="107" y="231"/>
                  <a:pt x="32" y="272"/>
                  <a:pt x="16" y="298"/>
                </a:cubicBezTo>
                <a:cubicBezTo>
                  <a:pt x="0" y="324"/>
                  <a:pt x="16" y="346"/>
                  <a:pt x="16" y="35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72" name="Freeform 18"/>
          <p:cNvSpPr>
            <a:spLocks/>
          </p:cNvSpPr>
          <p:nvPr/>
        </p:nvSpPr>
        <p:spPr bwMode="auto">
          <a:xfrm>
            <a:off x="7200900" y="3406775"/>
            <a:ext cx="228600" cy="801688"/>
          </a:xfrm>
          <a:custGeom>
            <a:avLst/>
            <a:gdLst/>
            <a:ahLst/>
            <a:cxnLst>
              <a:cxn ang="0">
                <a:pos x="45" y="0"/>
              </a:cxn>
              <a:cxn ang="0">
                <a:pos x="112" y="29"/>
              </a:cxn>
              <a:cxn ang="0">
                <a:pos x="45" y="125"/>
              </a:cxn>
              <a:cxn ang="0">
                <a:pos x="112" y="202"/>
              </a:cxn>
              <a:cxn ang="0">
                <a:pos x="16" y="298"/>
              </a:cxn>
              <a:cxn ang="0">
                <a:pos x="16" y="356"/>
              </a:cxn>
            </a:cxnLst>
            <a:rect l="0" t="0" r="r" b="b"/>
            <a:pathLst>
              <a:path w="117" h="356">
                <a:moveTo>
                  <a:pt x="45" y="0"/>
                </a:moveTo>
                <a:cubicBezTo>
                  <a:pt x="78" y="4"/>
                  <a:pt x="112" y="8"/>
                  <a:pt x="112" y="29"/>
                </a:cubicBezTo>
                <a:cubicBezTo>
                  <a:pt x="112" y="50"/>
                  <a:pt x="45" y="96"/>
                  <a:pt x="45" y="125"/>
                </a:cubicBezTo>
                <a:cubicBezTo>
                  <a:pt x="45" y="154"/>
                  <a:pt x="117" y="173"/>
                  <a:pt x="112" y="202"/>
                </a:cubicBezTo>
                <a:cubicBezTo>
                  <a:pt x="107" y="231"/>
                  <a:pt x="32" y="272"/>
                  <a:pt x="16" y="298"/>
                </a:cubicBezTo>
                <a:cubicBezTo>
                  <a:pt x="0" y="324"/>
                  <a:pt x="16" y="346"/>
                  <a:pt x="16" y="35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73" name="Text Box 20"/>
          <p:cNvSpPr txBox="1">
            <a:spLocks noChangeArrowheads="1"/>
          </p:cNvSpPr>
          <p:nvPr/>
        </p:nvSpPr>
        <p:spPr bwMode="auto">
          <a:xfrm>
            <a:off x="368300" y="3506788"/>
            <a:ext cx="574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Hilo</a:t>
            </a:r>
          </a:p>
        </p:txBody>
      </p:sp>
      <p:sp>
        <p:nvSpPr>
          <p:cNvPr id="74" name="Text Box 21"/>
          <p:cNvSpPr txBox="1">
            <a:spLocks noChangeArrowheads="1"/>
          </p:cNvSpPr>
          <p:nvPr/>
        </p:nvSpPr>
        <p:spPr bwMode="auto">
          <a:xfrm>
            <a:off x="8221663" y="3492500"/>
            <a:ext cx="688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Hilos</a:t>
            </a:r>
          </a:p>
        </p:txBody>
      </p:sp>
      <p:sp>
        <p:nvSpPr>
          <p:cNvPr id="75" name="Line 22"/>
          <p:cNvSpPr>
            <a:spLocks noChangeShapeType="1"/>
          </p:cNvSpPr>
          <p:nvPr/>
        </p:nvSpPr>
        <p:spPr bwMode="auto">
          <a:xfrm>
            <a:off x="909638" y="3652838"/>
            <a:ext cx="1509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76" name="Line 23"/>
          <p:cNvSpPr>
            <a:spLocks noChangeShapeType="1"/>
          </p:cNvSpPr>
          <p:nvPr/>
        </p:nvSpPr>
        <p:spPr bwMode="auto">
          <a:xfrm flipH="1">
            <a:off x="7461250" y="3698875"/>
            <a:ext cx="754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77" name="Text Box 24"/>
          <p:cNvSpPr txBox="1">
            <a:spLocks noChangeArrowheads="1"/>
          </p:cNvSpPr>
          <p:nvPr/>
        </p:nvSpPr>
        <p:spPr bwMode="auto">
          <a:xfrm>
            <a:off x="1952625" y="4892675"/>
            <a:ext cx="1184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Mono-hilo</a:t>
            </a:r>
          </a:p>
        </p:txBody>
      </p:sp>
      <p:sp>
        <p:nvSpPr>
          <p:cNvPr id="78" name="Text Box 26"/>
          <p:cNvSpPr txBox="1">
            <a:spLocks noChangeArrowheads="1"/>
          </p:cNvSpPr>
          <p:nvPr/>
        </p:nvSpPr>
        <p:spPr bwMode="auto">
          <a:xfrm>
            <a:off x="6156325" y="4868863"/>
            <a:ext cx="10953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Multi-hilo</a:t>
            </a:r>
          </a:p>
        </p:txBody>
      </p:sp>
    </p:spTree>
    <p:extLst>
      <p:ext uri="{BB962C8B-B14F-4D97-AF65-F5344CB8AC3E}">
        <p14:creationId xmlns:p14="http://schemas.microsoft.com/office/powerpoint/2010/main" val="159875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  <p:bldP spid="72" grpId="0" animBg="1"/>
      <p:bldP spid="73" grpId="0"/>
      <p:bldP spid="74" grpId="0"/>
      <p:bldP spid="75" grpId="0" animBg="1"/>
      <p:bldP spid="76" grpId="0" animBg="1"/>
      <p:bldP spid="77" grpId="0"/>
      <p:bldP spid="7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title"/>
          </p:nvPr>
        </p:nvSpPr>
        <p:spPr>
          <a:xfrm>
            <a:off x="1495426" y="243794"/>
            <a:ext cx="7184550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procesos</a:t>
            </a:r>
            <a:r>
              <a:rPr lang="en-US" dirty="0"/>
              <a:t> de un solo </a:t>
            </a:r>
            <a:r>
              <a:rPr lang="en-US" dirty="0" err="1"/>
              <a:t>hilo</a:t>
            </a:r>
            <a:r>
              <a:rPr lang="en-US" dirty="0"/>
              <a:t> y de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hilos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990600" y="2225675"/>
            <a:ext cx="2097088" cy="3082925"/>
          </a:xfrm>
          <a:prstGeom prst="rect">
            <a:avLst/>
          </a:prstGeom>
          <a:solidFill>
            <a:srgbClr val="CCFFFF"/>
          </a:solidFill>
          <a:ln w="12699">
            <a:miter lim="800000"/>
            <a:headEnd/>
            <a:tailEnd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CCFFFF"/>
            </a:extrusionClr>
          </a:sp3d>
        </p:spPr>
        <p:txBody>
          <a:bodyPr wrap="none" anchor="ctr">
            <a:flatTx/>
          </a:bodyPr>
          <a:lstStyle/>
          <a:p>
            <a:endParaRPr lang="es-AR"/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4141788" y="2135188"/>
            <a:ext cx="3935412" cy="3808412"/>
          </a:xfrm>
          <a:prstGeom prst="rect">
            <a:avLst/>
          </a:prstGeom>
          <a:solidFill>
            <a:srgbClr val="CCFFFF"/>
          </a:solidFill>
          <a:ln w="12699">
            <a:miter lim="800000"/>
            <a:headEnd/>
            <a:tailEnd/>
          </a:ln>
          <a:effectLst/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CCFFFF"/>
            </a:extrusionClr>
          </a:sp3d>
        </p:spPr>
        <p:txBody>
          <a:bodyPr wrap="none" anchor="ctr">
            <a:flatTx/>
          </a:bodyPr>
          <a:lstStyle/>
          <a:p>
            <a:endParaRPr lang="es-AR"/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5192713" y="3678238"/>
            <a:ext cx="608012" cy="1811337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34" name="Rectangle 6"/>
          <p:cNvSpPr>
            <a:spLocks noChangeArrowheads="1"/>
          </p:cNvSpPr>
          <p:nvPr/>
        </p:nvSpPr>
        <p:spPr bwMode="auto">
          <a:xfrm>
            <a:off x="5192713" y="3043238"/>
            <a:ext cx="608012" cy="541337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4229100" y="4857750"/>
            <a:ext cx="784225" cy="722313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4229100" y="3859213"/>
            <a:ext cx="784225" cy="722312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2216150" y="2862263"/>
            <a:ext cx="609600" cy="1901825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38" name="Rectangle 10"/>
          <p:cNvSpPr>
            <a:spLocks noChangeArrowheads="1"/>
          </p:cNvSpPr>
          <p:nvPr/>
        </p:nvSpPr>
        <p:spPr bwMode="auto">
          <a:xfrm>
            <a:off x="1252538" y="3043238"/>
            <a:ext cx="784225" cy="722312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1252538" y="4041775"/>
            <a:ext cx="784225" cy="722313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40" name="Line 12"/>
          <p:cNvSpPr>
            <a:spLocks noChangeShapeType="1"/>
          </p:cNvSpPr>
          <p:nvPr/>
        </p:nvSpPr>
        <p:spPr bwMode="auto">
          <a:xfrm>
            <a:off x="2216150" y="3767138"/>
            <a:ext cx="611188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41" name="Line 13"/>
          <p:cNvSpPr>
            <a:spLocks noChangeShapeType="1"/>
          </p:cNvSpPr>
          <p:nvPr/>
        </p:nvSpPr>
        <p:spPr bwMode="auto">
          <a:xfrm>
            <a:off x="5192713" y="4584700"/>
            <a:ext cx="611187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42" name="Line 14"/>
          <p:cNvSpPr>
            <a:spLocks noChangeShapeType="1"/>
          </p:cNvSpPr>
          <p:nvPr/>
        </p:nvSpPr>
        <p:spPr bwMode="auto">
          <a:xfrm>
            <a:off x="5105400" y="2951163"/>
            <a:ext cx="785813" cy="0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43" name="Line 15"/>
          <p:cNvSpPr>
            <a:spLocks noChangeShapeType="1"/>
          </p:cNvSpPr>
          <p:nvPr/>
        </p:nvSpPr>
        <p:spPr bwMode="auto">
          <a:xfrm>
            <a:off x="5891213" y="2952750"/>
            <a:ext cx="0" cy="2630488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auto">
          <a:xfrm>
            <a:off x="5102225" y="2952750"/>
            <a:ext cx="0" cy="2630488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>
            <a:off x="5105400" y="5583238"/>
            <a:ext cx="785813" cy="0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46" name="Rectangle 18"/>
          <p:cNvSpPr>
            <a:spLocks noChangeArrowheads="1"/>
          </p:cNvSpPr>
          <p:nvPr/>
        </p:nvSpPr>
        <p:spPr bwMode="auto">
          <a:xfrm>
            <a:off x="5149850" y="2978150"/>
            <a:ext cx="698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Bloque de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control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 hilo</a:t>
            </a:r>
          </a:p>
        </p:txBody>
      </p:sp>
      <p:sp>
        <p:nvSpPr>
          <p:cNvPr id="47" name="Rectangle 19"/>
          <p:cNvSpPr>
            <a:spLocks noChangeArrowheads="1"/>
          </p:cNvSpPr>
          <p:nvPr/>
        </p:nvSpPr>
        <p:spPr bwMode="auto">
          <a:xfrm>
            <a:off x="5191125" y="3948113"/>
            <a:ext cx="5588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Stack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usuario</a:t>
            </a:r>
          </a:p>
        </p:txBody>
      </p:sp>
      <p:sp>
        <p:nvSpPr>
          <p:cNvPr id="48" name="Rectangle 20"/>
          <p:cNvSpPr>
            <a:spLocks noChangeArrowheads="1"/>
          </p:cNvSpPr>
          <p:nvPr/>
        </p:nvSpPr>
        <p:spPr bwMode="auto">
          <a:xfrm>
            <a:off x="2301875" y="3132138"/>
            <a:ext cx="557213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Stack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usuario</a:t>
            </a:r>
          </a:p>
        </p:txBody>
      </p:sp>
      <p:sp>
        <p:nvSpPr>
          <p:cNvPr id="49" name="Rectangle 21"/>
          <p:cNvSpPr>
            <a:spLocks noChangeArrowheads="1"/>
          </p:cNvSpPr>
          <p:nvPr/>
        </p:nvSpPr>
        <p:spPr bwMode="auto">
          <a:xfrm>
            <a:off x="5262563" y="4856163"/>
            <a:ext cx="4953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Stack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kernel</a:t>
            </a:r>
          </a:p>
        </p:txBody>
      </p:sp>
      <p:sp>
        <p:nvSpPr>
          <p:cNvPr id="50" name="Rectangle 22"/>
          <p:cNvSpPr>
            <a:spLocks noChangeArrowheads="1"/>
          </p:cNvSpPr>
          <p:nvPr/>
        </p:nvSpPr>
        <p:spPr bwMode="auto">
          <a:xfrm>
            <a:off x="2278063" y="4040188"/>
            <a:ext cx="51435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Stack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Kernel</a:t>
            </a:r>
          </a:p>
        </p:txBody>
      </p:sp>
      <p:sp>
        <p:nvSpPr>
          <p:cNvPr id="51" name="Rectangle 23"/>
          <p:cNvSpPr>
            <a:spLocks noChangeArrowheads="1"/>
          </p:cNvSpPr>
          <p:nvPr/>
        </p:nvSpPr>
        <p:spPr bwMode="auto">
          <a:xfrm>
            <a:off x="4210050" y="4856163"/>
            <a:ext cx="760413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Espacio de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direcciones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 usuario</a:t>
            </a:r>
          </a:p>
        </p:txBody>
      </p:sp>
      <p:sp>
        <p:nvSpPr>
          <p:cNvPr id="52" name="Rectangle 24"/>
          <p:cNvSpPr>
            <a:spLocks noChangeArrowheads="1"/>
          </p:cNvSpPr>
          <p:nvPr/>
        </p:nvSpPr>
        <p:spPr bwMode="auto">
          <a:xfrm>
            <a:off x="1235075" y="4040188"/>
            <a:ext cx="7620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Espacio de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direcciones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 usuario</a:t>
            </a:r>
          </a:p>
        </p:txBody>
      </p:sp>
      <p:sp>
        <p:nvSpPr>
          <p:cNvPr id="53" name="Rectangle 25"/>
          <p:cNvSpPr>
            <a:spLocks noChangeArrowheads="1"/>
          </p:cNvSpPr>
          <p:nvPr/>
        </p:nvSpPr>
        <p:spPr bwMode="auto">
          <a:xfrm>
            <a:off x="4219575" y="3948113"/>
            <a:ext cx="7112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Bloque de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control del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proceso</a:t>
            </a:r>
          </a:p>
        </p:txBody>
      </p:sp>
      <p:sp>
        <p:nvSpPr>
          <p:cNvPr id="54" name="Rectangle 26"/>
          <p:cNvSpPr>
            <a:spLocks noChangeArrowheads="1"/>
          </p:cNvSpPr>
          <p:nvPr/>
        </p:nvSpPr>
        <p:spPr bwMode="auto">
          <a:xfrm>
            <a:off x="1298575" y="3132138"/>
            <a:ext cx="7747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Bloque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 control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 proceso</a:t>
            </a:r>
          </a:p>
        </p:txBody>
      </p:sp>
      <p:sp>
        <p:nvSpPr>
          <p:cNvPr id="55" name="Rectangle 27"/>
          <p:cNvSpPr>
            <a:spLocks noChangeArrowheads="1"/>
          </p:cNvSpPr>
          <p:nvPr/>
        </p:nvSpPr>
        <p:spPr bwMode="auto">
          <a:xfrm>
            <a:off x="5102225" y="2678113"/>
            <a:ext cx="4445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s-MX" sz="1200">
                <a:effectLst/>
                <a:latin typeface="Arial" pitchFamily="34" charset="0"/>
              </a:rPr>
              <a:t>Hilo</a:t>
            </a:r>
          </a:p>
        </p:txBody>
      </p:sp>
      <p:sp>
        <p:nvSpPr>
          <p:cNvPr id="56" name="Rectangle 28"/>
          <p:cNvSpPr>
            <a:spLocks noChangeArrowheads="1"/>
          </p:cNvSpPr>
          <p:nvPr/>
        </p:nvSpPr>
        <p:spPr bwMode="auto">
          <a:xfrm>
            <a:off x="1039813" y="2224088"/>
            <a:ext cx="19113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1600">
                <a:effectLst/>
                <a:latin typeface="Arial" pitchFamily="34" charset="0"/>
              </a:rPr>
              <a:t>Modelo de proceso</a:t>
            </a:r>
          </a:p>
          <a:p>
            <a:pPr algn="ctr"/>
            <a:r>
              <a:rPr lang="es-MX" sz="1600">
                <a:effectLst/>
                <a:latin typeface="Arial" pitchFamily="34" charset="0"/>
              </a:rPr>
              <a:t>de un solo hilo</a:t>
            </a:r>
          </a:p>
        </p:txBody>
      </p:sp>
      <p:sp>
        <p:nvSpPr>
          <p:cNvPr id="57" name="Rectangle 29"/>
          <p:cNvSpPr>
            <a:spLocks noChangeArrowheads="1"/>
          </p:cNvSpPr>
          <p:nvPr/>
        </p:nvSpPr>
        <p:spPr bwMode="auto">
          <a:xfrm>
            <a:off x="4976813" y="2133600"/>
            <a:ext cx="19113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1600">
                <a:effectLst/>
                <a:latin typeface="Arial" pitchFamily="34" charset="0"/>
              </a:rPr>
              <a:t>Modelo de proceso</a:t>
            </a:r>
          </a:p>
          <a:p>
            <a:pPr algn="ctr"/>
            <a:r>
              <a:rPr lang="es-MX" sz="1600">
                <a:effectLst/>
                <a:latin typeface="Arial" pitchFamily="34" charset="0"/>
              </a:rPr>
              <a:t>multihilos</a:t>
            </a:r>
          </a:p>
        </p:txBody>
      </p:sp>
      <p:sp>
        <p:nvSpPr>
          <p:cNvPr id="58" name="Rectangle 30"/>
          <p:cNvSpPr>
            <a:spLocks noChangeArrowheads="1"/>
          </p:cNvSpPr>
          <p:nvPr/>
        </p:nvSpPr>
        <p:spPr bwMode="auto">
          <a:xfrm>
            <a:off x="6154738" y="3678238"/>
            <a:ext cx="609600" cy="1811337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59" name="Rectangle 31"/>
          <p:cNvSpPr>
            <a:spLocks noChangeArrowheads="1"/>
          </p:cNvSpPr>
          <p:nvPr/>
        </p:nvSpPr>
        <p:spPr bwMode="auto">
          <a:xfrm>
            <a:off x="6154738" y="3043238"/>
            <a:ext cx="609600" cy="541337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60" name="Line 32"/>
          <p:cNvSpPr>
            <a:spLocks noChangeShapeType="1"/>
          </p:cNvSpPr>
          <p:nvPr/>
        </p:nvSpPr>
        <p:spPr bwMode="auto">
          <a:xfrm>
            <a:off x="6154738" y="4584700"/>
            <a:ext cx="611187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61" name="Line 33"/>
          <p:cNvSpPr>
            <a:spLocks noChangeShapeType="1"/>
          </p:cNvSpPr>
          <p:nvPr/>
        </p:nvSpPr>
        <p:spPr bwMode="auto">
          <a:xfrm>
            <a:off x="6067425" y="2951163"/>
            <a:ext cx="785813" cy="0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62" name="Line 34"/>
          <p:cNvSpPr>
            <a:spLocks noChangeShapeType="1"/>
          </p:cNvSpPr>
          <p:nvPr/>
        </p:nvSpPr>
        <p:spPr bwMode="auto">
          <a:xfrm>
            <a:off x="6853238" y="2952750"/>
            <a:ext cx="0" cy="2630488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63" name="Line 35"/>
          <p:cNvSpPr>
            <a:spLocks noChangeShapeType="1"/>
          </p:cNvSpPr>
          <p:nvPr/>
        </p:nvSpPr>
        <p:spPr bwMode="auto">
          <a:xfrm>
            <a:off x="6065838" y="2952750"/>
            <a:ext cx="0" cy="2630488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64" name="Line 36"/>
          <p:cNvSpPr>
            <a:spLocks noChangeShapeType="1"/>
          </p:cNvSpPr>
          <p:nvPr/>
        </p:nvSpPr>
        <p:spPr bwMode="auto">
          <a:xfrm>
            <a:off x="6067425" y="5583238"/>
            <a:ext cx="785813" cy="0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65" name="Rectangle 37"/>
          <p:cNvSpPr>
            <a:spLocks noChangeArrowheads="1"/>
          </p:cNvSpPr>
          <p:nvPr/>
        </p:nvSpPr>
        <p:spPr bwMode="auto">
          <a:xfrm>
            <a:off x="6113463" y="2978150"/>
            <a:ext cx="698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Bloque de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control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 hilo</a:t>
            </a:r>
          </a:p>
        </p:txBody>
      </p:sp>
      <p:sp>
        <p:nvSpPr>
          <p:cNvPr id="66" name="Rectangle 38"/>
          <p:cNvSpPr>
            <a:spLocks noChangeArrowheads="1"/>
          </p:cNvSpPr>
          <p:nvPr/>
        </p:nvSpPr>
        <p:spPr bwMode="auto">
          <a:xfrm>
            <a:off x="6151563" y="3948113"/>
            <a:ext cx="557212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Stack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usuario</a:t>
            </a:r>
          </a:p>
        </p:txBody>
      </p:sp>
      <p:sp>
        <p:nvSpPr>
          <p:cNvPr id="67" name="Rectangle 39"/>
          <p:cNvSpPr>
            <a:spLocks noChangeArrowheads="1"/>
          </p:cNvSpPr>
          <p:nvPr/>
        </p:nvSpPr>
        <p:spPr bwMode="auto">
          <a:xfrm>
            <a:off x="6224588" y="4856163"/>
            <a:ext cx="4953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Stack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kernel</a:t>
            </a:r>
          </a:p>
        </p:txBody>
      </p:sp>
      <p:sp>
        <p:nvSpPr>
          <p:cNvPr id="68" name="Rectangle 40"/>
          <p:cNvSpPr>
            <a:spLocks noChangeArrowheads="1"/>
          </p:cNvSpPr>
          <p:nvPr/>
        </p:nvSpPr>
        <p:spPr bwMode="auto">
          <a:xfrm>
            <a:off x="6065838" y="2678113"/>
            <a:ext cx="4445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s-MX" sz="1200">
                <a:effectLst/>
                <a:latin typeface="Arial" pitchFamily="34" charset="0"/>
              </a:rPr>
              <a:t>Hilo</a:t>
            </a:r>
          </a:p>
        </p:txBody>
      </p:sp>
      <p:sp>
        <p:nvSpPr>
          <p:cNvPr id="69" name="Rectangle 41"/>
          <p:cNvSpPr>
            <a:spLocks noChangeArrowheads="1"/>
          </p:cNvSpPr>
          <p:nvPr/>
        </p:nvSpPr>
        <p:spPr bwMode="auto">
          <a:xfrm>
            <a:off x="7118350" y="3678238"/>
            <a:ext cx="608013" cy="1811337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70" name="Rectangle 42"/>
          <p:cNvSpPr>
            <a:spLocks noChangeArrowheads="1"/>
          </p:cNvSpPr>
          <p:nvPr/>
        </p:nvSpPr>
        <p:spPr bwMode="auto">
          <a:xfrm>
            <a:off x="7118350" y="3043238"/>
            <a:ext cx="608013" cy="541337"/>
          </a:xfrm>
          <a:prstGeom prst="rect">
            <a:avLst/>
          </a:prstGeom>
          <a:solidFill>
            <a:schemeClr val="bg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71" name="Line 43"/>
          <p:cNvSpPr>
            <a:spLocks noChangeShapeType="1"/>
          </p:cNvSpPr>
          <p:nvPr/>
        </p:nvSpPr>
        <p:spPr bwMode="auto">
          <a:xfrm>
            <a:off x="7118350" y="4584700"/>
            <a:ext cx="611188" cy="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72" name="Line 44"/>
          <p:cNvSpPr>
            <a:spLocks noChangeShapeType="1"/>
          </p:cNvSpPr>
          <p:nvPr/>
        </p:nvSpPr>
        <p:spPr bwMode="auto">
          <a:xfrm>
            <a:off x="7031038" y="2951163"/>
            <a:ext cx="785812" cy="0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73" name="Line 45"/>
          <p:cNvSpPr>
            <a:spLocks noChangeShapeType="1"/>
          </p:cNvSpPr>
          <p:nvPr/>
        </p:nvSpPr>
        <p:spPr bwMode="auto">
          <a:xfrm>
            <a:off x="7816850" y="2952750"/>
            <a:ext cx="0" cy="2630488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74" name="Line 46"/>
          <p:cNvSpPr>
            <a:spLocks noChangeShapeType="1"/>
          </p:cNvSpPr>
          <p:nvPr/>
        </p:nvSpPr>
        <p:spPr bwMode="auto">
          <a:xfrm>
            <a:off x="7027863" y="2952750"/>
            <a:ext cx="0" cy="2630488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75" name="Line 47"/>
          <p:cNvSpPr>
            <a:spLocks noChangeShapeType="1"/>
          </p:cNvSpPr>
          <p:nvPr/>
        </p:nvSpPr>
        <p:spPr bwMode="auto">
          <a:xfrm>
            <a:off x="7031038" y="5583238"/>
            <a:ext cx="785812" cy="0"/>
          </a:xfrm>
          <a:prstGeom prst="line">
            <a:avLst/>
          </a:prstGeom>
          <a:noFill/>
          <a:ln w="12699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76" name="Rectangle 48"/>
          <p:cNvSpPr>
            <a:spLocks noChangeArrowheads="1"/>
          </p:cNvSpPr>
          <p:nvPr/>
        </p:nvSpPr>
        <p:spPr bwMode="auto">
          <a:xfrm>
            <a:off x="7077075" y="2978150"/>
            <a:ext cx="698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Bloque de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control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 hilo</a:t>
            </a:r>
          </a:p>
        </p:txBody>
      </p:sp>
      <p:sp>
        <p:nvSpPr>
          <p:cNvPr id="77" name="Rectangle 49"/>
          <p:cNvSpPr>
            <a:spLocks noChangeArrowheads="1"/>
          </p:cNvSpPr>
          <p:nvPr/>
        </p:nvSpPr>
        <p:spPr bwMode="auto">
          <a:xfrm>
            <a:off x="7116763" y="3948113"/>
            <a:ext cx="5588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Stack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usuario</a:t>
            </a:r>
          </a:p>
        </p:txBody>
      </p:sp>
      <p:sp>
        <p:nvSpPr>
          <p:cNvPr id="78" name="Rectangle 50"/>
          <p:cNvSpPr>
            <a:spLocks noChangeArrowheads="1"/>
          </p:cNvSpPr>
          <p:nvPr/>
        </p:nvSpPr>
        <p:spPr bwMode="auto">
          <a:xfrm>
            <a:off x="7189788" y="4856163"/>
            <a:ext cx="4953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s-MX" sz="900">
                <a:effectLst/>
                <a:latin typeface="Arial" pitchFamily="34" charset="0"/>
              </a:rPr>
              <a:t>Stack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del</a:t>
            </a:r>
          </a:p>
          <a:p>
            <a:pPr algn="ctr"/>
            <a:r>
              <a:rPr lang="es-MX" sz="900">
                <a:effectLst/>
                <a:latin typeface="Arial" pitchFamily="34" charset="0"/>
              </a:rPr>
              <a:t>kernel</a:t>
            </a:r>
          </a:p>
        </p:txBody>
      </p:sp>
      <p:sp>
        <p:nvSpPr>
          <p:cNvPr id="79" name="Rectangle 51"/>
          <p:cNvSpPr>
            <a:spLocks noChangeArrowheads="1"/>
          </p:cNvSpPr>
          <p:nvPr/>
        </p:nvSpPr>
        <p:spPr bwMode="auto">
          <a:xfrm>
            <a:off x="7027863" y="2678113"/>
            <a:ext cx="4445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s-MX" sz="1200">
                <a:effectLst/>
                <a:latin typeface="Arial" pitchFamily="34" charset="0"/>
              </a:rPr>
              <a:t>Hilo</a:t>
            </a:r>
          </a:p>
        </p:txBody>
      </p:sp>
    </p:spTree>
    <p:extLst>
      <p:ext uri="{BB962C8B-B14F-4D97-AF65-F5344CB8AC3E}">
        <p14:creationId xmlns:p14="http://schemas.microsoft.com/office/powerpoint/2010/main" val="314074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Hilos</a:t>
            </a:r>
          </a:p>
        </p:txBody>
      </p:sp>
      <p:pic>
        <p:nvPicPr>
          <p:cNvPr id="142" name="Shape 142"/>
          <p:cNvPicPr preferRelativeResize="0"/>
          <p:nvPr/>
        </p:nvPicPr>
        <p:blipFill rotWithShape="1">
          <a:blip r:embed="rId3">
            <a:alphaModFix/>
          </a:blip>
          <a:srcRect l="392" t="11746" r="392" b="11745"/>
          <a:stretch/>
        </p:blipFill>
        <p:spPr>
          <a:xfrm>
            <a:off x="914400" y="1676400"/>
            <a:ext cx="7772078" cy="449580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43" name="Shape 143"/>
          <p:cNvSpPr/>
          <p:nvPr/>
        </p:nvSpPr>
        <p:spPr>
          <a:xfrm>
            <a:off x="1676400" y="1874292"/>
            <a:ext cx="1555234" cy="92332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5400" b="1" i="0" u="none" strike="noStrike" cap="none">
                <a:latin typeface="Questrial"/>
                <a:ea typeface="Questrial"/>
                <a:cs typeface="Questrial"/>
                <a:sym typeface="Questrial"/>
              </a:rPr>
              <a:t>PCB</a:t>
            </a:r>
          </a:p>
        </p:txBody>
      </p:sp>
      <p:sp>
        <p:nvSpPr>
          <p:cNvPr id="144" name="Shape 144"/>
          <p:cNvSpPr/>
          <p:nvPr/>
        </p:nvSpPr>
        <p:spPr>
          <a:xfrm>
            <a:off x="5611100" y="1643425"/>
            <a:ext cx="1383000" cy="708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4000" b="1" i="0" u="none" strike="noStrike" cap="none">
                <a:latin typeface="Questrial"/>
                <a:ea typeface="Questrial"/>
                <a:cs typeface="Questrial"/>
                <a:sym typeface="Questrial"/>
              </a:rPr>
              <a:t>PCB</a:t>
            </a:r>
          </a:p>
        </p:txBody>
      </p:sp>
      <p:sp>
        <p:nvSpPr>
          <p:cNvPr id="145" name="Shape 145"/>
          <p:cNvSpPr/>
          <p:nvPr/>
        </p:nvSpPr>
        <p:spPr>
          <a:xfrm>
            <a:off x="4588599" y="2565250"/>
            <a:ext cx="1272000" cy="708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4000" b="1" i="0" u="none" strike="noStrike" cap="none">
                <a:latin typeface="Questrial"/>
                <a:ea typeface="Questrial"/>
                <a:cs typeface="Questrial"/>
                <a:sym typeface="Questrial"/>
              </a:rPr>
              <a:t>TCB</a:t>
            </a:r>
          </a:p>
        </p:txBody>
      </p:sp>
      <p:sp>
        <p:nvSpPr>
          <p:cNvPr id="146" name="Shape 146"/>
          <p:cNvSpPr/>
          <p:nvPr/>
        </p:nvSpPr>
        <p:spPr>
          <a:xfrm>
            <a:off x="5611100" y="2565250"/>
            <a:ext cx="1337700" cy="708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4000" b="1" i="0" u="none" strike="noStrike" cap="none">
                <a:latin typeface="Questrial"/>
                <a:ea typeface="Questrial"/>
                <a:cs typeface="Questrial"/>
                <a:sym typeface="Questrial"/>
              </a:rPr>
              <a:t>TCB</a:t>
            </a:r>
          </a:p>
        </p:txBody>
      </p:sp>
      <p:sp>
        <p:nvSpPr>
          <p:cNvPr id="147" name="Shape 147"/>
          <p:cNvSpPr/>
          <p:nvPr/>
        </p:nvSpPr>
        <p:spPr>
          <a:xfrm>
            <a:off x="6816801" y="2565250"/>
            <a:ext cx="1272000" cy="708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4000" b="1" i="0" u="none" strike="noStrike" cap="none">
                <a:latin typeface="Questrial"/>
                <a:ea typeface="Questrial"/>
                <a:cs typeface="Questrial"/>
                <a:sym typeface="Questrial"/>
              </a:rPr>
              <a:t>TCB</a:t>
            </a:r>
          </a:p>
        </p:txBody>
      </p:sp>
    </p:spTree>
    <p:extLst>
      <p:ext uri="{BB962C8B-B14F-4D97-AF65-F5344CB8AC3E}">
        <p14:creationId xmlns:p14="http://schemas.microsoft.com/office/powerpoint/2010/main" val="134948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Diferencias con procesos</a:t>
            </a:r>
          </a:p>
        </p:txBody>
      </p:sp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1435608" y="1417637"/>
            <a:ext cx="7498080" cy="52117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Permiten paralelismo dentro de un proceso o aplicación.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Permiten la comunicación privada entre varios hilos del mismo proceso, sin solicitar intervención del S.O.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Mayor eficiencia en el cambio de un Hilo a otro, que de un Proceso a otro.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Mayor eficiencia en la creación de un Hilo que en la creación de un Proceso Hijo.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Proceso Multihilo puede recuperarse de la “muerte” de un Hilo, pues conoce los efectos de esta, y toma su espacio de memoria (excepto para el main).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Cuando un Proceso “muere” todos sus Hilos también, pues los recursos de Proceso son tomados por el Sistema Operativo.</a:t>
            </a:r>
          </a:p>
        </p:txBody>
      </p:sp>
    </p:spTree>
    <p:extLst>
      <p:ext uri="{BB962C8B-B14F-4D97-AF65-F5344CB8AC3E}">
        <p14:creationId xmlns:p14="http://schemas.microsoft.com/office/powerpoint/2010/main" val="207526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KLT - ULT</a:t>
            </a:r>
          </a:p>
        </p:txBody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1435608" y="1417637"/>
            <a:ext cx="7498080" cy="52117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Los KLTs son llamados “Hilos a nivel de Kernel”.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SO conoce de su existencia y controla su ejecución</a:t>
            </a: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Características: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conmutación de contexto entre hilos es más lenta</a:t>
            </a:r>
          </a:p>
          <a:p>
            <a:pPr marL="742950" marR="0" lvl="1" indent="-28575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Si un hilo se bloquea, los hilos pares pueden continuar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Los ULTs son llamados “Hilos a nivel de usuario”. 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Su gestión es realizada por bibliotecas en el nivel de usuario.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SO no sabe nada de la existencia de estos hilos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Características: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Realizan la conmutación de contexto más rápidamente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Todos los hilos de un proceso se bloquean cuando uno de ellos realiza una operación bloqueante (ej. E/S)</a:t>
            </a:r>
          </a:p>
        </p:txBody>
      </p:sp>
    </p:spTree>
    <p:extLst>
      <p:ext uri="{BB962C8B-B14F-4D97-AF65-F5344CB8AC3E}">
        <p14:creationId xmlns:p14="http://schemas.microsoft.com/office/powerpoint/2010/main" val="384511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1435608" y="136748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s-ES" dirty="0"/>
              <a:t>Hilos a nivel usuario (un CPU con dos núcleos)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" name="Oval 31"/>
          <p:cNvSpPr>
            <a:spLocks noChangeArrowheads="1"/>
          </p:cNvSpPr>
          <p:nvPr/>
        </p:nvSpPr>
        <p:spPr bwMode="auto">
          <a:xfrm>
            <a:off x="4085593" y="3728251"/>
            <a:ext cx="995362" cy="8175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auto">
          <a:xfrm>
            <a:off x="3637918" y="5507838"/>
            <a:ext cx="3463925" cy="1011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470980" y="3648876"/>
            <a:ext cx="6175375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834393" y="3604426"/>
            <a:ext cx="18097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Nivel kérnel (sistema operativo)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823280" y="3113888"/>
            <a:ext cx="1681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Nivel usuario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656843" y="2928151"/>
            <a:ext cx="4027487" cy="704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 eaLnBrk="1" hangingPunct="1"/>
            <a:r>
              <a:rPr lang="es-ES" sz="1800">
                <a:solidFill>
                  <a:srgbClr val="000000"/>
                </a:solidFill>
                <a:effectLst/>
                <a:latin typeface="Arial" pitchFamily="34" charset="0"/>
              </a:rPr>
              <a:t>Proceso de usuario gestiona y planifica los múltiples hilos</a:t>
            </a: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4447543" y="3858426"/>
            <a:ext cx="327025" cy="546100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V="1">
            <a:off x="4582480" y="3615538"/>
            <a:ext cx="0" cy="144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H="1" flipV="1">
            <a:off x="3636330" y="2380463"/>
            <a:ext cx="849313" cy="5445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4" name="Freeform 15"/>
          <p:cNvSpPr>
            <a:spLocks/>
          </p:cNvSpPr>
          <p:nvPr/>
        </p:nvSpPr>
        <p:spPr bwMode="auto">
          <a:xfrm>
            <a:off x="3347405" y="1729588"/>
            <a:ext cx="327025" cy="530225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 flipV="1">
            <a:off x="4503105" y="2348713"/>
            <a:ext cx="15875" cy="560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4391980" y="1681963"/>
            <a:ext cx="327025" cy="530225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 flipV="1">
            <a:off x="4503105" y="2380463"/>
            <a:ext cx="704850" cy="5445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225418" y="1680376"/>
            <a:ext cx="327025" cy="530225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4037968" y="5715801"/>
            <a:ext cx="1185862" cy="6746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es-ES" sz="1800">
                <a:solidFill>
                  <a:srgbClr val="000000"/>
                </a:solidFill>
                <a:effectLst/>
                <a:latin typeface="Arial" pitchFamily="34" charset="0"/>
              </a:rPr>
              <a:t>Core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V="1">
            <a:off x="4598355" y="5234788"/>
            <a:ext cx="0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458780" y="5723738"/>
            <a:ext cx="1185863" cy="6746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es-ES" sz="1800">
                <a:solidFill>
                  <a:srgbClr val="000000"/>
                </a:solidFill>
                <a:effectLst/>
                <a:latin typeface="Arial" pitchFamily="34" charset="0"/>
              </a:rPr>
              <a:t>Core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2647318" y="5914238"/>
            <a:ext cx="6635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CPU</a:t>
            </a:r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1424943" y="5244313"/>
            <a:ext cx="6175375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796293" y="5401476"/>
            <a:ext cx="1171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Hardware</a:t>
            </a:r>
          </a:p>
        </p:txBody>
      </p:sp>
      <p:sp>
        <p:nvSpPr>
          <p:cNvPr id="25" name="Rectangle 26"/>
          <p:cNvSpPr>
            <a:spLocks noChangeArrowheads="1"/>
          </p:cNvSpPr>
          <p:nvPr/>
        </p:nvSpPr>
        <p:spPr bwMode="auto">
          <a:xfrm>
            <a:off x="3587118" y="4737901"/>
            <a:ext cx="2392362" cy="5000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es-ES" sz="1800">
                <a:solidFill>
                  <a:srgbClr val="000000"/>
                </a:solidFill>
                <a:effectLst/>
                <a:latin typeface="Arial" pitchFamily="34" charset="0"/>
              </a:rPr>
              <a:t>Planificador del SO</a:t>
            </a:r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 flipV="1">
            <a:off x="4588830" y="4536288"/>
            <a:ext cx="0" cy="2238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509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1" autoRev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1" autoRev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7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7" presetClass="emph" presetSubtype="1" autoRev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5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1435608" y="136748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s-ES" dirty="0"/>
              <a:t>Hilos a nivel </a:t>
            </a:r>
            <a:r>
              <a:rPr lang="es-ES" dirty="0" err="1"/>
              <a:t>kernel</a:t>
            </a:r>
            <a:r>
              <a:rPr lang="es-ES" dirty="0"/>
              <a:t> (con un CPU con un solo núcleo)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" name="Oval 24"/>
          <p:cNvSpPr>
            <a:spLocks noChangeArrowheads="1"/>
          </p:cNvSpPr>
          <p:nvPr/>
        </p:nvSpPr>
        <p:spPr bwMode="auto">
          <a:xfrm>
            <a:off x="5381625" y="3145432"/>
            <a:ext cx="995363" cy="8175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6" name="Oval 23"/>
          <p:cNvSpPr>
            <a:spLocks noChangeArrowheads="1"/>
          </p:cNvSpPr>
          <p:nvPr/>
        </p:nvSpPr>
        <p:spPr bwMode="auto">
          <a:xfrm>
            <a:off x="3978275" y="3154957"/>
            <a:ext cx="995363" cy="8175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268788" y="5048845"/>
            <a:ext cx="1827212" cy="1011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1316038" y="2786657"/>
            <a:ext cx="6175375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679450" y="2872382"/>
            <a:ext cx="18097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Nivel kérnel (sistema operativo)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525463" y="2381845"/>
            <a:ext cx="180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Nivel usuario</a:t>
            </a: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4373563" y="3283545"/>
            <a:ext cx="246062" cy="627062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 flipV="1">
            <a:off x="5840413" y="2434232"/>
            <a:ext cx="14287" cy="801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4283075" y="1623020"/>
            <a:ext cx="263525" cy="674687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>
            <a:off x="5680075" y="1557932"/>
            <a:ext cx="247650" cy="674688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4668838" y="5256807"/>
            <a:ext cx="1185862" cy="6746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es-ES" sz="1800">
                <a:solidFill>
                  <a:srgbClr val="000000"/>
                </a:solidFill>
                <a:effectLst/>
                <a:latin typeface="Arial" pitchFamily="34" charset="0"/>
              </a:rPr>
              <a:t>Core</a:t>
            </a:r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 flipH="1" flipV="1">
            <a:off x="4603750" y="4028082"/>
            <a:ext cx="625475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3278188" y="5455245"/>
            <a:ext cx="663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CPU</a:t>
            </a:r>
          </a:p>
        </p:txBody>
      </p:sp>
      <p:sp>
        <p:nvSpPr>
          <p:cNvPr id="18" name="Freeform 15"/>
          <p:cNvSpPr>
            <a:spLocks/>
          </p:cNvSpPr>
          <p:nvPr/>
        </p:nvSpPr>
        <p:spPr bwMode="auto">
          <a:xfrm>
            <a:off x="5767388" y="3234332"/>
            <a:ext cx="263525" cy="674688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 flipV="1">
            <a:off x="4419600" y="2488207"/>
            <a:ext cx="14288" cy="768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1308100" y="4815482"/>
            <a:ext cx="6175375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63575" y="4972645"/>
            <a:ext cx="1171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Hardware</a:t>
            </a: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V="1">
            <a:off x="5219700" y="4004270"/>
            <a:ext cx="593725" cy="625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5213350" y="4807545"/>
            <a:ext cx="0" cy="449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4025900" y="4309070"/>
            <a:ext cx="2392363" cy="5000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es-ES" sz="1800">
                <a:solidFill>
                  <a:srgbClr val="000000"/>
                </a:solidFill>
                <a:effectLst/>
                <a:latin typeface="Arial" pitchFamily="34" charset="0"/>
              </a:rPr>
              <a:t>Planificador del SO</a:t>
            </a:r>
          </a:p>
        </p:txBody>
      </p:sp>
    </p:spTree>
    <p:extLst>
      <p:ext uri="{BB962C8B-B14F-4D97-AF65-F5344CB8AC3E}">
        <p14:creationId xmlns:p14="http://schemas.microsoft.com/office/powerpoint/2010/main" val="123744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7" presetClass="emph" presetSubtype="1" autoRev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7" presetClass="emph" presetSubtype="1" autoRev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7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1" autoRev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1617654" y="136748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s-ES" dirty="0"/>
              <a:t>Hilos a nivel </a:t>
            </a:r>
            <a:r>
              <a:rPr lang="es-ES" dirty="0" err="1"/>
              <a:t>kernel</a:t>
            </a:r>
            <a:r>
              <a:rPr lang="es-ES" dirty="0"/>
              <a:t> (con un CPU con doble núcleo)</a:t>
            </a:r>
            <a:endParaRPr lang="es-AR" sz="3600" b="0" i="0" u="none" strike="noStrike" cap="none" dirty="0">
              <a:solidFill>
                <a:srgbClr val="26262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" name="Oval 28"/>
          <p:cNvSpPr>
            <a:spLocks noChangeArrowheads="1"/>
          </p:cNvSpPr>
          <p:nvPr/>
        </p:nvSpPr>
        <p:spPr bwMode="auto">
          <a:xfrm>
            <a:off x="4292175" y="3414263"/>
            <a:ext cx="995363" cy="8175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6" name="Oval 29"/>
          <p:cNvSpPr>
            <a:spLocks noChangeArrowheads="1"/>
          </p:cNvSpPr>
          <p:nvPr/>
        </p:nvSpPr>
        <p:spPr bwMode="auto">
          <a:xfrm>
            <a:off x="5743150" y="3357113"/>
            <a:ext cx="995363" cy="8175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812750" y="5227188"/>
            <a:ext cx="3463925" cy="1011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1629938" y="2957063"/>
            <a:ext cx="6175375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93350" y="2928488"/>
            <a:ext cx="18097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Nivel kérnel (sistema operativo)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839363" y="2437951"/>
            <a:ext cx="1809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Nivel usuario</a:t>
            </a:r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4654125" y="3487288"/>
            <a:ext cx="279400" cy="627063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6235275" y="2572888"/>
            <a:ext cx="12700" cy="833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4612850" y="1882326"/>
            <a:ext cx="247650" cy="674687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4" name="Freeform 15"/>
          <p:cNvSpPr>
            <a:spLocks/>
          </p:cNvSpPr>
          <p:nvPr/>
        </p:nvSpPr>
        <p:spPr bwMode="auto">
          <a:xfrm>
            <a:off x="6106688" y="1817238"/>
            <a:ext cx="246062" cy="674688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4212800" y="5435151"/>
            <a:ext cx="1185863" cy="6746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es-ES" sz="1800">
                <a:solidFill>
                  <a:srgbClr val="000000"/>
                </a:solidFill>
                <a:effectLst/>
                <a:latin typeface="Arial" pitchFamily="34" charset="0"/>
              </a:rPr>
              <a:t>Core</a:t>
            </a:r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 flipV="1">
            <a:off x="4773188" y="4954138"/>
            <a:ext cx="0" cy="4810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633613" y="5443088"/>
            <a:ext cx="1185862" cy="6746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es-ES" sz="1800">
                <a:solidFill>
                  <a:srgbClr val="000000"/>
                </a:solidFill>
                <a:effectLst/>
                <a:latin typeface="Arial" pitchFamily="34" charset="0"/>
              </a:rPr>
              <a:t>Core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2822150" y="5633588"/>
            <a:ext cx="6635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CPU</a:t>
            </a:r>
          </a:p>
        </p:txBody>
      </p:sp>
      <p:sp>
        <p:nvSpPr>
          <p:cNvPr id="19" name="Freeform 20"/>
          <p:cNvSpPr>
            <a:spLocks/>
          </p:cNvSpPr>
          <p:nvPr/>
        </p:nvSpPr>
        <p:spPr bwMode="auto">
          <a:xfrm>
            <a:off x="6065413" y="3438076"/>
            <a:ext cx="247650" cy="674687"/>
          </a:xfrm>
          <a:custGeom>
            <a:avLst/>
            <a:gdLst/>
            <a:ahLst/>
            <a:cxnLst>
              <a:cxn ang="0">
                <a:pos x="207" y="0"/>
              </a:cxn>
              <a:cxn ang="0">
                <a:pos x="5" y="197"/>
              </a:cxn>
              <a:cxn ang="0">
                <a:pos x="176" y="377"/>
              </a:cxn>
              <a:cxn ang="0">
                <a:pos x="277" y="537"/>
              </a:cxn>
              <a:cxn ang="0">
                <a:pos x="116" y="708"/>
              </a:cxn>
            </a:cxnLst>
            <a:rect l="0" t="0" r="r" b="b"/>
            <a:pathLst>
              <a:path w="287" h="708">
                <a:moveTo>
                  <a:pt x="207" y="0"/>
                </a:moveTo>
                <a:cubicBezTo>
                  <a:pt x="173" y="31"/>
                  <a:pt x="10" y="134"/>
                  <a:pt x="5" y="197"/>
                </a:cubicBezTo>
                <a:cubicBezTo>
                  <a:pt x="0" y="260"/>
                  <a:pt x="131" y="320"/>
                  <a:pt x="176" y="377"/>
                </a:cubicBezTo>
                <a:cubicBezTo>
                  <a:pt x="221" y="434"/>
                  <a:pt x="287" y="483"/>
                  <a:pt x="277" y="537"/>
                </a:cubicBezTo>
                <a:cubicBezTo>
                  <a:pt x="267" y="592"/>
                  <a:pt x="143" y="680"/>
                  <a:pt x="116" y="7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 flipH="1" flipV="1">
            <a:off x="6289250" y="4960488"/>
            <a:ext cx="15875" cy="465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 flipV="1">
            <a:off x="4733500" y="2658613"/>
            <a:ext cx="30163" cy="784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>
            <a:off x="1622000" y="5074788"/>
            <a:ext cx="6175375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977475" y="5231951"/>
            <a:ext cx="1171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s-ES" sz="1800">
                <a:effectLst/>
                <a:latin typeface="Arial" pitchFamily="34" charset="0"/>
              </a:rPr>
              <a:t>Hardware</a:t>
            </a:r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 flipV="1">
            <a:off x="4795413" y="4208013"/>
            <a:ext cx="0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 flipV="1">
            <a:off x="6232100" y="4182613"/>
            <a:ext cx="15875" cy="400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s-AR"/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4339800" y="4568376"/>
            <a:ext cx="2392363" cy="5000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es-ES" sz="1800">
                <a:solidFill>
                  <a:srgbClr val="000000"/>
                </a:solidFill>
                <a:effectLst/>
                <a:latin typeface="Arial" pitchFamily="34" charset="0"/>
              </a:rPr>
              <a:t>Planificador del SO</a:t>
            </a:r>
          </a:p>
        </p:txBody>
      </p:sp>
    </p:spTree>
    <p:extLst>
      <p:ext uri="{BB962C8B-B14F-4D97-AF65-F5344CB8AC3E}">
        <p14:creationId xmlns:p14="http://schemas.microsoft.com/office/powerpoint/2010/main" val="240144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6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Ejemplos</a:t>
            </a:r>
          </a:p>
        </p:txBody>
      </p:sp>
      <p:pic>
        <p:nvPicPr>
          <p:cNvPr id="165" name="Shape 1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447800"/>
            <a:ext cx="7543800" cy="5076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501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Ejemplos</a:t>
            </a:r>
          </a:p>
        </p:txBody>
      </p:sp>
      <p:pic>
        <p:nvPicPr>
          <p:cNvPr id="171" name="Shape 171" descr="http://static.thegeekstuff.com/wp-content/uploads/2013/11/nginx-architectur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733" y="1600200"/>
            <a:ext cx="7387666" cy="48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54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Ejecución típica</a:t>
            </a:r>
          </a:p>
        </p:txBody>
      </p:sp>
      <p:sp>
        <p:nvSpPr>
          <p:cNvPr id="177" name="Shape 177"/>
          <p:cNvSpPr/>
          <p:nvPr/>
        </p:nvSpPr>
        <p:spPr>
          <a:xfrm>
            <a:off x="4800600" y="1592262"/>
            <a:ext cx="2362200" cy="4808537"/>
          </a:xfrm>
          <a:prstGeom prst="rect">
            <a:avLst/>
          </a:prstGeom>
          <a:solidFill>
            <a:srgbClr val="EFEFF7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5000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5001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5002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5003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5004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5005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5006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5007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5008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5009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5010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5011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5012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5013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5014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5015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5016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5017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5018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5019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5020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5021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5022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5023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5024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5025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5026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5027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5028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5029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5030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5031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5032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5033</a:t>
            </a:r>
          </a:p>
        </p:txBody>
      </p:sp>
      <p:sp>
        <p:nvSpPr>
          <p:cNvPr id="178" name="Shape 178"/>
          <p:cNvSpPr/>
          <p:nvPr/>
        </p:nvSpPr>
        <p:spPr>
          <a:xfrm>
            <a:off x="4800600" y="1317625"/>
            <a:ext cx="2362200" cy="27463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Traza de ejecución</a:t>
            </a:r>
          </a:p>
        </p:txBody>
      </p:sp>
      <p:cxnSp>
        <p:nvCxnSpPr>
          <p:cNvPr id="179" name="Shape 179"/>
          <p:cNvCxnSpPr/>
          <p:nvPr/>
        </p:nvCxnSpPr>
        <p:spPr>
          <a:xfrm rot="10800000" flipH="1">
            <a:off x="3733800" y="1592263"/>
            <a:ext cx="1066799" cy="413067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180" name="Shape 180"/>
          <p:cNvSpPr/>
          <p:nvPr/>
        </p:nvSpPr>
        <p:spPr>
          <a:xfrm>
            <a:off x="2057400" y="3886200"/>
            <a:ext cx="1676399" cy="381000"/>
          </a:xfrm>
          <a:prstGeom prst="rect">
            <a:avLst/>
          </a:prstGeom>
          <a:solidFill>
            <a:srgbClr val="EFEFF7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1" name="Shape 181"/>
          <p:cNvSpPr/>
          <p:nvPr/>
        </p:nvSpPr>
        <p:spPr>
          <a:xfrm>
            <a:off x="2057400" y="5722937"/>
            <a:ext cx="1676399" cy="906462"/>
          </a:xfrm>
          <a:prstGeom prst="rect">
            <a:avLst/>
          </a:prstGeom>
          <a:solidFill>
            <a:srgbClr val="FAE5CD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Código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De Programa</a:t>
            </a:r>
          </a:p>
        </p:txBody>
      </p:sp>
      <p:sp>
        <p:nvSpPr>
          <p:cNvPr id="182" name="Shape 182"/>
          <p:cNvSpPr/>
          <p:nvPr/>
        </p:nvSpPr>
        <p:spPr>
          <a:xfrm>
            <a:off x="2057400" y="1752600"/>
            <a:ext cx="1676399" cy="1066799"/>
          </a:xfrm>
          <a:prstGeom prst="rect">
            <a:avLst/>
          </a:prstGeom>
          <a:solidFill>
            <a:srgbClr val="FAE5CD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93663" marR="0" lvl="0" indent="-93663" algn="l" rtl="0">
              <a:spcBef>
                <a:spcPts val="0"/>
              </a:spcBef>
              <a:buSzPct val="25000"/>
              <a:buNone/>
            </a:pPr>
            <a:r>
              <a:rPr lang="es-AR" sz="1800" b="0" i="0" u="none" strike="noStrike" cap="none"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rPr>
              <a:t>Recursos</a:t>
            </a:r>
          </a:p>
          <a:p>
            <a:pPr marL="93663" marR="0" lvl="0" indent="-93663" algn="l" rtl="0">
              <a:spcBef>
                <a:spcPts val="0"/>
              </a:spcBef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I/O asignados</a:t>
            </a:r>
          </a:p>
          <a:p>
            <a:pPr marL="273050" marR="0" lvl="1" indent="-6350" algn="l" rtl="0">
              <a:spcBef>
                <a:spcPts val="0"/>
              </a:spcBef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Archivos</a:t>
            </a:r>
          </a:p>
          <a:p>
            <a:pPr marL="273050" marR="0" lvl="1" indent="-6350" algn="l" rtl="0">
              <a:spcBef>
                <a:spcPts val="0"/>
              </a:spcBef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Puertos</a:t>
            </a:r>
          </a:p>
          <a:p>
            <a:pPr marL="93663" marR="0" lvl="0" indent="-93663" algn="l" rtl="0">
              <a:spcBef>
                <a:spcPts val="0"/>
              </a:spcBef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Límites de Memoria</a:t>
            </a:r>
          </a:p>
        </p:txBody>
      </p:sp>
      <p:sp>
        <p:nvSpPr>
          <p:cNvPr id="183" name="Shape 183"/>
          <p:cNvSpPr/>
          <p:nvPr/>
        </p:nvSpPr>
        <p:spPr>
          <a:xfrm>
            <a:off x="1828800" y="12954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Espacio de Direcciones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del Proceso</a:t>
            </a:r>
          </a:p>
        </p:txBody>
      </p:sp>
      <p:sp>
        <p:nvSpPr>
          <p:cNvPr id="184" name="Shape 184"/>
          <p:cNvSpPr/>
          <p:nvPr/>
        </p:nvSpPr>
        <p:spPr>
          <a:xfrm>
            <a:off x="2057400" y="2819400"/>
            <a:ext cx="1676399" cy="1066799"/>
          </a:xfrm>
          <a:prstGeom prst="rect">
            <a:avLst/>
          </a:prstGeom>
          <a:solidFill>
            <a:srgbClr val="FAE5CD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93663" marR="0" lvl="0" indent="-93663" algn="l" rtl="0">
              <a:spcBef>
                <a:spcPts val="0"/>
              </a:spcBef>
              <a:buSzPct val="25000"/>
              <a:buNone/>
            </a:pPr>
            <a:r>
              <a:rPr lang="es-AR" sz="1800" b="0" i="0" u="none" strike="noStrike" cap="none"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rPr>
              <a:t>Control- PCB</a:t>
            </a:r>
          </a:p>
          <a:p>
            <a:pPr marL="93663" marR="0" lvl="0" indent="-93663" algn="l" rtl="0">
              <a:spcBef>
                <a:spcPts val="0"/>
              </a:spcBef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PID (identificador)</a:t>
            </a:r>
          </a:p>
          <a:p>
            <a:pPr marL="93663" marR="0" lvl="0" indent="-93663" algn="l" rtl="0">
              <a:spcBef>
                <a:spcPts val="0"/>
              </a:spcBef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Estado</a:t>
            </a:r>
          </a:p>
          <a:p>
            <a:pPr marL="93663" marR="0" lvl="0" indent="-93663" algn="l" rtl="0">
              <a:spcBef>
                <a:spcPts val="0"/>
              </a:spcBef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2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Program Counter</a:t>
            </a:r>
          </a:p>
          <a:p>
            <a:pPr marL="93663" marR="0" lvl="0" indent="-93663" algn="l" rtl="0">
              <a:spcBef>
                <a:spcPts val="0"/>
              </a:spcBef>
              <a:buClr>
                <a:schemeClr val="dk1"/>
              </a:buClr>
              <a:buFont typeface="Questrial"/>
              <a:buNone/>
            </a:pPr>
            <a:endParaRPr sz="12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" name="Shape 185"/>
          <p:cNvSpPr/>
          <p:nvPr/>
        </p:nvSpPr>
        <p:spPr>
          <a:xfrm>
            <a:off x="2057400" y="5029200"/>
            <a:ext cx="1676399" cy="457200"/>
          </a:xfrm>
          <a:prstGeom prst="rect">
            <a:avLst/>
          </a:prstGeom>
          <a:solidFill>
            <a:srgbClr val="EFEFF7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6" name="Shape 186"/>
          <p:cNvSpPr/>
          <p:nvPr/>
        </p:nvSpPr>
        <p:spPr>
          <a:xfrm>
            <a:off x="2057400" y="3886200"/>
            <a:ext cx="1676399" cy="381000"/>
          </a:xfrm>
          <a:prstGeom prst="rect">
            <a:avLst/>
          </a:prstGeom>
          <a:solidFill>
            <a:srgbClr val="EFEFF7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Pila </a:t>
            </a:r>
            <a:r>
              <a:rPr lang="es-AR" sz="9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(v. locales)</a:t>
            </a:r>
          </a:p>
        </p:txBody>
      </p:sp>
      <p:sp>
        <p:nvSpPr>
          <p:cNvPr id="187" name="Shape 187"/>
          <p:cNvSpPr/>
          <p:nvPr/>
        </p:nvSpPr>
        <p:spPr>
          <a:xfrm>
            <a:off x="2057400" y="5029200"/>
            <a:ext cx="1676399" cy="457200"/>
          </a:xfrm>
          <a:prstGeom prst="rect">
            <a:avLst/>
          </a:prstGeom>
          <a:solidFill>
            <a:srgbClr val="EFEFF7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Heap </a:t>
            </a:r>
            <a:r>
              <a:rPr lang="es-AR" sz="1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(v.  globales)</a:t>
            </a:r>
          </a:p>
        </p:txBody>
      </p:sp>
      <p:sp>
        <p:nvSpPr>
          <p:cNvPr id="188" name="Shape 188"/>
          <p:cNvSpPr/>
          <p:nvPr/>
        </p:nvSpPr>
        <p:spPr>
          <a:xfrm>
            <a:off x="2057400" y="3886200"/>
            <a:ext cx="1676399" cy="16001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9" name="Shape 189"/>
          <p:cNvSpPr txBox="1"/>
          <p:nvPr/>
        </p:nvSpPr>
        <p:spPr>
          <a:xfrm rot="-5400000">
            <a:off x="1340644" y="4388644"/>
            <a:ext cx="106679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s-AR"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Datos</a:t>
            </a:r>
          </a:p>
        </p:txBody>
      </p:sp>
      <p:cxnSp>
        <p:nvCxnSpPr>
          <p:cNvPr id="190" name="Shape 190"/>
          <p:cNvCxnSpPr/>
          <p:nvPr/>
        </p:nvCxnSpPr>
        <p:spPr>
          <a:xfrm rot="10800000">
            <a:off x="1905000" y="3886199"/>
            <a:ext cx="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91" name="Shape 191"/>
          <p:cNvCxnSpPr/>
          <p:nvPr/>
        </p:nvCxnSpPr>
        <p:spPr>
          <a:xfrm>
            <a:off x="1914525" y="5105400"/>
            <a:ext cx="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92" name="Shape 192"/>
          <p:cNvCxnSpPr/>
          <p:nvPr/>
        </p:nvCxnSpPr>
        <p:spPr>
          <a:xfrm rot="10800000">
            <a:off x="1828799" y="5486400"/>
            <a:ext cx="22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Shape 193"/>
          <p:cNvCxnSpPr/>
          <p:nvPr/>
        </p:nvCxnSpPr>
        <p:spPr>
          <a:xfrm rot="10800000">
            <a:off x="1790699" y="3892550"/>
            <a:ext cx="22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" name="Shape 194"/>
          <p:cNvSpPr/>
          <p:nvPr/>
        </p:nvSpPr>
        <p:spPr>
          <a:xfrm>
            <a:off x="6494462" y="1982788"/>
            <a:ext cx="223837" cy="16716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0"/>
                </a:moveTo>
                <a:cubicBezTo>
                  <a:pt x="90000" y="3333"/>
                  <a:pt x="120000" y="6666"/>
                  <a:pt x="120000" y="10000"/>
                </a:cubicBezTo>
                <a:cubicBezTo>
                  <a:pt x="120000" y="13333"/>
                  <a:pt x="80000" y="16666"/>
                  <a:pt x="60000" y="20000"/>
                </a:cubicBezTo>
                <a:cubicBezTo>
                  <a:pt x="40000" y="23333"/>
                  <a:pt x="0" y="26666"/>
                  <a:pt x="0" y="30000"/>
                </a:cubicBezTo>
                <a:cubicBezTo>
                  <a:pt x="0" y="33333"/>
                  <a:pt x="40000" y="36666"/>
                  <a:pt x="60000" y="40000"/>
                </a:cubicBezTo>
                <a:cubicBezTo>
                  <a:pt x="80000" y="43333"/>
                  <a:pt x="120000" y="46666"/>
                  <a:pt x="120000" y="50000"/>
                </a:cubicBezTo>
                <a:cubicBezTo>
                  <a:pt x="120000" y="53333"/>
                  <a:pt x="80000" y="56666"/>
                  <a:pt x="60000" y="60000"/>
                </a:cubicBezTo>
                <a:cubicBezTo>
                  <a:pt x="40000" y="63333"/>
                  <a:pt x="0" y="66666"/>
                  <a:pt x="0" y="70000"/>
                </a:cubicBezTo>
                <a:cubicBezTo>
                  <a:pt x="0" y="73333"/>
                  <a:pt x="40000" y="76666"/>
                  <a:pt x="60000" y="80000"/>
                </a:cubicBezTo>
                <a:cubicBezTo>
                  <a:pt x="80000" y="83333"/>
                  <a:pt x="120000" y="86666"/>
                  <a:pt x="120000" y="90000"/>
                </a:cubicBezTo>
                <a:cubicBezTo>
                  <a:pt x="120000" y="93333"/>
                  <a:pt x="80000" y="96666"/>
                  <a:pt x="60000" y="100000"/>
                </a:cubicBezTo>
                <a:cubicBezTo>
                  <a:pt x="40000" y="103333"/>
                  <a:pt x="0" y="106666"/>
                  <a:pt x="0" y="110000"/>
                </a:cubicBezTo>
                <a:cubicBezTo>
                  <a:pt x="0" y="113333"/>
                  <a:pt x="30000" y="116666"/>
                  <a:pt x="60000" y="12000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grpSp>
        <p:nvGrpSpPr>
          <p:cNvPr id="195" name="Shape 195"/>
          <p:cNvGrpSpPr/>
          <p:nvPr/>
        </p:nvGrpSpPr>
        <p:grpSpPr>
          <a:xfrm>
            <a:off x="5087938" y="2879725"/>
            <a:ext cx="457200" cy="239713"/>
            <a:chOff x="2293" y="1718"/>
            <a:chExt cx="288" cy="151"/>
          </a:xfrm>
        </p:grpSpPr>
        <p:cxnSp>
          <p:nvCxnSpPr>
            <p:cNvPr id="196" name="Shape 196"/>
            <p:cNvCxnSpPr/>
            <p:nvPr/>
          </p:nvCxnSpPr>
          <p:spPr>
            <a:xfrm>
              <a:off x="2293" y="1869"/>
              <a:ext cx="288" cy="0"/>
            </a:xfrm>
            <a:prstGeom prst="straightConnector1">
              <a:avLst/>
            </a:prstGeom>
            <a:noFill/>
            <a:ln w="38100" cap="flat" cmpd="sng">
              <a:solidFill>
                <a:srgbClr val="CC33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197" name="Shape 197"/>
            <p:cNvSpPr txBox="1"/>
            <p:nvPr/>
          </p:nvSpPr>
          <p:spPr>
            <a:xfrm>
              <a:off x="2293" y="1718"/>
              <a:ext cx="172" cy="11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2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PC</a:t>
              </a:r>
            </a:p>
          </p:txBody>
        </p:sp>
      </p:grpSp>
      <p:sp>
        <p:nvSpPr>
          <p:cNvPr id="198" name="Shape 198"/>
          <p:cNvSpPr/>
          <p:nvPr/>
        </p:nvSpPr>
        <p:spPr>
          <a:xfrm>
            <a:off x="6494462" y="3654425"/>
            <a:ext cx="223837" cy="16716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0"/>
                </a:moveTo>
                <a:cubicBezTo>
                  <a:pt x="90000" y="3333"/>
                  <a:pt x="120000" y="6666"/>
                  <a:pt x="120000" y="10000"/>
                </a:cubicBezTo>
                <a:cubicBezTo>
                  <a:pt x="120000" y="13333"/>
                  <a:pt x="80000" y="16666"/>
                  <a:pt x="60000" y="20000"/>
                </a:cubicBezTo>
                <a:cubicBezTo>
                  <a:pt x="40000" y="23333"/>
                  <a:pt x="0" y="26666"/>
                  <a:pt x="0" y="30000"/>
                </a:cubicBezTo>
                <a:cubicBezTo>
                  <a:pt x="0" y="33333"/>
                  <a:pt x="40000" y="36666"/>
                  <a:pt x="60000" y="40000"/>
                </a:cubicBezTo>
                <a:cubicBezTo>
                  <a:pt x="80000" y="43333"/>
                  <a:pt x="120000" y="46666"/>
                  <a:pt x="120000" y="50000"/>
                </a:cubicBezTo>
                <a:cubicBezTo>
                  <a:pt x="120000" y="53333"/>
                  <a:pt x="80000" y="56666"/>
                  <a:pt x="60000" y="60000"/>
                </a:cubicBezTo>
                <a:cubicBezTo>
                  <a:pt x="40000" y="63333"/>
                  <a:pt x="0" y="66666"/>
                  <a:pt x="0" y="70000"/>
                </a:cubicBezTo>
                <a:cubicBezTo>
                  <a:pt x="0" y="73333"/>
                  <a:pt x="40000" y="76666"/>
                  <a:pt x="60000" y="80000"/>
                </a:cubicBezTo>
                <a:cubicBezTo>
                  <a:pt x="80000" y="83333"/>
                  <a:pt x="120000" y="86666"/>
                  <a:pt x="120000" y="90000"/>
                </a:cubicBezTo>
                <a:cubicBezTo>
                  <a:pt x="120000" y="93333"/>
                  <a:pt x="80000" y="96666"/>
                  <a:pt x="60000" y="100000"/>
                </a:cubicBezTo>
                <a:cubicBezTo>
                  <a:pt x="40000" y="103333"/>
                  <a:pt x="0" y="106666"/>
                  <a:pt x="0" y="110000"/>
                </a:cubicBezTo>
                <a:cubicBezTo>
                  <a:pt x="0" y="113333"/>
                  <a:pt x="30000" y="116666"/>
                  <a:pt x="60000" y="12000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99" name="Shape 199"/>
          <p:cNvCxnSpPr/>
          <p:nvPr/>
        </p:nvCxnSpPr>
        <p:spPr>
          <a:xfrm rot="10800000" flipH="1">
            <a:off x="3733800" y="6400799"/>
            <a:ext cx="1066799" cy="228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200" name="Shape 200"/>
          <p:cNvSpPr/>
          <p:nvPr/>
        </p:nvSpPr>
        <p:spPr>
          <a:xfrm>
            <a:off x="2058988" y="5486400"/>
            <a:ext cx="1674812" cy="236538"/>
          </a:xfrm>
          <a:prstGeom prst="rect">
            <a:avLst/>
          </a:prstGeom>
          <a:solidFill>
            <a:srgbClr val="FAE5CD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Constantes</a:t>
            </a:r>
          </a:p>
        </p:txBody>
      </p:sp>
    </p:spTree>
    <p:extLst>
      <p:ext uri="{BB962C8B-B14F-4D97-AF65-F5344CB8AC3E}">
        <p14:creationId xmlns:p14="http://schemas.microsoft.com/office/powerpoint/2010/main" val="1407166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7921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Ejecución con hilos</a:t>
            </a:r>
          </a:p>
        </p:txBody>
      </p:sp>
      <p:sp>
        <p:nvSpPr>
          <p:cNvPr id="206" name="Shape 206"/>
          <p:cNvSpPr/>
          <p:nvPr/>
        </p:nvSpPr>
        <p:spPr>
          <a:xfrm>
            <a:off x="3276600" y="1676400"/>
            <a:ext cx="1066799" cy="42671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cubicBezTo>
                  <a:pt x="12321" y="115714"/>
                  <a:pt x="58750" y="111294"/>
                  <a:pt x="73928" y="94241"/>
                </a:cubicBezTo>
                <a:cubicBezTo>
                  <a:pt x="89107" y="77187"/>
                  <a:pt x="83392" y="33348"/>
                  <a:pt x="91071" y="17633"/>
                </a:cubicBezTo>
                <a:cubicBezTo>
                  <a:pt x="98750" y="1919"/>
                  <a:pt x="113928" y="3660"/>
                  <a:pt x="120000" y="0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7" name="Shape 207"/>
          <p:cNvSpPr/>
          <p:nvPr/>
        </p:nvSpPr>
        <p:spPr>
          <a:xfrm>
            <a:off x="1600200" y="4732337"/>
            <a:ext cx="1676399" cy="381000"/>
          </a:xfrm>
          <a:prstGeom prst="rect">
            <a:avLst/>
          </a:prstGeom>
          <a:solidFill>
            <a:srgbClr val="EFEFF7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8" name="Shape 208"/>
          <p:cNvSpPr/>
          <p:nvPr/>
        </p:nvSpPr>
        <p:spPr>
          <a:xfrm>
            <a:off x="1600200" y="5951537"/>
            <a:ext cx="1676399" cy="762000"/>
          </a:xfrm>
          <a:prstGeom prst="rect">
            <a:avLst/>
          </a:prstGeom>
          <a:solidFill>
            <a:srgbClr val="F5CB9D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Código de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Programa de P</a:t>
            </a:r>
          </a:p>
        </p:txBody>
      </p:sp>
      <p:sp>
        <p:nvSpPr>
          <p:cNvPr id="209" name="Shape 209"/>
          <p:cNvSpPr/>
          <p:nvPr/>
        </p:nvSpPr>
        <p:spPr>
          <a:xfrm>
            <a:off x="1600200" y="1738311"/>
            <a:ext cx="1676399" cy="328613"/>
          </a:xfrm>
          <a:prstGeom prst="rect">
            <a:avLst/>
          </a:prstGeom>
          <a:solidFill>
            <a:srgbClr val="F5CB9D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93663" marR="0" lvl="0" indent="-93663" algn="l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rPr>
              <a:t>Recursos de P</a:t>
            </a:r>
          </a:p>
        </p:txBody>
      </p:sp>
      <p:sp>
        <p:nvSpPr>
          <p:cNvPr id="210" name="Shape 210"/>
          <p:cNvSpPr/>
          <p:nvPr/>
        </p:nvSpPr>
        <p:spPr>
          <a:xfrm>
            <a:off x="1362075" y="1281111"/>
            <a:ext cx="208915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Espacio de Direcciones virtuales del Proceso P</a:t>
            </a:r>
          </a:p>
        </p:txBody>
      </p:sp>
      <p:sp>
        <p:nvSpPr>
          <p:cNvPr id="211" name="Shape 211"/>
          <p:cNvSpPr/>
          <p:nvPr/>
        </p:nvSpPr>
        <p:spPr>
          <a:xfrm>
            <a:off x="1600200" y="2066925"/>
            <a:ext cx="1676399" cy="303211"/>
          </a:xfrm>
          <a:prstGeom prst="rect">
            <a:avLst/>
          </a:prstGeom>
          <a:solidFill>
            <a:srgbClr val="F5CB9D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93663" marR="0" lvl="0" indent="-93663" algn="l" rtl="0">
              <a:spcBef>
                <a:spcPts val="0"/>
              </a:spcBef>
              <a:buSzPct val="25000"/>
              <a:buNone/>
            </a:pPr>
            <a:r>
              <a:rPr lang="es-AR" sz="1400"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rPr>
              <a:t>PCB y TCB de H0</a:t>
            </a:r>
          </a:p>
        </p:txBody>
      </p:sp>
      <p:sp>
        <p:nvSpPr>
          <p:cNvPr id="212" name="Shape 212"/>
          <p:cNvSpPr/>
          <p:nvPr/>
        </p:nvSpPr>
        <p:spPr>
          <a:xfrm>
            <a:off x="1600200" y="5494337"/>
            <a:ext cx="1676399" cy="228600"/>
          </a:xfrm>
          <a:prstGeom prst="rect">
            <a:avLst/>
          </a:prstGeom>
          <a:solidFill>
            <a:srgbClr val="EFEFF7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1600200" y="4732337"/>
            <a:ext cx="1676399" cy="381000"/>
          </a:xfrm>
          <a:prstGeom prst="rect">
            <a:avLst/>
          </a:prstGeom>
          <a:solidFill>
            <a:srgbClr val="EFEFF7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Pila H0</a:t>
            </a: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(v. locales)</a:t>
            </a:r>
          </a:p>
        </p:txBody>
      </p:sp>
      <p:sp>
        <p:nvSpPr>
          <p:cNvPr id="214" name="Shape 214"/>
          <p:cNvSpPr/>
          <p:nvPr/>
        </p:nvSpPr>
        <p:spPr>
          <a:xfrm>
            <a:off x="1600200" y="5429250"/>
            <a:ext cx="1676399" cy="236536"/>
          </a:xfrm>
          <a:prstGeom prst="rect">
            <a:avLst/>
          </a:prstGeom>
          <a:solidFill>
            <a:srgbClr val="EFEFF7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Heap</a:t>
            </a: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1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(m. dinámica)</a:t>
            </a:r>
          </a:p>
        </p:txBody>
      </p:sp>
      <p:sp>
        <p:nvSpPr>
          <p:cNvPr id="215" name="Shape 215"/>
          <p:cNvSpPr txBox="1"/>
          <p:nvPr/>
        </p:nvSpPr>
        <p:spPr>
          <a:xfrm rot="-5400000">
            <a:off x="558006" y="4375943"/>
            <a:ext cx="1809750" cy="182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Memoria de Datos de P</a:t>
            </a:r>
          </a:p>
        </p:txBody>
      </p:sp>
      <p:cxnSp>
        <p:nvCxnSpPr>
          <p:cNvPr id="216" name="Shape 216"/>
          <p:cNvCxnSpPr/>
          <p:nvPr/>
        </p:nvCxnSpPr>
        <p:spPr>
          <a:xfrm rot="10800000">
            <a:off x="1476375" y="2957511"/>
            <a:ext cx="0" cy="6619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17" name="Shape 217"/>
          <p:cNvCxnSpPr/>
          <p:nvPr/>
        </p:nvCxnSpPr>
        <p:spPr>
          <a:xfrm flipH="1">
            <a:off x="1457325" y="5429250"/>
            <a:ext cx="19049" cy="5143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18" name="Shape 218"/>
          <p:cNvCxnSpPr/>
          <p:nvPr/>
        </p:nvCxnSpPr>
        <p:spPr>
          <a:xfrm rot="10800000">
            <a:off x="1362074" y="5943600"/>
            <a:ext cx="22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Shape 219"/>
          <p:cNvCxnSpPr/>
          <p:nvPr/>
        </p:nvCxnSpPr>
        <p:spPr>
          <a:xfrm rot="10800000">
            <a:off x="1371599" y="2976561"/>
            <a:ext cx="22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" name="Shape 220"/>
          <p:cNvSpPr/>
          <p:nvPr/>
        </p:nvSpPr>
        <p:spPr>
          <a:xfrm>
            <a:off x="4343400" y="1676400"/>
            <a:ext cx="2362200" cy="4808537"/>
          </a:xfrm>
          <a:prstGeom prst="rect">
            <a:avLst/>
          </a:prstGeom>
          <a:solidFill>
            <a:srgbClr val="EFEFF7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5000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5001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5002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5003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5004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5005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5006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5007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5008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5009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5010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5011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5012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5013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5014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5015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5016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5017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5018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5019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5020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5021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5022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5023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5024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5025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5026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5027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5028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5029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5030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5031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5032</a:t>
            </a: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5033</a:t>
            </a:r>
          </a:p>
        </p:txBody>
      </p:sp>
      <p:grpSp>
        <p:nvGrpSpPr>
          <p:cNvPr id="221" name="Shape 221"/>
          <p:cNvGrpSpPr/>
          <p:nvPr/>
        </p:nvGrpSpPr>
        <p:grpSpPr>
          <a:xfrm>
            <a:off x="4764088" y="3098800"/>
            <a:ext cx="457200" cy="239712"/>
            <a:chOff x="2293" y="1718"/>
            <a:chExt cx="288" cy="151"/>
          </a:xfrm>
        </p:grpSpPr>
        <p:cxnSp>
          <p:nvCxnSpPr>
            <p:cNvPr id="222" name="Shape 222"/>
            <p:cNvCxnSpPr/>
            <p:nvPr/>
          </p:nvCxnSpPr>
          <p:spPr>
            <a:xfrm>
              <a:off x="2293" y="1869"/>
              <a:ext cx="288" cy="0"/>
            </a:xfrm>
            <a:prstGeom prst="straightConnector1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223" name="Shape 223"/>
            <p:cNvSpPr txBox="1"/>
            <p:nvPr/>
          </p:nvSpPr>
          <p:spPr>
            <a:xfrm>
              <a:off x="2293" y="1718"/>
              <a:ext cx="172" cy="11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200" b="1">
                  <a:solidFill>
                    <a:schemeClr val="hlink"/>
                  </a:solidFill>
                  <a:latin typeface="Questrial"/>
                  <a:ea typeface="Questrial"/>
                  <a:cs typeface="Questrial"/>
                  <a:sym typeface="Questrial"/>
                </a:rPr>
                <a:t>PC</a:t>
              </a:r>
              <a:r>
                <a:rPr lang="es-AR" sz="1200" b="1" baseline="-25000">
                  <a:solidFill>
                    <a:schemeClr val="hlink"/>
                  </a:solidFill>
                  <a:latin typeface="Questrial"/>
                  <a:ea typeface="Questrial"/>
                  <a:cs typeface="Questrial"/>
                  <a:sym typeface="Questrial"/>
                </a:rPr>
                <a:t>0</a:t>
              </a:r>
            </a:p>
          </p:txBody>
        </p:sp>
      </p:grpSp>
      <p:sp>
        <p:nvSpPr>
          <p:cNvPr id="224" name="Shape 224"/>
          <p:cNvSpPr/>
          <p:nvPr/>
        </p:nvSpPr>
        <p:spPr>
          <a:xfrm>
            <a:off x="3276600" y="6475412"/>
            <a:ext cx="1066799" cy="23812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120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5" name="Shape 225"/>
          <p:cNvSpPr/>
          <p:nvPr/>
        </p:nvSpPr>
        <p:spPr>
          <a:xfrm>
            <a:off x="1600200" y="2370136"/>
            <a:ext cx="1676399" cy="303213"/>
          </a:xfrm>
          <a:prstGeom prst="rect">
            <a:avLst/>
          </a:prstGeom>
          <a:solidFill>
            <a:srgbClr val="DFEEE8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93663" marR="0" lvl="0" indent="-93663" algn="l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rgbClr val="0066FF"/>
                </a:solidFill>
                <a:latin typeface="Questrial"/>
                <a:ea typeface="Questrial"/>
                <a:cs typeface="Questrial"/>
                <a:sym typeface="Questrial"/>
              </a:rPr>
              <a:t>TCB de H1</a:t>
            </a:r>
          </a:p>
        </p:txBody>
      </p:sp>
      <p:sp>
        <p:nvSpPr>
          <p:cNvPr id="226" name="Shape 226"/>
          <p:cNvSpPr/>
          <p:nvPr/>
        </p:nvSpPr>
        <p:spPr>
          <a:xfrm>
            <a:off x="1600200" y="2673350"/>
            <a:ext cx="1676399" cy="303211"/>
          </a:xfrm>
          <a:prstGeom prst="rect">
            <a:avLst/>
          </a:prstGeom>
          <a:solidFill>
            <a:srgbClr val="DFEEE8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93663" marR="0" lvl="0" indent="-93663" algn="l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rgbClr val="006600"/>
                </a:solidFill>
                <a:latin typeface="Questrial"/>
                <a:ea typeface="Questrial"/>
                <a:cs typeface="Questrial"/>
                <a:sym typeface="Questrial"/>
              </a:rPr>
              <a:t>TCB de H2</a:t>
            </a:r>
          </a:p>
        </p:txBody>
      </p:sp>
      <p:grpSp>
        <p:nvGrpSpPr>
          <p:cNvPr id="227" name="Shape 227"/>
          <p:cNvGrpSpPr/>
          <p:nvPr/>
        </p:nvGrpSpPr>
        <p:grpSpPr>
          <a:xfrm flipH="1">
            <a:off x="5707063" y="3813175"/>
            <a:ext cx="457200" cy="239712"/>
            <a:chOff x="2292" y="1718"/>
            <a:chExt cx="288" cy="151"/>
          </a:xfrm>
        </p:grpSpPr>
        <p:cxnSp>
          <p:nvCxnSpPr>
            <p:cNvPr id="228" name="Shape 228"/>
            <p:cNvCxnSpPr/>
            <p:nvPr/>
          </p:nvCxnSpPr>
          <p:spPr>
            <a:xfrm>
              <a:off x="2293" y="1869"/>
              <a:ext cx="288" cy="0"/>
            </a:xfrm>
            <a:prstGeom prst="straightConnector1">
              <a:avLst/>
            </a:prstGeom>
            <a:noFill/>
            <a:ln w="38100" cap="flat" cmpd="sng">
              <a:solidFill>
                <a:srgbClr val="0066FF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229" name="Shape 229"/>
            <p:cNvSpPr txBox="1"/>
            <p:nvPr/>
          </p:nvSpPr>
          <p:spPr>
            <a:xfrm flipH="1">
              <a:off x="2292" y="1718"/>
              <a:ext cx="172" cy="11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r>
                <a:rPr lang="es-AR" sz="1200" b="1">
                  <a:solidFill>
                    <a:srgbClr val="0066FF"/>
                  </a:solidFill>
                  <a:latin typeface="Questrial"/>
                  <a:ea typeface="Questrial"/>
                  <a:cs typeface="Questrial"/>
                  <a:sym typeface="Questrial"/>
                </a:rPr>
                <a:t>PC</a:t>
              </a:r>
              <a:r>
                <a:rPr lang="es-AR" sz="1200" b="1" baseline="-25000">
                  <a:solidFill>
                    <a:srgbClr val="0066FF"/>
                  </a:solidFill>
                  <a:latin typeface="Questrial"/>
                  <a:ea typeface="Questrial"/>
                  <a:cs typeface="Questrial"/>
                  <a:sym typeface="Questrial"/>
                </a:rPr>
                <a:t>1</a:t>
              </a:r>
            </a:p>
          </p:txBody>
        </p:sp>
      </p:grpSp>
      <p:grpSp>
        <p:nvGrpSpPr>
          <p:cNvPr id="230" name="Shape 230"/>
          <p:cNvGrpSpPr/>
          <p:nvPr/>
        </p:nvGrpSpPr>
        <p:grpSpPr>
          <a:xfrm flipH="1">
            <a:off x="5707063" y="5189536"/>
            <a:ext cx="457200" cy="239713"/>
            <a:chOff x="2292" y="1718"/>
            <a:chExt cx="288" cy="151"/>
          </a:xfrm>
        </p:grpSpPr>
        <p:cxnSp>
          <p:nvCxnSpPr>
            <p:cNvPr id="231" name="Shape 231"/>
            <p:cNvCxnSpPr/>
            <p:nvPr/>
          </p:nvCxnSpPr>
          <p:spPr>
            <a:xfrm>
              <a:off x="2293" y="1869"/>
              <a:ext cx="288" cy="0"/>
            </a:xfrm>
            <a:prstGeom prst="straightConnector1">
              <a:avLst/>
            </a:prstGeom>
            <a:noFill/>
            <a:ln w="38100" cap="flat" cmpd="sng">
              <a:solidFill>
                <a:srgbClr val="0066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232" name="Shape 232"/>
            <p:cNvSpPr txBox="1"/>
            <p:nvPr/>
          </p:nvSpPr>
          <p:spPr>
            <a:xfrm flipH="1">
              <a:off x="2292" y="1718"/>
              <a:ext cx="172" cy="11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200" b="1">
                  <a:solidFill>
                    <a:srgbClr val="006600"/>
                  </a:solidFill>
                  <a:latin typeface="Questrial"/>
                  <a:ea typeface="Questrial"/>
                  <a:cs typeface="Questrial"/>
                  <a:sym typeface="Questrial"/>
                </a:rPr>
                <a:t>PC</a:t>
              </a:r>
              <a:r>
                <a:rPr lang="es-AR" sz="1200" b="1" baseline="-25000">
                  <a:solidFill>
                    <a:srgbClr val="006600"/>
                  </a:solidFill>
                  <a:latin typeface="Questrial"/>
                  <a:ea typeface="Questrial"/>
                  <a:cs typeface="Questrial"/>
                  <a:sym typeface="Questrial"/>
                </a:rPr>
                <a:t>2</a:t>
              </a:r>
            </a:p>
          </p:txBody>
        </p:sp>
      </p:grpSp>
      <p:sp>
        <p:nvSpPr>
          <p:cNvPr id="233" name="Shape 233"/>
          <p:cNvSpPr/>
          <p:nvPr/>
        </p:nvSpPr>
        <p:spPr>
          <a:xfrm>
            <a:off x="1600200" y="2976561"/>
            <a:ext cx="1676399" cy="368299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34" name="Shape 234"/>
          <p:cNvSpPr/>
          <p:nvPr/>
        </p:nvSpPr>
        <p:spPr>
          <a:xfrm>
            <a:off x="1600200" y="2971800"/>
            <a:ext cx="1676399" cy="368299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Pila H1</a:t>
            </a: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(v. locales)</a:t>
            </a:r>
          </a:p>
        </p:txBody>
      </p:sp>
      <p:sp>
        <p:nvSpPr>
          <p:cNvPr id="235" name="Shape 235"/>
          <p:cNvSpPr/>
          <p:nvPr/>
        </p:nvSpPr>
        <p:spPr>
          <a:xfrm>
            <a:off x="1600200" y="3811587"/>
            <a:ext cx="1676399" cy="3810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36" name="Shape 236"/>
          <p:cNvSpPr/>
          <p:nvPr/>
        </p:nvSpPr>
        <p:spPr>
          <a:xfrm>
            <a:off x="1600200" y="3813175"/>
            <a:ext cx="1676399" cy="3810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Pila H2</a:t>
            </a: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s-AR" sz="9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(v. locales)</a:t>
            </a:r>
          </a:p>
        </p:txBody>
      </p:sp>
      <p:cxnSp>
        <p:nvCxnSpPr>
          <p:cNvPr id="237" name="Shape 237"/>
          <p:cNvCxnSpPr/>
          <p:nvPr/>
        </p:nvCxnSpPr>
        <p:spPr>
          <a:xfrm>
            <a:off x="1600200" y="3810000"/>
            <a:ext cx="1676399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Shape 238"/>
          <p:cNvCxnSpPr/>
          <p:nvPr/>
        </p:nvCxnSpPr>
        <p:spPr>
          <a:xfrm>
            <a:off x="1600200" y="4732337"/>
            <a:ext cx="1676399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Shape 239"/>
          <p:cNvSpPr/>
          <p:nvPr/>
        </p:nvSpPr>
        <p:spPr>
          <a:xfrm>
            <a:off x="4478337" y="2578100"/>
            <a:ext cx="112711" cy="10414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0"/>
                </a:moveTo>
                <a:cubicBezTo>
                  <a:pt x="90000" y="3333"/>
                  <a:pt x="120000" y="6666"/>
                  <a:pt x="120000" y="10000"/>
                </a:cubicBezTo>
                <a:cubicBezTo>
                  <a:pt x="120000" y="13333"/>
                  <a:pt x="80000" y="16666"/>
                  <a:pt x="60000" y="20000"/>
                </a:cubicBezTo>
                <a:cubicBezTo>
                  <a:pt x="40000" y="23333"/>
                  <a:pt x="0" y="26666"/>
                  <a:pt x="0" y="30000"/>
                </a:cubicBezTo>
                <a:cubicBezTo>
                  <a:pt x="0" y="33333"/>
                  <a:pt x="40000" y="36666"/>
                  <a:pt x="60000" y="40000"/>
                </a:cubicBezTo>
                <a:cubicBezTo>
                  <a:pt x="80000" y="43333"/>
                  <a:pt x="120000" y="46666"/>
                  <a:pt x="120000" y="50000"/>
                </a:cubicBezTo>
                <a:cubicBezTo>
                  <a:pt x="120000" y="53333"/>
                  <a:pt x="80000" y="56666"/>
                  <a:pt x="60000" y="60000"/>
                </a:cubicBezTo>
                <a:cubicBezTo>
                  <a:pt x="40000" y="63333"/>
                  <a:pt x="0" y="66666"/>
                  <a:pt x="0" y="70000"/>
                </a:cubicBezTo>
                <a:cubicBezTo>
                  <a:pt x="0" y="73333"/>
                  <a:pt x="40000" y="76666"/>
                  <a:pt x="60000" y="80000"/>
                </a:cubicBezTo>
                <a:cubicBezTo>
                  <a:pt x="80000" y="83333"/>
                  <a:pt x="120000" y="86666"/>
                  <a:pt x="120000" y="90000"/>
                </a:cubicBezTo>
                <a:cubicBezTo>
                  <a:pt x="120000" y="93333"/>
                  <a:pt x="80000" y="96666"/>
                  <a:pt x="60000" y="100000"/>
                </a:cubicBezTo>
                <a:cubicBezTo>
                  <a:pt x="40000" y="103333"/>
                  <a:pt x="0" y="106666"/>
                  <a:pt x="0" y="110000"/>
                </a:cubicBezTo>
                <a:cubicBezTo>
                  <a:pt x="0" y="113333"/>
                  <a:pt x="30000" y="116666"/>
                  <a:pt x="60000" y="120000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0" name="Shape 240"/>
          <p:cNvSpPr/>
          <p:nvPr/>
        </p:nvSpPr>
        <p:spPr>
          <a:xfrm>
            <a:off x="6324600" y="3354387"/>
            <a:ext cx="112713" cy="10414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0"/>
                </a:moveTo>
                <a:cubicBezTo>
                  <a:pt x="90000" y="3333"/>
                  <a:pt x="120000" y="6666"/>
                  <a:pt x="120000" y="10000"/>
                </a:cubicBezTo>
                <a:cubicBezTo>
                  <a:pt x="120000" y="13333"/>
                  <a:pt x="80000" y="16666"/>
                  <a:pt x="60000" y="20000"/>
                </a:cubicBezTo>
                <a:cubicBezTo>
                  <a:pt x="40000" y="23333"/>
                  <a:pt x="0" y="26666"/>
                  <a:pt x="0" y="30000"/>
                </a:cubicBezTo>
                <a:cubicBezTo>
                  <a:pt x="0" y="33333"/>
                  <a:pt x="40000" y="36666"/>
                  <a:pt x="60000" y="40000"/>
                </a:cubicBezTo>
                <a:cubicBezTo>
                  <a:pt x="80000" y="43333"/>
                  <a:pt x="120000" y="46666"/>
                  <a:pt x="120000" y="50000"/>
                </a:cubicBezTo>
                <a:cubicBezTo>
                  <a:pt x="120000" y="53333"/>
                  <a:pt x="80000" y="56666"/>
                  <a:pt x="60000" y="60000"/>
                </a:cubicBezTo>
                <a:cubicBezTo>
                  <a:pt x="40000" y="63333"/>
                  <a:pt x="0" y="66666"/>
                  <a:pt x="0" y="70000"/>
                </a:cubicBezTo>
                <a:cubicBezTo>
                  <a:pt x="0" y="73333"/>
                  <a:pt x="40000" y="76666"/>
                  <a:pt x="60000" y="80000"/>
                </a:cubicBezTo>
                <a:cubicBezTo>
                  <a:pt x="80000" y="83333"/>
                  <a:pt x="120000" y="86666"/>
                  <a:pt x="120000" y="90000"/>
                </a:cubicBezTo>
                <a:cubicBezTo>
                  <a:pt x="120000" y="93333"/>
                  <a:pt x="80000" y="96666"/>
                  <a:pt x="60000" y="100000"/>
                </a:cubicBezTo>
                <a:cubicBezTo>
                  <a:pt x="40000" y="103333"/>
                  <a:pt x="0" y="106666"/>
                  <a:pt x="0" y="110000"/>
                </a:cubicBezTo>
                <a:cubicBezTo>
                  <a:pt x="0" y="113333"/>
                  <a:pt x="30000" y="116666"/>
                  <a:pt x="60000" y="120000"/>
                </a:cubicBezTo>
              </a:path>
            </a:pathLst>
          </a:custGeom>
          <a:noFill/>
          <a:ln w="38100" cap="flat" cmpd="sng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1" name="Shape 241"/>
          <p:cNvSpPr/>
          <p:nvPr/>
        </p:nvSpPr>
        <p:spPr>
          <a:xfrm>
            <a:off x="6324600" y="5189537"/>
            <a:ext cx="112713" cy="1123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0"/>
                </a:moveTo>
                <a:cubicBezTo>
                  <a:pt x="90000" y="3333"/>
                  <a:pt x="120000" y="6666"/>
                  <a:pt x="120000" y="10000"/>
                </a:cubicBezTo>
                <a:cubicBezTo>
                  <a:pt x="120000" y="13333"/>
                  <a:pt x="80000" y="16666"/>
                  <a:pt x="60000" y="20000"/>
                </a:cubicBezTo>
                <a:cubicBezTo>
                  <a:pt x="40000" y="23333"/>
                  <a:pt x="0" y="26666"/>
                  <a:pt x="0" y="30000"/>
                </a:cubicBezTo>
                <a:cubicBezTo>
                  <a:pt x="0" y="33333"/>
                  <a:pt x="40000" y="36666"/>
                  <a:pt x="60000" y="40000"/>
                </a:cubicBezTo>
                <a:cubicBezTo>
                  <a:pt x="80000" y="43333"/>
                  <a:pt x="120000" y="46666"/>
                  <a:pt x="120000" y="50000"/>
                </a:cubicBezTo>
                <a:cubicBezTo>
                  <a:pt x="120000" y="53333"/>
                  <a:pt x="80000" y="56666"/>
                  <a:pt x="60000" y="60000"/>
                </a:cubicBezTo>
                <a:cubicBezTo>
                  <a:pt x="40000" y="63333"/>
                  <a:pt x="0" y="66666"/>
                  <a:pt x="0" y="70000"/>
                </a:cubicBezTo>
                <a:cubicBezTo>
                  <a:pt x="0" y="73333"/>
                  <a:pt x="40000" y="76666"/>
                  <a:pt x="60000" y="80000"/>
                </a:cubicBezTo>
                <a:cubicBezTo>
                  <a:pt x="80000" y="83333"/>
                  <a:pt x="120000" y="86666"/>
                  <a:pt x="120000" y="90000"/>
                </a:cubicBezTo>
                <a:cubicBezTo>
                  <a:pt x="120000" y="93333"/>
                  <a:pt x="80000" y="96666"/>
                  <a:pt x="60000" y="100000"/>
                </a:cubicBezTo>
                <a:cubicBezTo>
                  <a:pt x="40000" y="103333"/>
                  <a:pt x="0" y="106666"/>
                  <a:pt x="0" y="110000"/>
                </a:cubicBezTo>
                <a:cubicBezTo>
                  <a:pt x="0" y="113333"/>
                  <a:pt x="30000" y="116666"/>
                  <a:pt x="60000" y="120000"/>
                </a:cubicBezTo>
              </a:path>
            </a:pathLst>
          </a:custGeom>
          <a:noFill/>
          <a:ln w="38100" cap="flat" cmpd="sng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2" name="Shape 242"/>
          <p:cNvSpPr/>
          <p:nvPr/>
        </p:nvSpPr>
        <p:spPr>
          <a:xfrm>
            <a:off x="1601787" y="5715000"/>
            <a:ext cx="1674812" cy="236536"/>
          </a:xfrm>
          <a:prstGeom prst="rect">
            <a:avLst/>
          </a:prstGeom>
          <a:solidFill>
            <a:srgbClr val="F5CB9D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Constantes</a:t>
            </a:r>
          </a:p>
        </p:txBody>
      </p:sp>
      <p:sp>
        <p:nvSpPr>
          <p:cNvPr id="243" name="Shape 243"/>
          <p:cNvSpPr/>
          <p:nvPr/>
        </p:nvSpPr>
        <p:spPr>
          <a:xfrm>
            <a:off x="1600200" y="2976561"/>
            <a:ext cx="1676399" cy="29749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grpSp>
        <p:nvGrpSpPr>
          <p:cNvPr id="244" name="Shape 244"/>
          <p:cNvGrpSpPr/>
          <p:nvPr/>
        </p:nvGrpSpPr>
        <p:grpSpPr>
          <a:xfrm flipH="1">
            <a:off x="3362324" y="2717800"/>
            <a:ext cx="457200" cy="239712"/>
            <a:chOff x="2292" y="1718"/>
            <a:chExt cx="288" cy="151"/>
          </a:xfrm>
        </p:grpSpPr>
        <p:cxnSp>
          <p:nvCxnSpPr>
            <p:cNvPr id="245" name="Shape 245"/>
            <p:cNvCxnSpPr/>
            <p:nvPr/>
          </p:nvCxnSpPr>
          <p:spPr>
            <a:xfrm>
              <a:off x="2293" y="1869"/>
              <a:ext cx="288" cy="0"/>
            </a:xfrm>
            <a:prstGeom prst="straightConnector1">
              <a:avLst/>
            </a:prstGeom>
            <a:noFill/>
            <a:ln w="38100" cap="flat" cmpd="sng">
              <a:solidFill>
                <a:srgbClr val="0066FF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246" name="Shape 246"/>
            <p:cNvSpPr txBox="1"/>
            <p:nvPr/>
          </p:nvSpPr>
          <p:spPr>
            <a:xfrm flipH="1">
              <a:off x="2292" y="1718"/>
              <a:ext cx="172" cy="11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200" b="1">
                  <a:solidFill>
                    <a:srgbClr val="0066FF"/>
                  </a:solidFill>
                  <a:latin typeface="Questrial"/>
                  <a:ea typeface="Questrial"/>
                  <a:cs typeface="Questrial"/>
                  <a:sym typeface="Questrial"/>
                </a:rPr>
                <a:t>SP</a:t>
              </a:r>
              <a:r>
                <a:rPr lang="es-AR" sz="1200" b="1" baseline="-25000">
                  <a:solidFill>
                    <a:srgbClr val="0066FF"/>
                  </a:solidFill>
                  <a:latin typeface="Questrial"/>
                  <a:ea typeface="Questrial"/>
                  <a:cs typeface="Questrial"/>
                  <a:sym typeface="Questrial"/>
                </a:rPr>
                <a:t>1</a:t>
              </a:r>
            </a:p>
          </p:txBody>
        </p:sp>
      </p:grpSp>
      <p:grpSp>
        <p:nvGrpSpPr>
          <p:cNvPr id="247" name="Shape 247"/>
          <p:cNvGrpSpPr/>
          <p:nvPr/>
        </p:nvGrpSpPr>
        <p:grpSpPr>
          <a:xfrm flipH="1">
            <a:off x="3362324" y="3573462"/>
            <a:ext cx="457200" cy="239713"/>
            <a:chOff x="2292" y="1718"/>
            <a:chExt cx="288" cy="151"/>
          </a:xfrm>
        </p:grpSpPr>
        <p:cxnSp>
          <p:nvCxnSpPr>
            <p:cNvPr id="248" name="Shape 248"/>
            <p:cNvCxnSpPr/>
            <p:nvPr/>
          </p:nvCxnSpPr>
          <p:spPr>
            <a:xfrm>
              <a:off x="2293" y="1869"/>
              <a:ext cx="288" cy="0"/>
            </a:xfrm>
            <a:prstGeom prst="straightConnector1">
              <a:avLst/>
            </a:prstGeom>
            <a:noFill/>
            <a:ln w="38100" cap="flat" cmpd="sng">
              <a:solidFill>
                <a:srgbClr val="0066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249" name="Shape 249"/>
            <p:cNvSpPr txBox="1"/>
            <p:nvPr/>
          </p:nvSpPr>
          <p:spPr>
            <a:xfrm flipH="1">
              <a:off x="2292" y="1718"/>
              <a:ext cx="172" cy="11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200" b="1">
                  <a:solidFill>
                    <a:srgbClr val="006600"/>
                  </a:solidFill>
                  <a:latin typeface="Questrial"/>
                  <a:ea typeface="Questrial"/>
                  <a:cs typeface="Questrial"/>
                  <a:sym typeface="Questrial"/>
                </a:rPr>
                <a:t>SP</a:t>
              </a:r>
              <a:r>
                <a:rPr lang="es-AR" sz="1200" b="1" baseline="-25000">
                  <a:solidFill>
                    <a:srgbClr val="006600"/>
                  </a:solidFill>
                  <a:latin typeface="Questrial"/>
                  <a:ea typeface="Questrial"/>
                  <a:cs typeface="Questrial"/>
                  <a:sym typeface="Questrial"/>
                </a:rPr>
                <a:t>2</a:t>
              </a:r>
            </a:p>
          </p:txBody>
        </p:sp>
      </p:grpSp>
      <p:grpSp>
        <p:nvGrpSpPr>
          <p:cNvPr id="250" name="Shape 250"/>
          <p:cNvGrpSpPr/>
          <p:nvPr/>
        </p:nvGrpSpPr>
        <p:grpSpPr>
          <a:xfrm flipH="1">
            <a:off x="3362324" y="4492625"/>
            <a:ext cx="457200" cy="239712"/>
            <a:chOff x="2292" y="1718"/>
            <a:chExt cx="288" cy="151"/>
          </a:xfrm>
        </p:grpSpPr>
        <p:cxnSp>
          <p:nvCxnSpPr>
            <p:cNvPr id="251" name="Shape 251"/>
            <p:cNvCxnSpPr/>
            <p:nvPr/>
          </p:nvCxnSpPr>
          <p:spPr>
            <a:xfrm>
              <a:off x="2293" y="1869"/>
              <a:ext cx="288" cy="0"/>
            </a:xfrm>
            <a:prstGeom prst="straightConnector1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252" name="Shape 252"/>
            <p:cNvSpPr txBox="1"/>
            <p:nvPr/>
          </p:nvSpPr>
          <p:spPr>
            <a:xfrm flipH="1">
              <a:off x="2292" y="1718"/>
              <a:ext cx="172" cy="11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200" b="1">
                  <a:solidFill>
                    <a:schemeClr val="hlink"/>
                  </a:solidFill>
                  <a:latin typeface="Questrial"/>
                  <a:ea typeface="Questrial"/>
                  <a:cs typeface="Questrial"/>
                  <a:sym typeface="Questrial"/>
                </a:rPr>
                <a:t>SP</a:t>
              </a:r>
              <a:r>
                <a:rPr lang="es-AR" sz="1200" b="1" baseline="-25000">
                  <a:solidFill>
                    <a:schemeClr val="hlink"/>
                  </a:solidFill>
                  <a:latin typeface="Questrial"/>
                  <a:ea typeface="Questrial"/>
                  <a:cs typeface="Questrial"/>
                  <a:sym typeface="Questrial"/>
                </a:rPr>
                <a:t>0</a:t>
              </a:r>
            </a:p>
          </p:txBody>
        </p:sp>
      </p:grpSp>
      <p:sp>
        <p:nvSpPr>
          <p:cNvPr id="253" name="Shape 253"/>
          <p:cNvSpPr/>
          <p:nvPr/>
        </p:nvSpPr>
        <p:spPr>
          <a:xfrm>
            <a:off x="4343400" y="1317625"/>
            <a:ext cx="2362200" cy="27463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Trazas de ejecución</a:t>
            </a:r>
          </a:p>
        </p:txBody>
      </p:sp>
      <p:sp>
        <p:nvSpPr>
          <p:cNvPr id="254" name="Shape 254"/>
          <p:cNvSpPr txBox="1"/>
          <p:nvPr/>
        </p:nvSpPr>
        <p:spPr>
          <a:xfrm>
            <a:off x="6954838" y="1657686"/>
            <a:ext cx="1808162" cy="482724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17780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3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H1 y H2 son Hilos creados por el Proceso P.</a:t>
            </a:r>
          </a:p>
          <a:p>
            <a:pPr marL="177800" marR="0" lvl="0" indent="-177800" algn="just" rtl="0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3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El Proceso P define el espacio de direcciones.</a:t>
            </a:r>
          </a:p>
          <a:p>
            <a:pPr marL="177800" marR="0" lvl="0" indent="-177800" algn="just" rtl="0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3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El Proceso P es dueño de los recursos que pueden usar y compartir H1 y H2.</a:t>
            </a:r>
          </a:p>
          <a:p>
            <a:pPr marL="177800" marR="0" lvl="0" indent="-177800" algn="just" rtl="0"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3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Los Hilos H1 y H2 comparten el espacio de direcciones.</a:t>
            </a:r>
          </a:p>
          <a:p>
            <a:pPr marL="177800" marR="0" lvl="0" indent="-177800" algn="just" rtl="0">
              <a:spcBef>
                <a:spcPts val="650"/>
              </a:spcBef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3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El Hilo H0 es el Hilo “por defecto” de P, creado para la función </a:t>
            </a:r>
            <a:r>
              <a:rPr lang="es-AR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main()</a:t>
            </a:r>
            <a:r>
              <a:rPr lang="es-AR" sz="13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del Programa.</a:t>
            </a:r>
          </a:p>
        </p:txBody>
      </p:sp>
    </p:spTree>
    <p:extLst>
      <p:ext uri="{BB962C8B-B14F-4D97-AF65-F5344CB8AC3E}">
        <p14:creationId xmlns:p14="http://schemas.microsoft.com/office/powerpoint/2010/main" val="428056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Dinámica de estados</a:t>
            </a:r>
          </a:p>
        </p:txBody>
      </p:sp>
      <p:sp>
        <p:nvSpPr>
          <p:cNvPr id="260" name="Shape 260"/>
          <p:cNvSpPr/>
          <p:nvPr/>
        </p:nvSpPr>
        <p:spPr>
          <a:xfrm>
            <a:off x="4572000" y="1520825"/>
            <a:ext cx="4121150" cy="41211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4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buNone/>
            </a:pPr>
            <a:endParaRPr sz="24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buNone/>
            </a:pPr>
            <a:endParaRPr sz="24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buNone/>
            </a:pPr>
            <a:endParaRPr sz="24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buNone/>
            </a:pPr>
            <a:endParaRPr sz="24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buNone/>
            </a:pPr>
            <a:endParaRPr sz="24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buNone/>
            </a:pPr>
            <a:endParaRPr sz="24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24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Proceso P</a:t>
            </a:r>
          </a:p>
        </p:txBody>
      </p:sp>
      <p:sp>
        <p:nvSpPr>
          <p:cNvPr id="261" name="Shape 261"/>
          <p:cNvSpPr/>
          <p:nvPr/>
        </p:nvSpPr>
        <p:spPr>
          <a:xfrm>
            <a:off x="7013575" y="2589213"/>
            <a:ext cx="1158874" cy="115887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24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H2</a:t>
            </a:r>
          </a:p>
        </p:txBody>
      </p:sp>
      <p:sp>
        <p:nvSpPr>
          <p:cNvPr id="262" name="Shape 262"/>
          <p:cNvSpPr/>
          <p:nvPr/>
        </p:nvSpPr>
        <p:spPr>
          <a:xfrm>
            <a:off x="4953000" y="2589213"/>
            <a:ext cx="1158874" cy="115887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24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H1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1238250" y="1308725"/>
            <a:ext cx="2813050" cy="415498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180975" marR="0" lvl="0" indent="-1809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El estado del Proceso </a:t>
            </a:r>
            <a:r>
              <a:rPr lang="es-AR" sz="16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es la combinación de los estados de sus Hilos.</a:t>
            </a:r>
          </a:p>
          <a:p>
            <a:pPr marL="180975" marR="0" lvl="0" indent="-180975" algn="just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Cuando cualquiera de los Hilos está en estado “</a:t>
            </a:r>
            <a:r>
              <a:rPr lang="es-AR" sz="1600" b="1">
                <a:solidFill>
                  <a:srgbClr val="3366CC"/>
                </a:solidFill>
                <a:latin typeface="Questrial"/>
                <a:ea typeface="Questrial"/>
                <a:cs typeface="Questrial"/>
                <a:sym typeface="Questrial"/>
              </a:rPr>
              <a:t>Ejecutando</a:t>
            </a: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”, el estado de </a:t>
            </a:r>
            <a:r>
              <a:rPr lang="es-AR" sz="16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será “</a:t>
            </a:r>
            <a:r>
              <a:rPr lang="es-AR" sz="1600" b="1">
                <a:solidFill>
                  <a:srgbClr val="3366CC"/>
                </a:solidFill>
                <a:latin typeface="Questrial"/>
                <a:ea typeface="Questrial"/>
                <a:cs typeface="Questrial"/>
                <a:sym typeface="Questrial"/>
              </a:rPr>
              <a:t>Ejecutando</a:t>
            </a: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”.</a:t>
            </a:r>
          </a:p>
          <a:p>
            <a:pPr marL="180975" marR="0" lvl="0" indent="-180975" algn="just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Si ningún Hilo está en “</a:t>
            </a:r>
            <a:r>
              <a:rPr lang="es-AR" sz="1600" b="1">
                <a:solidFill>
                  <a:srgbClr val="3366CC"/>
                </a:solidFill>
                <a:latin typeface="Questrial"/>
                <a:ea typeface="Questrial"/>
                <a:cs typeface="Questrial"/>
                <a:sym typeface="Questrial"/>
              </a:rPr>
              <a:t>Ejecutando</a:t>
            </a: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”, si alguno está en “</a:t>
            </a:r>
            <a:r>
              <a:rPr lang="es-AR" sz="1600" b="1">
                <a:solidFill>
                  <a:srgbClr val="008000"/>
                </a:solidFill>
                <a:latin typeface="Questrial"/>
                <a:ea typeface="Questrial"/>
                <a:cs typeface="Questrial"/>
                <a:sym typeface="Questrial"/>
              </a:rPr>
              <a:t>Listo</a:t>
            </a: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”, el estado de </a:t>
            </a:r>
            <a:r>
              <a:rPr lang="es-AR" sz="16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será “</a:t>
            </a:r>
            <a:r>
              <a:rPr lang="es-AR" sz="1600" b="1">
                <a:solidFill>
                  <a:srgbClr val="008000"/>
                </a:solidFill>
                <a:latin typeface="Questrial"/>
                <a:ea typeface="Questrial"/>
                <a:cs typeface="Questrial"/>
                <a:sym typeface="Questrial"/>
              </a:rPr>
              <a:t>Listo</a:t>
            </a: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”.</a:t>
            </a:r>
          </a:p>
          <a:p>
            <a:pPr marL="180975" marR="0" lvl="0" indent="-180975" algn="just" rtl="0">
              <a:spcBef>
                <a:spcPts val="800"/>
              </a:spcBef>
              <a:buClr>
                <a:schemeClr val="dk1"/>
              </a:buClr>
              <a:buSzPct val="100000"/>
              <a:buFont typeface="Questrial"/>
              <a:buChar char="•"/>
            </a:pP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El estado de </a:t>
            </a:r>
            <a:r>
              <a:rPr lang="es-AR" sz="16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 </a:t>
            </a: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es “Bloqueado” sólo si todos sus Hilos están en estado “</a:t>
            </a:r>
            <a:r>
              <a:rPr lang="es-AR" sz="1600" b="1">
                <a:solidFill>
                  <a:srgbClr val="FF3300"/>
                </a:solidFill>
                <a:latin typeface="Questrial"/>
                <a:ea typeface="Questrial"/>
                <a:cs typeface="Questrial"/>
                <a:sym typeface="Questrial"/>
              </a:rPr>
              <a:t>Bloqueado</a:t>
            </a:r>
            <a:r>
              <a:rPr lang="es-AR"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”.</a:t>
            </a:r>
          </a:p>
        </p:txBody>
      </p:sp>
      <p:grpSp>
        <p:nvGrpSpPr>
          <p:cNvPr id="264" name="Shape 264"/>
          <p:cNvGrpSpPr/>
          <p:nvPr/>
        </p:nvGrpSpPr>
        <p:grpSpPr>
          <a:xfrm>
            <a:off x="1447800" y="5641974"/>
            <a:ext cx="2006599" cy="977900"/>
            <a:chOff x="476" y="3381"/>
            <a:chExt cx="1263" cy="616"/>
          </a:xfrm>
        </p:grpSpPr>
        <p:sp>
          <p:nvSpPr>
            <p:cNvPr id="265" name="Shape 265"/>
            <p:cNvSpPr/>
            <p:nvPr/>
          </p:nvSpPr>
          <p:spPr>
            <a:xfrm>
              <a:off x="476" y="3409"/>
              <a:ext cx="144" cy="144"/>
            </a:xfrm>
            <a:prstGeom prst="ellipse">
              <a:avLst/>
            </a:prstGeom>
            <a:solidFill>
              <a:srgbClr val="3366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66" name="Shape 266"/>
            <p:cNvSpPr/>
            <p:nvPr/>
          </p:nvSpPr>
          <p:spPr>
            <a:xfrm>
              <a:off x="476" y="3622"/>
              <a:ext cx="144" cy="144"/>
            </a:xfrm>
            <a:prstGeom prst="ellipse">
              <a:avLst/>
            </a:prstGeom>
            <a:solidFill>
              <a:srgbClr val="33CC3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67" name="Shape 267"/>
            <p:cNvSpPr/>
            <p:nvPr/>
          </p:nvSpPr>
          <p:spPr>
            <a:xfrm>
              <a:off x="476" y="3834"/>
              <a:ext cx="144" cy="144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68" name="Shape 268"/>
            <p:cNvSpPr txBox="1"/>
            <p:nvPr/>
          </p:nvSpPr>
          <p:spPr>
            <a:xfrm>
              <a:off x="619" y="3381"/>
              <a:ext cx="1120" cy="19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4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Estado Ejecutando</a:t>
              </a:r>
            </a:p>
          </p:txBody>
        </p:sp>
        <p:sp>
          <p:nvSpPr>
            <p:cNvPr id="269" name="Shape 269"/>
            <p:cNvSpPr txBox="1"/>
            <p:nvPr/>
          </p:nvSpPr>
          <p:spPr>
            <a:xfrm>
              <a:off x="619" y="3593"/>
              <a:ext cx="784" cy="19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4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Estado Listo</a:t>
              </a:r>
            </a:p>
          </p:txBody>
        </p:sp>
        <p:sp>
          <p:nvSpPr>
            <p:cNvPr id="270" name="Shape 270"/>
            <p:cNvSpPr txBox="1"/>
            <p:nvPr/>
          </p:nvSpPr>
          <p:spPr>
            <a:xfrm>
              <a:off x="619" y="3806"/>
              <a:ext cx="1095" cy="19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4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Estado Bloqueado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882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Procesos Hijos</a:t>
            </a:r>
          </a:p>
        </p:txBody>
      </p:sp>
      <p:sp>
        <p:nvSpPr>
          <p:cNvPr id="276" name="Shape 276"/>
          <p:cNvSpPr txBox="1">
            <a:spLocks noGrp="1"/>
          </p:cNvSpPr>
          <p:nvPr>
            <p:ph type="body" idx="1"/>
          </p:nvPr>
        </p:nvSpPr>
        <p:spPr>
          <a:xfrm>
            <a:off x="1143000" y="1447800"/>
            <a:ext cx="5081470" cy="51053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Proceso puede crear otro Proceso, iniciando una tarea mientras termina otra.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En la figura, P2 y P3 son Hijos de P1, y P4 es hijo de P2.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Jerarquía entre Procesos:</a:t>
            </a:r>
          </a:p>
          <a:p>
            <a:pPr marL="742950" marR="0" lvl="1" indent="-28575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Padre e Hijo se pueden ejecutar concurrentemente (quizás en paralelo).</a:t>
            </a:r>
          </a:p>
          <a:p>
            <a:pPr marL="742950" marR="0" lvl="1" indent="-28575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6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Padre hace su trabajo y debe esperar a que el Hijo termine para terminar.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Padre e Hijo pueden compartir todos los recursos, una parte de ellos, o ninguno.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estructura de Memoria de un Proceso Hijo es un duplicado de la estructura del Padre (espacio de direcciones).</a:t>
            </a:r>
          </a:p>
        </p:txBody>
      </p:sp>
      <p:sp>
        <p:nvSpPr>
          <p:cNvPr id="277" name="Shape 277"/>
          <p:cNvSpPr/>
          <p:nvPr/>
        </p:nvSpPr>
        <p:spPr>
          <a:xfrm>
            <a:off x="7237295" y="1850571"/>
            <a:ext cx="838199" cy="838199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P1</a:t>
            </a:r>
          </a:p>
        </p:txBody>
      </p:sp>
      <p:sp>
        <p:nvSpPr>
          <p:cNvPr id="278" name="Shape 278"/>
          <p:cNvSpPr/>
          <p:nvPr/>
        </p:nvSpPr>
        <p:spPr>
          <a:xfrm>
            <a:off x="6521332" y="2917371"/>
            <a:ext cx="838199" cy="838199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P2</a:t>
            </a:r>
          </a:p>
        </p:txBody>
      </p:sp>
      <p:sp>
        <p:nvSpPr>
          <p:cNvPr id="279" name="Shape 279"/>
          <p:cNvSpPr/>
          <p:nvPr/>
        </p:nvSpPr>
        <p:spPr>
          <a:xfrm>
            <a:off x="7953257" y="2917371"/>
            <a:ext cx="838199" cy="838199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P3</a:t>
            </a:r>
          </a:p>
        </p:txBody>
      </p:sp>
      <p:cxnSp>
        <p:nvCxnSpPr>
          <p:cNvPr id="280" name="Shape 280"/>
          <p:cNvCxnSpPr>
            <a:stCxn id="277" idx="5"/>
            <a:endCxn id="279" idx="0"/>
          </p:cNvCxnSpPr>
          <p:nvPr/>
        </p:nvCxnSpPr>
        <p:spPr>
          <a:xfrm>
            <a:off x="7952743" y="2566019"/>
            <a:ext cx="419700" cy="351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81" name="Shape 281"/>
          <p:cNvCxnSpPr>
            <a:stCxn id="277" idx="3"/>
            <a:endCxn id="278" idx="0"/>
          </p:cNvCxnSpPr>
          <p:nvPr/>
        </p:nvCxnSpPr>
        <p:spPr>
          <a:xfrm flipH="1">
            <a:off x="6940346" y="2566019"/>
            <a:ext cx="419700" cy="351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282" name="Shape 282"/>
          <p:cNvSpPr/>
          <p:nvPr/>
        </p:nvSpPr>
        <p:spPr>
          <a:xfrm>
            <a:off x="6521332" y="4174671"/>
            <a:ext cx="838199" cy="838199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P4</a:t>
            </a:r>
          </a:p>
        </p:txBody>
      </p:sp>
      <p:cxnSp>
        <p:nvCxnSpPr>
          <p:cNvPr id="283" name="Shape 283"/>
          <p:cNvCxnSpPr>
            <a:stCxn id="278" idx="4"/>
            <a:endCxn id="282" idx="0"/>
          </p:cNvCxnSpPr>
          <p:nvPr/>
        </p:nvCxnSpPr>
        <p:spPr>
          <a:xfrm>
            <a:off x="6940432" y="3755571"/>
            <a:ext cx="0" cy="419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361321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Creación de hijos vs hilos</a:t>
            </a:r>
          </a:p>
        </p:txBody>
      </p:sp>
      <p:sp>
        <p:nvSpPr>
          <p:cNvPr id="289" name="Shape 289"/>
          <p:cNvSpPr/>
          <p:nvPr/>
        </p:nvSpPr>
        <p:spPr>
          <a:xfrm>
            <a:off x="685800" y="1752600"/>
            <a:ext cx="1904999" cy="4724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90" name="Shape 290"/>
          <p:cNvSpPr/>
          <p:nvPr/>
        </p:nvSpPr>
        <p:spPr>
          <a:xfrm>
            <a:off x="685800" y="1981200"/>
            <a:ext cx="1904999" cy="533399"/>
          </a:xfrm>
          <a:prstGeom prst="rect">
            <a:avLst/>
          </a:prstGeom>
          <a:solidFill>
            <a:srgbClr val="E8E8F4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PCB P1</a:t>
            </a:r>
          </a:p>
        </p:txBody>
      </p:sp>
      <p:sp>
        <p:nvSpPr>
          <p:cNvPr id="291" name="Shape 291"/>
          <p:cNvSpPr/>
          <p:nvPr/>
        </p:nvSpPr>
        <p:spPr>
          <a:xfrm>
            <a:off x="685800" y="4191000"/>
            <a:ext cx="1904999" cy="762000"/>
          </a:xfrm>
          <a:prstGeom prst="rect">
            <a:avLst/>
          </a:prstGeom>
          <a:solidFill>
            <a:srgbClr val="E8E8F4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Imagen P1</a:t>
            </a:r>
          </a:p>
        </p:txBody>
      </p:sp>
      <p:sp>
        <p:nvSpPr>
          <p:cNvPr id="292" name="Shape 292"/>
          <p:cNvSpPr/>
          <p:nvPr/>
        </p:nvSpPr>
        <p:spPr>
          <a:xfrm>
            <a:off x="4830762" y="1752600"/>
            <a:ext cx="1904999" cy="4724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93" name="Shape 293"/>
          <p:cNvSpPr/>
          <p:nvPr/>
        </p:nvSpPr>
        <p:spPr>
          <a:xfrm>
            <a:off x="4830762" y="2590800"/>
            <a:ext cx="1904999" cy="533399"/>
          </a:xfrm>
          <a:prstGeom prst="rect">
            <a:avLst/>
          </a:prstGeom>
          <a:solidFill>
            <a:srgbClr val="E8E8F4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TCB H1.P1</a:t>
            </a:r>
          </a:p>
        </p:txBody>
      </p:sp>
      <p:sp>
        <p:nvSpPr>
          <p:cNvPr id="294" name="Shape 294"/>
          <p:cNvSpPr/>
          <p:nvPr/>
        </p:nvSpPr>
        <p:spPr>
          <a:xfrm>
            <a:off x="4830762" y="4191000"/>
            <a:ext cx="1904999" cy="990599"/>
          </a:xfrm>
          <a:prstGeom prst="rect">
            <a:avLst/>
          </a:prstGeom>
          <a:solidFill>
            <a:srgbClr val="E8E8F4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Imagen P1</a:t>
            </a:r>
          </a:p>
        </p:txBody>
      </p:sp>
      <p:grpSp>
        <p:nvGrpSpPr>
          <p:cNvPr id="295" name="Shape 295"/>
          <p:cNvGrpSpPr/>
          <p:nvPr/>
        </p:nvGrpSpPr>
        <p:grpSpPr>
          <a:xfrm>
            <a:off x="4830762" y="2286000"/>
            <a:ext cx="3978275" cy="4190998"/>
            <a:chOff x="2898" y="1200"/>
            <a:chExt cx="2506" cy="2639"/>
          </a:xfrm>
        </p:grpSpPr>
        <p:sp>
          <p:nvSpPr>
            <p:cNvPr id="296" name="Shape 296"/>
            <p:cNvSpPr/>
            <p:nvPr/>
          </p:nvSpPr>
          <p:spPr>
            <a:xfrm>
              <a:off x="2898" y="1871"/>
              <a:ext cx="1199" cy="336"/>
            </a:xfrm>
            <a:prstGeom prst="rect">
              <a:avLst/>
            </a:prstGeom>
            <a:solidFill>
              <a:srgbClr val="F5CB9D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TCB H2.P1</a:t>
              </a:r>
            </a:p>
          </p:txBody>
        </p:sp>
        <p:sp>
          <p:nvSpPr>
            <p:cNvPr id="297" name="Shape 297"/>
            <p:cNvSpPr/>
            <p:nvPr/>
          </p:nvSpPr>
          <p:spPr>
            <a:xfrm>
              <a:off x="4099" y="1535"/>
              <a:ext cx="336" cy="576"/>
            </a:xfrm>
            <a:prstGeom prst="curvedLeftArrow">
              <a:avLst>
                <a:gd name="adj1" fmla="val 34286"/>
                <a:gd name="adj2" fmla="val 68571"/>
                <a:gd name="adj3" fmla="val 33333"/>
              </a:avLst>
            </a:prstGeom>
            <a:solidFill>
              <a:srgbClr val="F5CB9D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98" name="Shape 298"/>
            <p:cNvSpPr txBox="1"/>
            <p:nvPr/>
          </p:nvSpPr>
          <p:spPr>
            <a:xfrm>
              <a:off x="4443" y="1200"/>
              <a:ext cx="844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H1</a:t>
              </a:r>
              <a:r>
                <a:rPr lang="es-AR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 crea </a:t>
              </a:r>
              <a:r>
                <a:rPr lang="es-AR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H2</a:t>
              </a:r>
            </a:p>
          </p:txBody>
        </p:sp>
        <p:cxnSp>
          <p:nvCxnSpPr>
            <p:cNvPr id="299" name="Shape 299"/>
            <p:cNvCxnSpPr/>
            <p:nvPr/>
          </p:nvCxnSpPr>
          <p:spPr>
            <a:xfrm flipH="1">
              <a:off x="4481" y="1439"/>
              <a:ext cx="383" cy="3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300" name="Shape 300"/>
            <p:cNvSpPr txBox="1"/>
            <p:nvPr/>
          </p:nvSpPr>
          <p:spPr>
            <a:xfrm>
              <a:off x="4224" y="3245"/>
              <a:ext cx="1181" cy="593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buSzPct val="25000"/>
                <a:buNone/>
              </a:pPr>
              <a:r>
                <a:rPr lang="es-AR" sz="14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H1</a:t>
              </a:r>
              <a:r>
                <a:rPr lang="es-AR" sz="14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 </a:t>
              </a:r>
              <a:r>
                <a:rPr lang="es-AR" sz="14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y</a:t>
              </a:r>
              <a:r>
                <a:rPr lang="es-AR" sz="14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 </a:t>
              </a:r>
              <a:r>
                <a:rPr lang="es-AR" sz="14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H2 son Hilos de P1 Y comparten los recursos. H2 es Hijo de H1</a:t>
              </a:r>
            </a:p>
          </p:txBody>
        </p:sp>
      </p:grpSp>
      <p:grpSp>
        <p:nvGrpSpPr>
          <p:cNvPr id="301" name="Shape 301"/>
          <p:cNvGrpSpPr/>
          <p:nvPr/>
        </p:nvGrpSpPr>
        <p:grpSpPr>
          <a:xfrm>
            <a:off x="685800" y="1752600"/>
            <a:ext cx="3640138" cy="4724399"/>
            <a:chOff x="288" y="864"/>
            <a:chExt cx="2293" cy="2975"/>
          </a:xfrm>
        </p:grpSpPr>
        <p:sp>
          <p:nvSpPr>
            <p:cNvPr id="302" name="Shape 302"/>
            <p:cNvSpPr/>
            <p:nvPr/>
          </p:nvSpPr>
          <p:spPr>
            <a:xfrm>
              <a:off x="288" y="3023"/>
              <a:ext cx="1199" cy="479"/>
            </a:xfrm>
            <a:prstGeom prst="rect">
              <a:avLst/>
            </a:prstGeom>
            <a:solidFill>
              <a:srgbClr val="F5CB9D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Imagen P2</a:t>
              </a:r>
            </a:p>
          </p:txBody>
        </p:sp>
        <p:sp>
          <p:nvSpPr>
            <p:cNvPr id="303" name="Shape 303"/>
            <p:cNvSpPr/>
            <p:nvPr/>
          </p:nvSpPr>
          <p:spPr>
            <a:xfrm>
              <a:off x="288" y="1464"/>
              <a:ext cx="1199" cy="336"/>
            </a:xfrm>
            <a:prstGeom prst="rect">
              <a:avLst/>
            </a:prstGeom>
            <a:solidFill>
              <a:srgbClr val="F5CB9D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PCB P2</a:t>
              </a:r>
            </a:p>
          </p:txBody>
        </p:sp>
        <p:sp>
          <p:nvSpPr>
            <p:cNvPr id="304" name="Shape 304"/>
            <p:cNvSpPr/>
            <p:nvPr/>
          </p:nvSpPr>
          <p:spPr>
            <a:xfrm>
              <a:off x="1488" y="2592"/>
              <a:ext cx="336" cy="911"/>
            </a:xfrm>
            <a:prstGeom prst="curvedLeftArrow">
              <a:avLst>
                <a:gd name="adj1" fmla="val 54286"/>
                <a:gd name="adj2" fmla="val 108571"/>
                <a:gd name="adj3" fmla="val 33333"/>
              </a:avLst>
            </a:prstGeom>
            <a:solidFill>
              <a:srgbClr val="F5CB9D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305" name="Shape 305"/>
            <p:cNvSpPr/>
            <p:nvPr/>
          </p:nvSpPr>
          <p:spPr>
            <a:xfrm>
              <a:off x="1488" y="1152"/>
              <a:ext cx="336" cy="576"/>
            </a:xfrm>
            <a:prstGeom prst="curvedLeftArrow">
              <a:avLst>
                <a:gd name="adj1" fmla="val 34286"/>
                <a:gd name="adj2" fmla="val 68571"/>
                <a:gd name="adj3" fmla="val 33333"/>
              </a:avLst>
            </a:prstGeom>
            <a:solidFill>
              <a:srgbClr val="F5CB9D"/>
            </a:solidFill>
            <a:ln w="9525" cap="flat" cmpd="sng">
              <a:solidFill>
                <a:schemeClr val="dk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306" name="Shape 306"/>
            <p:cNvSpPr txBox="1"/>
            <p:nvPr/>
          </p:nvSpPr>
          <p:spPr>
            <a:xfrm>
              <a:off x="1753" y="864"/>
              <a:ext cx="828" cy="23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P1</a:t>
              </a:r>
              <a:r>
                <a:rPr lang="es-AR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 crea </a:t>
              </a:r>
              <a:r>
                <a:rPr lang="es-AR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P2</a:t>
              </a:r>
            </a:p>
          </p:txBody>
        </p:sp>
        <p:cxnSp>
          <p:nvCxnSpPr>
            <p:cNvPr id="307" name="Shape 307"/>
            <p:cNvCxnSpPr/>
            <p:nvPr/>
          </p:nvCxnSpPr>
          <p:spPr>
            <a:xfrm flipH="1">
              <a:off x="1854" y="1094"/>
              <a:ext cx="383" cy="3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308" name="Shape 308"/>
            <p:cNvCxnSpPr/>
            <p:nvPr/>
          </p:nvCxnSpPr>
          <p:spPr>
            <a:xfrm flipH="1">
              <a:off x="1734" y="1094"/>
              <a:ext cx="503" cy="15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309" name="Shape 309"/>
            <p:cNvSpPr txBox="1"/>
            <p:nvPr/>
          </p:nvSpPr>
          <p:spPr>
            <a:xfrm>
              <a:off x="1560" y="3513"/>
              <a:ext cx="656" cy="32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4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P2 es</a:t>
              </a:r>
            </a:p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es-AR" sz="14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Hijo de P1</a:t>
              </a:r>
            </a:p>
          </p:txBody>
        </p:sp>
      </p:grpSp>
      <p:sp>
        <p:nvSpPr>
          <p:cNvPr id="310" name="Shape 310"/>
          <p:cNvSpPr/>
          <p:nvPr/>
        </p:nvSpPr>
        <p:spPr>
          <a:xfrm>
            <a:off x="4830762" y="1935956"/>
            <a:ext cx="1904999" cy="533399"/>
          </a:xfrm>
          <a:prstGeom prst="rect">
            <a:avLst/>
          </a:prstGeom>
          <a:solidFill>
            <a:srgbClr val="E8E8F4"/>
          </a:solidFill>
          <a:ln w="9525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PCB P1</a:t>
            </a:r>
          </a:p>
        </p:txBody>
      </p:sp>
    </p:spTree>
    <p:extLst>
      <p:ext uri="{BB962C8B-B14F-4D97-AF65-F5344CB8AC3E}">
        <p14:creationId xmlns:p14="http://schemas.microsoft.com/office/powerpoint/2010/main" val="118402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Creación de procesos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938212" y="1528762"/>
            <a:ext cx="3663950" cy="5265738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lvl="0" rtl="0">
              <a:lnSpc>
                <a:spcPct val="80000"/>
              </a:lnSpc>
              <a:spcBef>
                <a:spcPts val="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#include &lt;stdio.h&gt;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#include &lt;unistd.h&gt;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int main(int argc, char *argv[])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{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       int pid;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pid = fork();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if (pid &lt; 0) {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fprintf(stderr, “Falló");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exit(-1);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}	else if (pid == 0) {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</a:t>
            </a:r>
            <a:r>
              <a:rPr lang="es-AR" sz="1200" b="1">
                <a:solidFill>
                  <a:srgbClr val="0000FF"/>
                </a:solidFill>
                <a:latin typeface="Questrial"/>
                <a:ea typeface="Questrial"/>
                <a:cs typeface="Questrial"/>
                <a:sym typeface="Questrial"/>
              </a:rPr>
              <a:t>	/* Inicio de código de Proceso Hijo */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execlp("/bin/ls“,"ls”,NULL);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…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</a:t>
            </a:r>
            <a:r>
              <a:rPr lang="es-AR" sz="1200" b="1">
                <a:solidFill>
                  <a:srgbClr val="0000FF"/>
                </a:solidFill>
                <a:latin typeface="Questrial"/>
                <a:ea typeface="Questrial"/>
                <a:cs typeface="Questrial"/>
                <a:sym typeface="Questrial"/>
              </a:rPr>
              <a:t>	/* Fin de código de Proceso Hijo */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}	else {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</a:t>
            </a:r>
            <a:r>
              <a:rPr lang="es-AR" sz="1200" b="1">
                <a:solidFill>
                  <a:srgbClr val="0000FF"/>
                </a:solidFill>
                <a:latin typeface="Questrial"/>
                <a:ea typeface="Questrial"/>
                <a:cs typeface="Questrial"/>
                <a:sym typeface="Questrial"/>
              </a:rPr>
              <a:t>/* Inicio de código de Proceso Padre */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…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</a:t>
            </a:r>
            <a:r>
              <a:rPr lang="es-AR" sz="1200" b="1">
                <a:solidFill>
                  <a:srgbClr val="0000FF"/>
                </a:solidFill>
                <a:latin typeface="Questrial"/>
                <a:ea typeface="Questrial"/>
                <a:cs typeface="Questrial"/>
                <a:sym typeface="Questrial"/>
              </a:rPr>
              <a:t>	/* Esperar término del Hijo */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wait(NULL);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printf("Child Complete");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exit(0);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…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</a:t>
            </a:r>
            <a:r>
              <a:rPr lang="es-AR" sz="1200" b="1">
                <a:solidFill>
                  <a:srgbClr val="0000FF"/>
                </a:solidFill>
                <a:latin typeface="Questrial"/>
                <a:ea typeface="Questrial"/>
                <a:cs typeface="Questrial"/>
                <a:sym typeface="Questrial"/>
              </a:rPr>
              <a:t>/* Fin de código de Proceso Padre */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}</a:t>
            </a:r>
          </a:p>
          <a:p>
            <a:pPr marL="342900" lvl="0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}</a:t>
            </a:r>
          </a:p>
        </p:txBody>
      </p:sp>
      <p:grpSp>
        <p:nvGrpSpPr>
          <p:cNvPr id="318" name="Shape 318"/>
          <p:cNvGrpSpPr/>
          <p:nvPr/>
        </p:nvGrpSpPr>
        <p:grpSpPr>
          <a:xfrm>
            <a:off x="4495800" y="3393099"/>
            <a:ext cx="725488" cy="458787"/>
            <a:chOff x="2952" y="1871"/>
            <a:chExt cx="457" cy="289"/>
          </a:xfrm>
        </p:grpSpPr>
        <p:sp>
          <p:nvSpPr>
            <p:cNvPr id="319" name="Shape 319"/>
            <p:cNvSpPr/>
            <p:nvPr/>
          </p:nvSpPr>
          <p:spPr>
            <a:xfrm>
              <a:off x="2952" y="1871"/>
              <a:ext cx="288" cy="289"/>
            </a:xfrm>
            <a:prstGeom prst="ellipse">
              <a:avLst/>
            </a:prstGeom>
            <a:solidFill>
              <a:srgbClr val="F5CB9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2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H</a:t>
              </a:r>
            </a:p>
          </p:txBody>
        </p:sp>
        <p:cxnSp>
          <p:nvCxnSpPr>
            <p:cNvPr id="320" name="Shape 320"/>
            <p:cNvCxnSpPr/>
            <p:nvPr/>
          </p:nvCxnSpPr>
          <p:spPr>
            <a:xfrm>
              <a:off x="3240" y="2017"/>
              <a:ext cx="169" cy="0"/>
            </a:xfrm>
            <a:prstGeom prst="straightConnector1">
              <a:avLst/>
            </a:prstGeom>
            <a:solidFill>
              <a:srgbClr val="F5CB9D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  <p:grpSp>
        <p:nvGrpSpPr>
          <p:cNvPr id="321" name="Shape 321"/>
          <p:cNvGrpSpPr/>
          <p:nvPr/>
        </p:nvGrpSpPr>
        <p:grpSpPr>
          <a:xfrm>
            <a:off x="87549" y="1820624"/>
            <a:ext cx="725487" cy="458788"/>
            <a:chOff x="47" y="956"/>
            <a:chExt cx="456" cy="289"/>
          </a:xfrm>
        </p:grpSpPr>
        <p:sp>
          <p:nvSpPr>
            <p:cNvPr id="322" name="Shape 322"/>
            <p:cNvSpPr/>
            <p:nvPr/>
          </p:nvSpPr>
          <p:spPr>
            <a:xfrm>
              <a:off x="47" y="956"/>
              <a:ext cx="288" cy="289"/>
            </a:xfrm>
            <a:prstGeom prst="ellipse">
              <a:avLst/>
            </a:prstGeom>
            <a:solidFill>
              <a:srgbClr val="E8E8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1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P</a:t>
              </a:r>
            </a:p>
          </p:txBody>
        </p:sp>
        <p:cxnSp>
          <p:nvCxnSpPr>
            <p:cNvPr id="323" name="Shape 323"/>
            <p:cNvCxnSpPr/>
            <p:nvPr/>
          </p:nvCxnSpPr>
          <p:spPr>
            <a:xfrm>
              <a:off x="335" y="1102"/>
              <a:ext cx="169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  <p:sp>
        <p:nvSpPr>
          <p:cNvPr id="324" name="Shape 324"/>
          <p:cNvSpPr/>
          <p:nvPr/>
        </p:nvSpPr>
        <p:spPr>
          <a:xfrm>
            <a:off x="5221287" y="1528762"/>
            <a:ext cx="3663950" cy="5265738"/>
          </a:xfrm>
          <a:prstGeom prst="rect">
            <a:avLst/>
          </a:prstGeom>
          <a:solidFill>
            <a:srgbClr val="F5CB9D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#include &lt;stdio.h&gt;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#include &lt;unistd.h&gt;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int main(int argc, char *argv[])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{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ct val="25000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       int pid;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pid = fork();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if (pid &lt; 0) {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fprintf(stderr, “Falló");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exit(-1);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}	else if (pid == 0) {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</a:t>
            </a:r>
            <a:r>
              <a:rPr lang="es-AR" sz="1200" b="1">
                <a:solidFill>
                  <a:srgbClr val="0000FF"/>
                </a:solidFill>
                <a:latin typeface="Questrial"/>
                <a:ea typeface="Questrial"/>
                <a:cs typeface="Questrial"/>
                <a:sym typeface="Questrial"/>
              </a:rPr>
              <a:t>	/* Inicio de código de Proceso Hijo */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execlp("/bin/ls“,"ls”,NULL);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…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</a:t>
            </a:r>
            <a:r>
              <a:rPr lang="es-AR" sz="1200" b="1">
                <a:solidFill>
                  <a:srgbClr val="0000FF"/>
                </a:solidFill>
                <a:latin typeface="Questrial"/>
                <a:ea typeface="Questrial"/>
                <a:cs typeface="Questrial"/>
                <a:sym typeface="Questrial"/>
              </a:rPr>
              <a:t>	/* Fin de código de Proceso Hijo */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}	else {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</a:t>
            </a:r>
            <a:r>
              <a:rPr lang="es-AR" sz="1200" b="1">
                <a:solidFill>
                  <a:srgbClr val="0000FF"/>
                </a:solidFill>
                <a:latin typeface="Questrial"/>
                <a:ea typeface="Questrial"/>
                <a:cs typeface="Questrial"/>
                <a:sym typeface="Questrial"/>
              </a:rPr>
              <a:t>/* Inicio de código de Proceso Padre */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…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</a:t>
            </a:r>
            <a:r>
              <a:rPr lang="es-AR" sz="1200" b="1">
                <a:solidFill>
                  <a:srgbClr val="0000FF"/>
                </a:solidFill>
                <a:latin typeface="Questrial"/>
                <a:ea typeface="Questrial"/>
                <a:cs typeface="Questrial"/>
                <a:sym typeface="Questrial"/>
              </a:rPr>
              <a:t>	/* Esperar término del Hijo */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wait(NULL);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printf("Child Complete");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exit(0);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…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	</a:t>
            </a:r>
            <a:r>
              <a:rPr lang="es-AR" sz="1200" b="1">
                <a:solidFill>
                  <a:srgbClr val="0000FF"/>
                </a:solidFill>
                <a:latin typeface="Questrial"/>
                <a:ea typeface="Questrial"/>
                <a:cs typeface="Questrial"/>
                <a:sym typeface="Questrial"/>
              </a:rPr>
              <a:t>/* Fin de código de Proceso Padre */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}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40"/>
              </a:spcBef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2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}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1273433" y="1219200"/>
            <a:ext cx="2595562" cy="30777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4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Imagen de Proceso padre</a:t>
            </a:r>
          </a:p>
        </p:txBody>
      </p:sp>
      <p:sp>
        <p:nvSpPr>
          <p:cNvPr id="326" name="Shape 326"/>
          <p:cNvSpPr txBox="1"/>
          <p:nvPr/>
        </p:nvSpPr>
        <p:spPr>
          <a:xfrm>
            <a:off x="5791200" y="1222176"/>
            <a:ext cx="2282825" cy="3047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s-AR" sz="14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Imagen de Proceso hijo</a:t>
            </a:r>
          </a:p>
        </p:txBody>
      </p:sp>
    </p:spTree>
    <p:extLst>
      <p:ext uri="{BB962C8B-B14F-4D97-AF65-F5344CB8AC3E}">
        <p14:creationId xmlns:p14="http://schemas.microsoft.com/office/powerpoint/2010/main" val="65085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12808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Creación de hilos</a:t>
            </a:r>
          </a:p>
        </p:txBody>
      </p:sp>
      <p:sp>
        <p:nvSpPr>
          <p:cNvPr id="332" name="Shape 332"/>
          <p:cNvSpPr txBox="1">
            <a:spLocks noGrp="1"/>
          </p:cNvSpPr>
          <p:nvPr>
            <p:ph type="body" idx="1"/>
          </p:nvPr>
        </p:nvSpPr>
        <p:spPr>
          <a:xfrm>
            <a:off x="1136650" y="1209675"/>
            <a:ext cx="7931149" cy="5572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#include &lt;stdio.h&gt;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#include &lt;stdlib.h&gt;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#include &lt;pthread.h&gt;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void *print_message_function( void *ptr );</a:t>
            </a:r>
            <a:b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lang="es-AR" sz="13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main() {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pthread_t hilo1, hilo2;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char *message1 = “Hilo 1";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char *message2 = “HIlo 2";</a:t>
            </a:r>
            <a:b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int iret1, iret2;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endParaRPr sz="13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iret1 = pthread_create( &amp;hilo1, NULL, print_message_function, (void*) message1); 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iret2 = pthread_create( &amp;hilo2, NULL, print_message_function, (void*) message2);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pthread_join( hilo1, NULL);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pthread_join( hilo2, NULL);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	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printf(“El Hilo 1 devuelve: %d\n",iret1);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printf(“El Hilo 2 devuelve: %d\n",iret2);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	exit(0);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}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void *print_message_function( void *ptr ) {</a:t>
            </a:r>
            <a:b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char *message;</a:t>
            </a:r>
            <a:b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message = (char *) ptr;</a:t>
            </a:r>
            <a:b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printf("%s \n", message);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Noto Sans Symbols"/>
              <a:buNone/>
            </a:pPr>
            <a:r>
              <a:rPr lang="es-AR" sz="1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} </a:t>
            </a:r>
          </a:p>
        </p:txBody>
      </p:sp>
      <p:grpSp>
        <p:nvGrpSpPr>
          <p:cNvPr id="333" name="Shape 333"/>
          <p:cNvGrpSpPr/>
          <p:nvPr/>
        </p:nvGrpSpPr>
        <p:grpSpPr>
          <a:xfrm>
            <a:off x="474663" y="2279650"/>
            <a:ext cx="725486" cy="476249"/>
            <a:chOff x="48" y="957"/>
            <a:chExt cx="456" cy="300"/>
          </a:xfrm>
        </p:grpSpPr>
        <p:sp>
          <p:nvSpPr>
            <p:cNvPr id="334" name="Shape 334"/>
            <p:cNvSpPr/>
            <p:nvPr/>
          </p:nvSpPr>
          <p:spPr>
            <a:xfrm>
              <a:off x="48" y="957"/>
              <a:ext cx="300" cy="300"/>
            </a:xfrm>
            <a:prstGeom prst="ellipse">
              <a:avLst/>
            </a:prstGeom>
            <a:solidFill>
              <a:srgbClr val="B3E6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H0</a:t>
              </a:r>
            </a:p>
          </p:txBody>
        </p:sp>
        <p:cxnSp>
          <p:nvCxnSpPr>
            <p:cNvPr id="335" name="Shape 335"/>
            <p:cNvCxnSpPr/>
            <p:nvPr/>
          </p:nvCxnSpPr>
          <p:spPr>
            <a:xfrm>
              <a:off x="335" y="1102"/>
              <a:ext cx="16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  <p:grpSp>
        <p:nvGrpSpPr>
          <p:cNvPr id="336" name="Shape 336"/>
          <p:cNvGrpSpPr/>
          <p:nvPr/>
        </p:nvGrpSpPr>
        <p:grpSpPr>
          <a:xfrm>
            <a:off x="481013" y="5637211"/>
            <a:ext cx="725486" cy="458788"/>
            <a:chOff x="47" y="956"/>
            <a:chExt cx="456" cy="289"/>
          </a:xfrm>
        </p:grpSpPr>
        <p:sp>
          <p:nvSpPr>
            <p:cNvPr id="337" name="Shape 337"/>
            <p:cNvSpPr/>
            <p:nvPr/>
          </p:nvSpPr>
          <p:spPr>
            <a:xfrm>
              <a:off x="47" y="956"/>
              <a:ext cx="288" cy="289"/>
            </a:xfrm>
            <a:prstGeom prst="ellipse">
              <a:avLst/>
            </a:prstGeom>
            <a:solidFill>
              <a:srgbClr val="33CC3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H1</a:t>
              </a:r>
            </a:p>
          </p:txBody>
        </p:sp>
        <p:cxnSp>
          <p:nvCxnSpPr>
            <p:cNvPr id="338" name="Shape 338"/>
            <p:cNvCxnSpPr/>
            <p:nvPr/>
          </p:nvCxnSpPr>
          <p:spPr>
            <a:xfrm>
              <a:off x="335" y="1102"/>
              <a:ext cx="16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  <p:grpSp>
        <p:nvGrpSpPr>
          <p:cNvPr id="339" name="Shape 339"/>
          <p:cNvGrpSpPr/>
          <p:nvPr/>
        </p:nvGrpSpPr>
        <p:grpSpPr>
          <a:xfrm>
            <a:off x="493712" y="5637211"/>
            <a:ext cx="725486" cy="458788"/>
            <a:chOff x="47" y="956"/>
            <a:chExt cx="456" cy="289"/>
          </a:xfrm>
        </p:grpSpPr>
        <p:sp>
          <p:nvSpPr>
            <p:cNvPr id="340" name="Shape 340"/>
            <p:cNvSpPr/>
            <p:nvPr/>
          </p:nvSpPr>
          <p:spPr>
            <a:xfrm>
              <a:off x="47" y="956"/>
              <a:ext cx="288" cy="289"/>
            </a:xfrm>
            <a:prstGeom prst="ellipse">
              <a:avLst/>
            </a:prstGeom>
            <a:solidFill>
              <a:srgbClr val="FF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es-AR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H2</a:t>
              </a:r>
            </a:p>
          </p:txBody>
        </p:sp>
        <p:cxnSp>
          <p:nvCxnSpPr>
            <p:cNvPr id="341" name="Shape 341"/>
            <p:cNvCxnSpPr/>
            <p:nvPr/>
          </p:nvCxnSpPr>
          <p:spPr>
            <a:xfrm>
              <a:off x="335" y="1102"/>
              <a:ext cx="169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172404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199" cy="67128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262626"/>
              </a:buClr>
              <a:buSzPct val="25000"/>
              <a:buFont typeface="Questrial"/>
              <a:buNone/>
            </a:pPr>
            <a:r>
              <a:rPr lang="es-AR" sz="3600" b="0" i="0" u="none" strike="noStrike" cap="none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Terminación de procesos</a:t>
            </a:r>
          </a:p>
        </p:txBody>
      </p:sp>
      <p:sp>
        <p:nvSpPr>
          <p:cNvPr id="347" name="Shape 347"/>
          <p:cNvSpPr txBox="1">
            <a:spLocks noGrp="1"/>
          </p:cNvSpPr>
          <p:nvPr>
            <p:ph type="body" idx="1"/>
          </p:nvPr>
        </p:nvSpPr>
        <p:spPr>
          <a:xfrm>
            <a:off x="1942415" y="1524000"/>
            <a:ext cx="6591984" cy="4800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última operación de un proceso es una llamada al SO indicando que lo elimine (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exit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)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Se envía al padre información de salida (via 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wait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)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Los recursos usados por el proceso son liberados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Un proceso padre puede terminar la ejecución de sus hijos (</a:t>
            </a:r>
            <a:r>
              <a:rPr lang="es-AR" sz="1800" b="1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abort</a:t>
            </a: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)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hijo se ha excedido en el uso de recursos asignados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La tarea que realiza el hijo no es ya necesaria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El padre va a terminar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Algunos SOs no permiten que un hijo siga si su padre termina. Todos los hijos son terminados – </a:t>
            </a:r>
            <a:r>
              <a:rPr lang="es-AR" sz="1800" b="0" i="1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terminación en cascada</a:t>
            </a:r>
          </a:p>
          <a:p>
            <a:pPr marL="11430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●"/>
            </a:pPr>
            <a:r>
              <a:rPr lang="es-AR" sz="1800" b="0" i="0" u="none" strike="noStrike" cap="none">
                <a:solidFill>
                  <a:srgbClr val="3F3F3F"/>
                </a:solidFill>
                <a:latin typeface="Questrial"/>
                <a:ea typeface="Questrial"/>
                <a:cs typeface="Questrial"/>
                <a:sym typeface="Questrial"/>
              </a:rPr>
              <a:t>Otros transfieren el hijo al padre (del padre)</a:t>
            </a:r>
          </a:p>
          <a:p>
            <a:pPr marL="1371600" marR="0" lvl="3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ans Symbols"/>
              <a:buNone/>
            </a:pPr>
            <a:endParaRPr sz="1800" b="0" i="1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  <p:extLst>
      <p:ext uri="{BB962C8B-B14F-4D97-AF65-F5344CB8AC3E}">
        <p14:creationId xmlns:p14="http://schemas.microsoft.com/office/powerpoint/2010/main" val="103691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/>
          <p:nvPr/>
        </p:nvSpPr>
        <p:spPr>
          <a:xfrm>
            <a:off x="1715784" y="304800"/>
            <a:ext cx="5791200" cy="15696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SzPct val="25000"/>
              <a:buNone/>
            </a:pPr>
            <a:r>
              <a:rPr lang="es-AR" sz="3600">
                <a:solidFill>
                  <a:srgbClr val="262626"/>
                </a:solidFill>
                <a:latin typeface="Questrial"/>
                <a:ea typeface="Questrial"/>
                <a:cs typeface="Questrial"/>
                <a:sym typeface="Questrial"/>
              </a:rPr>
              <a:t>¿Preguntas?</a:t>
            </a:r>
          </a:p>
        </p:txBody>
      </p:sp>
      <p:pic>
        <p:nvPicPr>
          <p:cNvPr id="353" name="Shape 353" descr="http://www.technipages.com/wp-content/uploads/2007/11/Firefox-exe-on-Task-Manag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0751" y="1162251"/>
            <a:ext cx="6715800" cy="553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235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1608</Words>
  <Application>Microsoft Office PowerPoint</Application>
  <PresentationFormat>On-screen Show (4:3)</PresentationFormat>
  <Paragraphs>436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Noto Sans Symbols</vt:lpstr>
      <vt:lpstr>Courier New</vt:lpstr>
      <vt:lpstr>Questrial</vt:lpstr>
      <vt:lpstr>Calibri</vt:lpstr>
      <vt:lpstr>Wingdings</vt:lpstr>
      <vt:lpstr>Custom Theme</vt:lpstr>
      <vt:lpstr>HILOS</vt:lpstr>
      <vt:lpstr>Procesos</vt:lpstr>
      <vt:lpstr>Ejemplo de Stack</vt:lpstr>
      <vt:lpstr>Estados</vt:lpstr>
      <vt:lpstr>Planificaciones</vt:lpstr>
      <vt:lpstr>PCB</vt:lpstr>
      <vt:lpstr>Colas</vt:lpstr>
      <vt:lpstr>Cambio de contexto</vt:lpstr>
      <vt:lpstr>Cambio de contexto</vt:lpstr>
      <vt:lpstr>Hilos</vt:lpstr>
      <vt:lpstr>Hilos y Procesos</vt:lpstr>
      <vt:lpstr>Procesos con un solo hilo y con múltiples hilos</vt:lpstr>
      <vt:lpstr>Modelos de procesos de un solo hilo y de muchos hilos</vt:lpstr>
      <vt:lpstr>Hilos</vt:lpstr>
      <vt:lpstr>Diferencias con procesos</vt:lpstr>
      <vt:lpstr>KLT - ULT</vt:lpstr>
      <vt:lpstr>Hilos a nivel usuario (un CPU con dos núcleos)</vt:lpstr>
      <vt:lpstr>Hilos a nivel kernel (con un CPU con un solo núcleo)</vt:lpstr>
      <vt:lpstr>Hilos a nivel kernel (con un CPU con doble núcleo)</vt:lpstr>
      <vt:lpstr>Ejemplos</vt:lpstr>
      <vt:lpstr>Ejemplos</vt:lpstr>
      <vt:lpstr>Ejecución típica</vt:lpstr>
      <vt:lpstr>Ejecución con hilos</vt:lpstr>
      <vt:lpstr>Dinámica de estados</vt:lpstr>
      <vt:lpstr>Procesos Hijos</vt:lpstr>
      <vt:lpstr>Creación de hijos vs hilos</vt:lpstr>
      <vt:lpstr>Creación de procesos</vt:lpstr>
      <vt:lpstr>Creación de hilos</vt:lpstr>
      <vt:lpstr>Terminación de procesos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Planificación de Procesos </dc:title>
  <dc:creator>Esquivel, Nestor (Tech Data)</dc:creator>
  <cp:lastModifiedBy>Esquivel, Nestor (Tech Data)</cp:lastModifiedBy>
  <cp:revision>14</cp:revision>
  <dcterms:modified xsi:type="dcterms:W3CDTF">2017-09-04T15:15:56Z</dcterms:modified>
</cp:coreProperties>
</file>